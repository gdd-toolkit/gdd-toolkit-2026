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tags/tag23.xml" ContentType="application/vnd.openxmlformats-officedocument.presentationml.tags+xml"/>
  <Override PartName="/ppt/notesSlides/notesSlide21.xml" ContentType="application/vnd.openxmlformats-officedocument.presentationml.notesSlide+xml"/>
  <Override PartName="/ppt/tags/tag24.xml" ContentType="application/vnd.openxmlformats-officedocument.presentationml.tags+xml"/>
  <Override PartName="/ppt/notesSlides/notesSlide22.xml" ContentType="application/vnd.openxmlformats-officedocument.presentationml.notesSlide+xml"/>
  <Override PartName="/ppt/tags/tag25.xml" ContentType="application/vnd.openxmlformats-officedocument.presentationml.tags+xml"/>
  <Override PartName="/ppt/notesSlides/notesSlide23.xml" ContentType="application/vnd.openxmlformats-officedocument.presentationml.notesSlide+xml"/>
  <Override PartName="/ppt/tags/tag26.xml" ContentType="application/vnd.openxmlformats-officedocument.presentationml.tags+xml"/>
  <Override PartName="/ppt/notesSlides/notesSlide2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27.xml" ContentType="application/vnd.openxmlformats-officedocument.presentationml.tags+xml"/>
  <Override PartName="/ppt/notesSlides/notesSlide25.xml" ContentType="application/vnd.openxmlformats-officedocument.presentationml.notesSlide+xml"/>
  <Override PartName="/ppt/tags/tag28.xml" ContentType="application/vnd.openxmlformats-officedocument.presentationml.tags+xml"/>
  <Override PartName="/ppt/notesSlides/notesSlide26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32.xml" ContentType="application/vnd.openxmlformats-officedocument.presentationml.tags+xml"/>
  <Override PartName="/ppt/notesSlides/notesSlide2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37.xml" ContentType="application/vnd.openxmlformats-officedocument.presentationml.tags+xml"/>
  <Override PartName="/ppt/notesSlides/notesSlide28.xml" ContentType="application/vnd.openxmlformats-officedocument.presentationml.notesSlide+xml"/>
  <Override PartName="/ppt/tags/tag38.xml" ContentType="application/vnd.openxmlformats-officedocument.presentationml.tags+xml"/>
  <Override PartName="/ppt/notesSlides/notesSlide29.xml" ContentType="application/vnd.openxmlformats-officedocument.presentationml.notesSlide+xml"/>
  <Override PartName="/ppt/tags/tag39.xml" ContentType="application/vnd.openxmlformats-officedocument.presentationml.tags+xml"/>
  <Override PartName="/ppt/notesSlides/notesSlide30.xml" ContentType="application/vnd.openxmlformats-officedocument.presentationml.notesSlide+xml"/>
  <Override PartName="/ppt/tags/tag40.xml" ContentType="application/vnd.openxmlformats-officedocument.presentationml.tags+xml"/>
  <Override PartName="/ppt/notesSlides/notesSlide31.xml" ContentType="application/vnd.openxmlformats-officedocument.presentationml.notesSlide+xml"/>
  <Override PartName="/ppt/tags/tag41.xml" ContentType="application/vnd.openxmlformats-officedocument.presentationml.tags+xml"/>
  <Override PartName="/ppt/notesSlides/notesSlide32.xml" ContentType="application/vnd.openxmlformats-officedocument.presentationml.notesSlide+xml"/>
  <Override PartName="/ppt/tags/tag42.xml" ContentType="application/vnd.openxmlformats-officedocument.presentationml.tags+xml"/>
  <Override PartName="/ppt/notesSlides/notesSlide33.xml" ContentType="application/vnd.openxmlformats-officedocument.presentationml.notesSlide+xml"/>
  <Override PartName="/ppt/tags/tag43.xml" ContentType="application/vnd.openxmlformats-officedocument.presentationml.tags+xml"/>
  <Override PartName="/ppt/notesSlides/notesSlide34.xml" ContentType="application/vnd.openxmlformats-officedocument.presentationml.notesSlide+xml"/>
  <Override PartName="/ppt/tags/tag44.xml" ContentType="application/vnd.openxmlformats-officedocument.presentationml.tags+xml"/>
  <Override PartName="/ppt/notesSlides/notesSlide35.xml" ContentType="application/vnd.openxmlformats-officedocument.presentationml.notesSlide+xml"/>
  <Override PartName="/ppt/tags/tag45.xml" ContentType="application/vnd.openxmlformats-officedocument.presentationml.tags+xml"/>
  <Override PartName="/ppt/notesSlides/notesSlide36.xml" ContentType="application/vnd.openxmlformats-officedocument.presentationml.notesSlide+xml"/>
  <Override PartName="/ppt/tags/tag46.xml" ContentType="application/vnd.openxmlformats-officedocument.presentationml.tags+xml"/>
  <Override PartName="/ppt/notesSlides/notesSlide37.xml" ContentType="application/vnd.openxmlformats-officedocument.presentationml.notesSlide+xml"/>
  <Override PartName="/ppt/tags/tag47.xml" ContentType="application/vnd.openxmlformats-officedocument.presentationml.tags+xml"/>
  <Override PartName="/ppt/notesSlides/notesSlide38.xml" ContentType="application/vnd.openxmlformats-officedocument.presentationml.notesSlide+xml"/>
  <Override PartName="/ppt/tags/tag48.xml" ContentType="application/vnd.openxmlformats-officedocument.presentationml.tags+xml"/>
  <Override PartName="/ppt/notesSlides/notesSlide39.xml" ContentType="application/vnd.openxmlformats-officedocument.presentationml.notesSlide+xml"/>
  <Override PartName="/ppt/tags/tag49.xml" ContentType="application/vnd.openxmlformats-officedocument.presentationml.tags+xml"/>
  <Override PartName="/ppt/notesSlides/notesSlide4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50.xml" ContentType="application/vnd.openxmlformats-officedocument.presentationml.tags+xml"/>
  <Override PartName="/ppt/notesSlides/notesSlide4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51.xml" ContentType="application/vnd.openxmlformats-officedocument.presentationml.tags+xml"/>
  <Override PartName="/ppt/notesSlides/notesSlide42.xml" ContentType="application/vnd.openxmlformats-officedocument.presentationml.notesSlide+xml"/>
  <Override PartName="/ppt/tags/tag52.xml" ContentType="application/vnd.openxmlformats-officedocument.presentationml.tags+xml"/>
  <Override PartName="/ppt/notesSlides/notesSlide4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53.xml" ContentType="application/vnd.openxmlformats-officedocument.presentationml.tags+xml"/>
  <Override PartName="/ppt/notesSlides/notesSlide4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54.xml" ContentType="application/vnd.openxmlformats-officedocument.presentationml.tags+xml"/>
  <Override PartName="/ppt/notesSlides/notesSlide45.xml" ContentType="application/vnd.openxmlformats-officedocument.presentationml.notesSlide+xml"/>
  <Override PartName="/ppt/tags/tag55.xml" ContentType="application/vnd.openxmlformats-officedocument.presentationml.tags+xml"/>
  <Override PartName="/ppt/notesSlides/notesSlide46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47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tags/tag61.xml" ContentType="application/vnd.openxmlformats-officedocument.presentationml.tags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tags/tag62.xml" ContentType="application/vnd.openxmlformats-officedocument.presentationml.tags+xml"/>
  <Override PartName="/ppt/notesSlides/notesSlide48.xml" ContentType="application/vnd.openxmlformats-officedocument.presentationml.notesSlide+xml"/>
  <Override PartName="/ppt/tags/tag63.xml" ContentType="application/vnd.openxmlformats-officedocument.presentationml.tags+xml"/>
  <Override PartName="/ppt/notesSlides/notesSlide49.xml" ContentType="application/vnd.openxmlformats-officedocument.presentationml.notesSlide+xml"/>
  <Override PartName="/ppt/tags/tag64.xml" ContentType="application/vnd.openxmlformats-officedocument.presentationml.tags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761" r:id="rId2"/>
    <p:sldId id="394" r:id="rId3"/>
    <p:sldId id="271" r:id="rId4"/>
    <p:sldId id="279" r:id="rId5"/>
    <p:sldId id="281" r:id="rId6"/>
    <p:sldId id="644" r:id="rId7"/>
    <p:sldId id="282" r:id="rId8"/>
    <p:sldId id="283" r:id="rId9"/>
    <p:sldId id="258" r:id="rId10"/>
    <p:sldId id="260" r:id="rId11"/>
    <p:sldId id="264" r:id="rId12"/>
    <p:sldId id="262" r:id="rId13"/>
    <p:sldId id="263" r:id="rId14"/>
    <p:sldId id="272" r:id="rId15"/>
    <p:sldId id="273" r:id="rId16"/>
    <p:sldId id="261" r:id="rId17"/>
    <p:sldId id="280" r:id="rId18"/>
    <p:sldId id="674" r:id="rId19"/>
    <p:sldId id="766" r:id="rId20"/>
    <p:sldId id="767" r:id="rId21"/>
    <p:sldId id="768" r:id="rId22"/>
    <p:sldId id="758" r:id="rId23"/>
    <p:sldId id="759" r:id="rId24"/>
    <p:sldId id="760" r:id="rId25"/>
    <p:sldId id="648" r:id="rId26"/>
    <p:sldId id="713" r:id="rId27"/>
    <p:sldId id="677" r:id="rId28"/>
    <p:sldId id="678" r:id="rId29"/>
    <p:sldId id="680" r:id="rId30"/>
    <p:sldId id="681" r:id="rId31"/>
    <p:sldId id="682" r:id="rId32"/>
    <p:sldId id="685" r:id="rId33"/>
    <p:sldId id="686" r:id="rId34"/>
    <p:sldId id="714" r:id="rId35"/>
    <p:sldId id="715" r:id="rId36"/>
    <p:sldId id="716" r:id="rId37"/>
    <p:sldId id="718" r:id="rId38"/>
    <p:sldId id="719" r:id="rId39"/>
    <p:sldId id="693" r:id="rId40"/>
    <p:sldId id="720" r:id="rId41"/>
    <p:sldId id="731" r:id="rId42"/>
    <p:sldId id="721" r:id="rId43"/>
    <p:sldId id="722" r:id="rId44"/>
    <p:sldId id="723" r:id="rId45"/>
    <p:sldId id="725" r:id="rId46"/>
    <p:sldId id="726" r:id="rId47"/>
    <p:sldId id="727" r:id="rId48"/>
    <p:sldId id="728" r:id="rId49"/>
    <p:sldId id="729" r:id="rId50"/>
    <p:sldId id="730" r:id="rId51"/>
    <p:sldId id="764" r:id="rId52"/>
    <p:sldId id="732" r:id="rId53"/>
    <p:sldId id="733" r:id="rId54"/>
    <p:sldId id="734" r:id="rId55"/>
    <p:sldId id="762" r:id="rId56"/>
    <p:sldId id="735" r:id="rId57"/>
    <p:sldId id="769" r:id="rId58"/>
    <p:sldId id="736" r:id="rId59"/>
    <p:sldId id="737" r:id="rId60"/>
    <p:sldId id="738" r:id="rId61"/>
    <p:sldId id="741" r:id="rId62"/>
    <p:sldId id="765" r:id="rId63"/>
    <p:sldId id="742" r:id="rId64"/>
    <p:sldId id="743" r:id="rId65"/>
    <p:sldId id="744" r:id="rId66"/>
    <p:sldId id="748" r:id="rId67"/>
    <p:sldId id="749" r:id="rId68"/>
    <p:sldId id="751" r:id="rId69"/>
    <p:sldId id="752" r:id="rId70"/>
    <p:sldId id="753" r:id="rId71"/>
    <p:sldId id="755" r:id="rId72"/>
    <p:sldId id="756" r:id="rId73"/>
    <p:sldId id="757" r:id="rId74"/>
  </p:sldIdLst>
  <p:sldSz cx="9144000" cy="6858000" type="screen4x3"/>
  <p:notesSz cx="6858000" cy="9144000"/>
  <p:custDataLst>
    <p:tags r:id="rId7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70" autoAdjust="0"/>
    <p:restoredTop sz="94660"/>
  </p:normalViewPr>
  <p:slideViewPr>
    <p:cSldViewPr>
      <p:cViewPr varScale="1">
        <p:scale>
          <a:sx n="127" d="100"/>
          <a:sy n="127" d="100"/>
        </p:scale>
        <p:origin x="155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13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EC-4F16-ADDB-EC5FDD942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EC-4F16-ADDB-EC5FDD942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3EC-4F16-ADDB-EC5FDD942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19214976"/>
        <c:axId val="219216512"/>
        <c:axId val="195395072"/>
      </c:bar3DChart>
      <c:catAx>
        <c:axId val="2192149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9216512"/>
        <c:crosses val="autoZero"/>
        <c:auto val="1"/>
        <c:lblAlgn val="ctr"/>
        <c:lblOffset val="100"/>
        <c:noMultiLvlLbl val="0"/>
      </c:catAx>
      <c:valAx>
        <c:axId val="2192165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9214976"/>
        <c:crosses val="autoZero"/>
        <c:crossBetween val="between"/>
      </c:valAx>
      <c:serAx>
        <c:axId val="195395072"/>
        <c:scaling>
          <c:orientation val="minMax"/>
        </c:scaling>
        <c:delete val="0"/>
        <c:axPos val="b"/>
        <c:majorTickMark val="out"/>
        <c:minorTickMark val="none"/>
        <c:tickLblPos val="nextTo"/>
        <c:crossAx val="219216512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elms.umd.edu" TargetMode="Externa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10" Type="http://schemas.openxmlformats.org/officeDocument/2006/relationships/image" Target="../media/image84.svg"/><Relationship Id="rId4" Type="http://schemas.openxmlformats.org/officeDocument/2006/relationships/image" Target="../media/image78.svg"/><Relationship Id="rId9" Type="http://schemas.openxmlformats.org/officeDocument/2006/relationships/image" Target="../media/image83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elms.umd.edu" TargetMode="External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10" Type="http://schemas.openxmlformats.org/officeDocument/2006/relationships/image" Target="../media/image84.svg"/><Relationship Id="rId4" Type="http://schemas.openxmlformats.org/officeDocument/2006/relationships/image" Target="../media/image78.svg"/><Relationship Id="rId9" Type="http://schemas.openxmlformats.org/officeDocument/2006/relationships/image" Target="../media/image8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A1E120-5FAC-4007-9C17-99828B8C48E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CE25E6-2296-413D-BD07-96200D245FE3}">
      <dgm:prSet/>
      <dgm:spPr/>
      <dgm:t>
        <a:bodyPr/>
        <a:lstStyle/>
        <a:p>
          <a:r>
            <a:rPr lang="en-GB"/>
            <a:t>Prof. Marvin Jones, Jr. </a:t>
          </a:r>
          <a:endParaRPr lang="en-US"/>
        </a:p>
      </dgm:t>
    </dgm:pt>
    <dgm:pt modelId="{000E9BAF-625E-4F87-9CE4-CE9B61CC8B31}" type="parTrans" cxnId="{4E23E27A-5A2A-4801-8851-38232C9A8394}">
      <dgm:prSet/>
      <dgm:spPr/>
      <dgm:t>
        <a:bodyPr/>
        <a:lstStyle/>
        <a:p>
          <a:endParaRPr lang="en-US"/>
        </a:p>
      </dgm:t>
    </dgm:pt>
    <dgm:pt modelId="{C8CFC490-D1E4-436B-A740-9794556DB8BA}" type="sibTrans" cxnId="{4E23E27A-5A2A-4801-8851-38232C9A8394}">
      <dgm:prSet/>
      <dgm:spPr/>
      <dgm:t>
        <a:bodyPr/>
        <a:lstStyle/>
        <a:p>
          <a:endParaRPr lang="en-US"/>
        </a:p>
      </dgm:t>
    </dgm:pt>
    <dgm:pt modelId="{AAA0C504-CD6E-470E-92FD-2B0FB7CB7573}">
      <dgm:prSet/>
      <dgm:spPr/>
      <dgm:t>
        <a:bodyPr/>
        <a:lstStyle/>
        <a:p>
          <a:r>
            <a:rPr lang="en-GB" dirty="0">
              <a:hlinkClick xmlns:r="http://schemas.openxmlformats.org/officeDocument/2006/relationships" r:id="rId1"/>
            </a:rPr>
            <a:t>elms.umd.edu</a:t>
          </a:r>
          <a:r>
            <a:rPr lang="en-GB" dirty="0"/>
            <a:t> for the syllabus (updates are happening, please be patient.) </a:t>
          </a:r>
          <a:endParaRPr lang="en-US" dirty="0"/>
        </a:p>
      </dgm:t>
    </dgm:pt>
    <dgm:pt modelId="{5BC42E93-0E3B-4AE9-A9A7-4D0B695C52AF}" type="parTrans" cxnId="{BCDD3B86-D1C1-414A-916E-7006332DF1D1}">
      <dgm:prSet/>
      <dgm:spPr/>
      <dgm:t>
        <a:bodyPr/>
        <a:lstStyle/>
        <a:p>
          <a:endParaRPr lang="en-US"/>
        </a:p>
      </dgm:t>
    </dgm:pt>
    <dgm:pt modelId="{4A26FD05-2065-4CD8-BE6C-8C6B88F49CE4}" type="sibTrans" cxnId="{BCDD3B86-D1C1-414A-916E-7006332DF1D1}">
      <dgm:prSet/>
      <dgm:spPr/>
      <dgm:t>
        <a:bodyPr/>
        <a:lstStyle/>
        <a:p>
          <a:endParaRPr lang="en-US"/>
        </a:p>
      </dgm:t>
    </dgm:pt>
    <dgm:pt modelId="{550CBBFE-6007-4C3B-84CD-01BD314E1549}">
      <dgm:prSet/>
      <dgm:spPr/>
      <dgm:t>
        <a:bodyPr/>
        <a:lstStyle/>
        <a:p>
          <a:r>
            <a:rPr lang="en-GB"/>
            <a:t>Office hours explained online on ELMS </a:t>
          </a:r>
          <a:endParaRPr lang="en-US"/>
        </a:p>
      </dgm:t>
    </dgm:pt>
    <dgm:pt modelId="{527AEC96-974B-461A-AD90-7931577BB10D}" type="parTrans" cxnId="{09C894D1-22FC-415B-BCB4-BE730A67E331}">
      <dgm:prSet/>
      <dgm:spPr/>
      <dgm:t>
        <a:bodyPr/>
        <a:lstStyle/>
        <a:p>
          <a:endParaRPr lang="en-US"/>
        </a:p>
      </dgm:t>
    </dgm:pt>
    <dgm:pt modelId="{83FE34E6-B7E5-4E36-B8E5-84073679351B}" type="sibTrans" cxnId="{09C894D1-22FC-415B-BCB4-BE730A67E331}">
      <dgm:prSet/>
      <dgm:spPr/>
      <dgm:t>
        <a:bodyPr/>
        <a:lstStyle/>
        <a:p>
          <a:endParaRPr lang="en-US"/>
        </a:p>
      </dgm:t>
    </dgm:pt>
    <dgm:pt modelId="{7994DFE9-4FF1-4FB5-9291-9D7CA3353E15}">
      <dgm:prSet/>
      <dgm:spPr/>
      <dgm:t>
        <a:bodyPr/>
        <a:lstStyle/>
        <a:p>
          <a:r>
            <a:rPr lang="en-GB" dirty="0"/>
            <a:t>Tu &amp; Th. 12:30 – 2:30 PM </a:t>
          </a:r>
          <a:endParaRPr lang="en-US" dirty="0"/>
        </a:p>
      </dgm:t>
    </dgm:pt>
    <dgm:pt modelId="{EA53DF54-F6E3-4FBE-A9D4-9FF223D61407}" type="parTrans" cxnId="{565D1087-AEE8-4C8D-92AB-96C19ABE98B7}">
      <dgm:prSet/>
      <dgm:spPr/>
      <dgm:t>
        <a:bodyPr/>
        <a:lstStyle/>
        <a:p>
          <a:endParaRPr lang="en-US"/>
        </a:p>
      </dgm:t>
    </dgm:pt>
    <dgm:pt modelId="{7C0BE69A-C78E-4495-A2AC-7CC6E226A4A3}" type="sibTrans" cxnId="{565D1087-AEE8-4C8D-92AB-96C19ABE98B7}">
      <dgm:prSet/>
      <dgm:spPr/>
      <dgm:t>
        <a:bodyPr/>
        <a:lstStyle/>
        <a:p>
          <a:endParaRPr lang="en-US"/>
        </a:p>
      </dgm:t>
    </dgm:pt>
    <dgm:pt modelId="{B099388C-19BC-407C-B207-A0D0367F852E}">
      <dgm:prSet/>
      <dgm:spPr/>
      <dgm:t>
        <a:bodyPr/>
        <a:lstStyle/>
        <a:p>
          <a:r>
            <a:rPr lang="en-GB"/>
            <a:t>Check for TA office hours on ELMS!</a:t>
          </a:r>
          <a:endParaRPr lang="en-US"/>
        </a:p>
      </dgm:t>
    </dgm:pt>
    <dgm:pt modelId="{334BB35B-03B7-4DE7-8265-67961BFEECE6}" type="parTrans" cxnId="{E2F1A73D-AFAA-42F4-97B1-1C01AC1B8E96}">
      <dgm:prSet/>
      <dgm:spPr/>
      <dgm:t>
        <a:bodyPr/>
        <a:lstStyle/>
        <a:p>
          <a:endParaRPr lang="en-US"/>
        </a:p>
      </dgm:t>
    </dgm:pt>
    <dgm:pt modelId="{0ABD729F-C235-4247-AE88-2ECCB7E97E8F}" type="sibTrans" cxnId="{E2F1A73D-AFAA-42F4-97B1-1C01AC1B8E96}">
      <dgm:prSet/>
      <dgm:spPr/>
      <dgm:t>
        <a:bodyPr/>
        <a:lstStyle/>
        <a:p>
          <a:endParaRPr lang="en-US"/>
        </a:p>
      </dgm:t>
    </dgm:pt>
    <dgm:pt modelId="{DEFD60FF-263A-409E-B5E1-1F769FA022B0}">
      <dgm:prSet/>
      <dgm:spPr/>
      <dgm:t>
        <a:bodyPr/>
        <a:lstStyle/>
        <a:p>
          <a:r>
            <a:rPr lang="en-GB"/>
            <a:t>This is one of the </a:t>
          </a:r>
          <a:r>
            <a:rPr lang="en-GB" b="1"/>
            <a:t>Big Question</a:t>
          </a:r>
          <a:r>
            <a:rPr lang="en-GB"/>
            <a:t> (formerly, iSeries) courses. It’s interdisciplinary! </a:t>
          </a:r>
          <a:endParaRPr lang="en-US"/>
        </a:p>
      </dgm:t>
    </dgm:pt>
    <dgm:pt modelId="{F67C1F78-2012-4844-A202-36C093C00B92}" type="parTrans" cxnId="{C243EE61-7F83-4B89-A10F-F16A6CD859DB}">
      <dgm:prSet/>
      <dgm:spPr/>
      <dgm:t>
        <a:bodyPr/>
        <a:lstStyle/>
        <a:p>
          <a:endParaRPr lang="en-US"/>
        </a:p>
      </dgm:t>
    </dgm:pt>
    <dgm:pt modelId="{F1DCC800-0ABE-4D1D-AD9C-56781C2E28C6}" type="sibTrans" cxnId="{C243EE61-7F83-4B89-A10F-F16A6CD859DB}">
      <dgm:prSet/>
      <dgm:spPr/>
      <dgm:t>
        <a:bodyPr/>
        <a:lstStyle/>
        <a:p>
          <a:endParaRPr lang="en-US"/>
        </a:p>
      </dgm:t>
    </dgm:pt>
    <dgm:pt modelId="{025B2EBC-0681-CF4B-BAF8-034D50DD68C0}" type="pres">
      <dgm:prSet presAssocID="{52A1E120-5FAC-4007-9C17-99828B8C48E4}" presName="linear" presStyleCnt="0">
        <dgm:presLayoutVars>
          <dgm:animLvl val="lvl"/>
          <dgm:resizeHandles val="exact"/>
        </dgm:presLayoutVars>
      </dgm:prSet>
      <dgm:spPr/>
    </dgm:pt>
    <dgm:pt modelId="{33A69891-C4FC-5B45-9E31-557F24B32256}" type="pres">
      <dgm:prSet presAssocID="{17CE25E6-2296-413D-BD07-96200D245F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2750505-D9F3-1842-AAAF-D9A83A387B9F}" type="pres">
      <dgm:prSet presAssocID="{C8CFC490-D1E4-436B-A740-9794556DB8BA}" presName="spacer" presStyleCnt="0"/>
      <dgm:spPr/>
    </dgm:pt>
    <dgm:pt modelId="{9DEBC89D-AB8D-164A-BFB3-9C6E2570B7B5}" type="pres">
      <dgm:prSet presAssocID="{AAA0C504-CD6E-470E-92FD-2B0FB7CB75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8F2F24-A49C-F14D-9059-C4F309E26C2A}" type="pres">
      <dgm:prSet presAssocID="{4A26FD05-2065-4CD8-BE6C-8C6B88F49CE4}" presName="spacer" presStyleCnt="0"/>
      <dgm:spPr/>
    </dgm:pt>
    <dgm:pt modelId="{897DD7CA-5BFC-D141-90ED-B7717078EF57}" type="pres">
      <dgm:prSet presAssocID="{550CBBFE-6007-4C3B-84CD-01BD314E154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3118D89-15B9-4848-8E2B-9E288555485A}" type="pres">
      <dgm:prSet presAssocID="{550CBBFE-6007-4C3B-84CD-01BD314E1549}" presName="childText" presStyleLbl="revTx" presStyleIdx="0" presStyleCnt="1">
        <dgm:presLayoutVars>
          <dgm:bulletEnabled val="1"/>
        </dgm:presLayoutVars>
      </dgm:prSet>
      <dgm:spPr/>
    </dgm:pt>
    <dgm:pt modelId="{78BCD4E8-0E2F-6340-9D72-EBCB4508DE9C}" type="pres">
      <dgm:prSet presAssocID="{DEFD60FF-263A-409E-B5E1-1F769FA022B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4BEBC13-AFA0-A54E-986F-3FD06B732895}" type="presOf" srcId="{7994DFE9-4FF1-4FB5-9291-9D7CA3353E15}" destId="{03118D89-15B9-4848-8E2B-9E288555485A}" srcOrd="0" destOrd="0" presId="urn:microsoft.com/office/officeart/2005/8/layout/vList2"/>
    <dgm:cxn modelId="{E2F1A73D-AFAA-42F4-97B1-1C01AC1B8E96}" srcId="{550CBBFE-6007-4C3B-84CD-01BD314E1549}" destId="{B099388C-19BC-407C-B207-A0D0367F852E}" srcOrd="1" destOrd="0" parTransId="{334BB35B-03B7-4DE7-8265-67961BFEECE6}" sibTransId="{0ABD729F-C235-4247-AE88-2ECCB7E97E8F}"/>
    <dgm:cxn modelId="{5B51F444-BAE3-A344-B92B-43D9D0775C67}" type="presOf" srcId="{B099388C-19BC-407C-B207-A0D0367F852E}" destId="{03118D89-15B9-4848-8E2B-9E288555485A}" srcOrd="0" destOrd="1" presId="urn:microsoft.com/office/officeart/2005/8/layout/vList2"/>
    <dgm:cxn modelId="{45901D46-08EC-2B40-AC01-305185FDBCA2}" type="presOf" srcId="{17CE25E6-2296-413D-BD07-96200D245FE3}" destId="{33A69891-C4FC-5B45-9E31-557F24B32256}" srcOrd="0" destOrd="0" presId="urn:microsoft.com/office/officeart/2005/8/layout/vList2"/>
    <dgm:cxn modelId="{C243EE61-7F83-4B89-A10F-F16A6CD859DB}" srcId="{52A1E120-5FAC-4007-9C17-99828B8C48E4}" destId="{DEFD60FF-263A-409E-B5E1-1F769FA022B0}" srcOrd="3" destOrd="0" parTransId="{F67C1F78-2012-4844-A202-36C093C00B92}" sibTransId="{F1DCC800-0ABE-4D1D-AD9C-56781C2E28C6}"/>
    <dgm:cxn modelId="{4E23E27A-5A2A-4801-8851-38232C9A8394}" srcId="{52A1E120-5FAC-4007-9C17-99828B8C48E4}" destId="{17CE25E6-2296-413D-BD07-96200D245FE3}" srcOrd="0" destOrd="0" parTransId="{000E9BAF-625E-4F87-9CE4-CE9B61CC8B31}" sibTransId="{C8CFC490-D1E4-436B-A740-9794556DB8BA}"/>
    <dgm:cxn modelId="{BCDD3B86-D1C1-414A-916E-7006332DF1D1}" srcId="{52A1E120-5FAC-4007-9C17-99828B8C48E4}" destId="{AAA0C504-CD6E-470E-92FD-2B0FB7CB7573}" srcOrd="1" destOrd="0" parTransId="{5BC42E93-0E3B-4AE9-A9A7-4D0B695C52AF}" sibTransId="{4A26FD05-2065-4CD8-BE6C-8C6B88F49CE4}"/>
    <dgm:cxn modelId="{565D1087-AEE8-4C8D-92AB-96C19ABE98B7}" srcId="{550CBBFE-6007-4C3B-84CD-01BD314E1549}" destId="{7994DFE9-4FF1-4FB5-9291-9D7CA3353E15}" srcOrd="0" destOrd="0" parTransId="{EA53DF54-F6E3-4FBE-A9D4-9FF223D61407}" sibTransId="{7C0BE69A-C78E-4495-A2AC-7CC6E226A4A3}"/>
    <dgm:cxn modelId="{706FC0B5-4B8A-3244-B8A2-C7CEEEF299D6}" type="presOf" srcId="{DEFD60FF-263A-409E-B5E1-1F769FA022B0}" destId="{78BCD4E8-0E2F-6340-9D72-EBCB4508DE9C}" srcOrd="0" destOrd="0" presId="urn:microsoft.com/office/officeart/2005/8/layout/vList2"/>
    <dgm:cxn modelId="{09C894D1-22FC-415B-BCB4-BE730A67E331}" srcId="{52A1E120-5FAC-4007-9C17-99828B8C48E4}" destId="{550CBBFE-6007-4C3B-84CD-01BD314E1549}" srcOrd="2" destOrd="0" parTransId="{527AEC96-974B-461A-AD90-7931577BB10D}" sibTransId="{83FE34E6-B7E5-4E36-B8E5-84073679351B}"/>
    <dgm:cxn modelId="{74D205DE-360E-544F-B551-46F405CB386F}" type="presOf" srcId="{550CBBFE-6007-4C3B-84CD-01BD314E1549}" destId="{897DD7CA-5BFC-D141-90ED-B7717078EF57}" srcOrd="0" destOrd="0" presId="urn:microsoft.com/office/officeart/2005/8/layout/vList2"/>
    <dgm:cxn modelId="{906883EF-08E0-6B46-A8F2-7FF3F77BA719}" type="presOf" srcId="{AAA0C504-CD6E-470E-92FD-2B0FB7CB7573}" destId="{9DEBC89D-AB8D-164A-BFB3-9C6E2570B7B5}" srcOrd="0" destOrd="0" presId="urn:microsoft.com/office/officeart/2005/8/layout/vList2"/>
    <dgm:cxn modelId="{25A0EAFB-D978-CF45-BF31-452336894B19}" type="presOf" srcId="{52A1E120-5FAC-4007-9C17-99828B8C48E4}" destId="{025B2EBC-0681-CF4B-BAF8-034D50DD68C0}" srcOrd="0" destOrd="0" presId="urn:microsoft.com/office/officeart/2005/8/layout/vList2"/>
    <dgm:cxn modelId="{5A86AB80-BB1C-634C-B896-56DE0ED7115E}" type="presParOf" srcId="{025B2EBC-0681-CF4B-BAF8-034D50DD68C0}" destId="{33A69891-C4FC-5B45-9E31-557F24B32256}" srcOrd="0" destOrd="0" presId="urn:microsoft.com/office/officeart/2005/8/layout/vList2"/>
    <dgm:cxn modelId="{D183F62B-1114-494D-8A08-C34E5BB63DAB}" type="presParOf" srcId="{025B2EBC-0681-CF4B-BAF8-034D50DD68C0}" destId="{12750505-D9F3-1842-AAAF-D9A83A387B9F}" srcOrd="1" destOrd="0" presId="urn:microsoft.com/office/officeart/2005/8/layout/vList2"/>
    <dgm:cxn modelId="{BCC6F1E2-FF27-714F-93EC-5F17E8903CC0}" type="presParOf" srcId="{025B2EBC-0681-CF4B-BAF8-034D50DD68C0}" destId="{9DEBC89D-AB8D-164A-BFB3-9C6E2570B7B5}" srcOrd="2" destOrd="0" presId="urn:microsoft.com/office/officeart/2005/8/layout/vList2"/>
    <dgm:cxn modelId="{9520D122-EA55-4E45-9B82-C790FFCABB78}" type="presParOf" srcId="{025B2EBC-0681-CF4B-BAF8-034D50DD68C0}" destId="{258F2F24-A49C-F14D-9059-C4F309E26C2A}" srcOrd="3" destOrd="0" presId="urn:microsoft.com/office/officeart/2005/8/layout/vList2"/>
    <dgm:cxn modelId="{33BD0AA0-4D6D-FF4B-88D8-D16DAD3249D2}" type="presParOf" srcId="{025B2EBC-0681-CF4B-BAF8-034D50DD68C0}" destId="{897DD7CA-5BFC-D141-90ED-B7717078EF57}" srcOrd="4" destOrd="0" presId="urn:microsoft.com/office/officeart/2005/8/layout/vList2"/>
    <dgm:cxn modelId="{FB7F8007-D006-4746-8B4F-0725F20665BE}" type="presParOf" srcId="{025B2EBC-0681-CF4B-BAF8-034D50DD68C0}" destId="{03118D89-15B9-4848-8E2B-9E288555485A}" srcOrd="5" destOrd="0" presId="urn:microsoft.com/office/officeart/2005/8/layout/vList2"/>
    <dgm:cxn modelId="{4E2D1F94-16F8-8840-AC84-973C22AC4BF0}" type="presParOf" srcId="{025B2EBC-0681-CF4B-BAF8-034D50DD68C0}" destId="{78BCD4E8-0E2F-6340-9D72-EBCB4508DE9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A6F833-169A-4470-9137-5437E5AA37D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CE2C36-A458-41C4-81BD-E4BED0FF144E}">
      <dgm:prSet/>
      <dgm:spPr/>
      <dgm:t>
        <a:bodyPr/>
        <a:lstStyle/>
        <a:p>
          <a:r>
            <a:rPr lang="en-GB"/>
            <a:t>Tests</a:t>
          </a:r>
          <a:endParaRPr lang="en-US"/>
        </a:p>
      </dgm:t>
    </dgm:pt>
    <dgm:pt modelId="{6DEFBBD5-79DB-4EDD-8432-5F37CF570E70}" type="parTrans" cxnId="{86EAE0CB-D1F7-442C-9A1D-027373DF5DAB}">
      <dgm:prSet/>
      <dgm:spPr/>
      <dgm:t>
        <a:bodyPr/>
        <a:lstStyle/>
        <a:p>
          <a:endParaRPr lang="en-US"/>
        </a:p>
      </dgm:t>
    </dgm:pt>
    <dgm:pt modelId="{4B49DEFF-1C4C-42E1-A1FC-B25345FFEBED}" type="sibTrans" cxnId="{86EAE0CB-D1F7-442C-9A1D-027373DF5DAB}">
      <dgm:prSet/>
      <dgm:spPr/>
      <dgm:t>
        <a:bodyPr/>
        <a:lstStyle/>
        <a:p>
          <a:endParaRPr lang="en-US"/>
        </a:p>
      </dgm:t>
    </dgm:pt>
    <dgm:pt modelId="{DF2D1834-46E7-42FC-9285-87C26B108768}">
      <dgm:prSet/>
      <dgm:spPr/>
      <dgm:t>
        <a:bodyPr/>
        <a:lstStyle/>
        <a:p>
          <a:r>
            <a:rPr lang="en-GB"/>
            <a:t>Dates listed on Lecture Schedule</a:t>
          </a:r>
          <a:endParaRPr lang="en-US"/>
        </a:p>
      </dgm:t>
    </dgm:pt>
    <dgm:pt modelId="{11A5ED5A-F44A-4EE2-85E1-A73FBD02471D}" type="parTrans" cxnId="{D38167C5-25F6-430F-8267-46BF1E3A99A9}">
      <dgm:prSet/>
      <dgm:spPr/>
      <dgm:t>
        <a:bodyPr/>
        <a:lstStyle/>
        <a:p>
          <a:endParaRPr lang="en-US"/>
        </a:p>
      </dgm:t>
    </dgm:pt>
    <dgm:pt modelId="{61976B79-C06E-4821-929F-AEA7BF850384}" type="sibTrans" cxnId="{D38167C5-25F6-430F-8267-46BF1E3A99A9}">
      <dgm:prSet/>
      <dgm:spPr/>
      <dgm:t>
        <a:bodyPr/>
        <a:lstStyle/>
        <a:p>
          <a:endParaRPr lang="en-US"/>
        </a:p>
      </dgm:t>
    </dgm:pt>
    <dgm:pt modelId="{BEB123C3-6FC1-4F1B-96D8-DC501A3741DF}">
      <dgm:prSet/>
      <dgm:spPr/>
      <dgm:t>
        <a:bodyPr/>
        <a:lstStyle/>
        <a:p>
          <a:r>
            <a:rPr lang="en-GB"/>
            <a:t>Read the syllabus regarding missing tests for valid reasons…</a:t>
          </a:r>
          <a:endParaRPr lang="en-US"/>
        </a:p>
      </dgm:t>
    </dgm:pt>
    <dgm:pt modelId="{56109ACF-8E9C-4250-B8EF-0E5B46EF3C1D}" type="parTrans" cxnId="{2E34E766-5479-4967-94EB-87FCC570C5A3}">
      <dgm:prSet/>
      <dgm:spPr/>
      <dgm:t>
        <a:bodyPr/>
        <a:lstStyle/>
        <a:p>
          <a:endParaRPr lang="en-US"/>
        </a:p>
      </dgm:t>
    </dgm:pt>
    <dgm:pt modelId="{EB5DF263-3453-4156-A6E9-E375025E7F87}" type="sibTrans" cxnId="{2E34E766-5479-4967-94EB-87FCC570C5A3}">
      <dgm:prSet/>
      <dgm:spPr/>
      <dgm:t>
        <a:bodyPr/>
        <a:lstStyle/>
        <a:p>
          <a:endParaRPr lang="en-US"/>
        </a:p>
      </dgm:t>
    </dgm:pt>
    <dgm:pt modelId="{C0F91B8D-7705-4345-BDA5-972522DEDE15}">
      <dgm:prSet/>
      <dgm:spPr/>
      <dgm:t>
        <a:bodyPr/>
        <a:lstStyle/>
        <a:p>
          <a:r>
            <a:rPr lang="en-GB"/>
            <a:t>No test for Unit V and no Final Exam</a:t>
          </a:r>
          <a:endParaRPr lang="en-US"/>
        </a:p>
      </dgm:t>
    </dgm:pt>
    <dgm:pt modelId="{94042AB3-32F8-4F19-AF49-7BDF1CD4B1FB}" type="parTrans" cxnId="{0E994CB7-E036-44DB-A7CA-9BA0CEC05056}">
      <dgm:prSet/>
      <dgm:spPr/>
      <dgm:t>
        <a:bodyPr/>
        <a:lstStyle/>
        <a:p>
          <a:endParaRPr lang="en-US"/>
        </a:p>
      </dgm:t>
    </dgm:pt>
    <dgm:pt modelId="{9BDE8D50-F81B-4C94-A9A0-451AB52DFF03}" type="sibTrans" cxnId="{0E994CB7-E036-44DB-A7CA-9BA0CEC05056}">
      <dgm:prSet/>
      <dgm:spPr/>
      <dgm:t>
        <a:bodyPr/>
        <a:lstStyle/>
        <a:p>
          <a:endParaRPr lang="en-US"/>
        </a:p>
      </dgm:t>
    </dgm:pt>
    <dgm:pt modelId="{A962370C-DEC7-4325-B4E0-9ED3F93EF197}">
      <dgm:prSet/>
      <dgm:spPr/>
      <dgm:t>
        <a:bodyPr/>
        <a:lstStyle/>
        <a:p>
          <a:r>
            <a:rPr lang="en-GB"/>
            <a:t>Drop your lowest test</a:t>
          </a:r>
          <a:endParaRPr lang="en-US"/>
        </a:p>
      </dgm:t>
    </dgm:pt>
    <dgm:pt modelId="{EA7B74A5-7399-4693-9B2E-2BA5330BDFE5}" type="parTrans" cxnId="{95FB91E4-C48A-4D4B-8337-2C8C559B86FE}">
      <dgm:prSet/>
      <dgm:spPr/>
      <dgm:t>
        <a:bodyPr/>
        <a:lstStyle/>
        <a:p>
          <a:endParaRPr lang="en-US"/>
        </a:p>
      </dgm:t>
    </dgm:pt>
    <dgm:pt modelId="{F41D0D31-E379-4A7D-8C81-62F0E491A7E8}" type="sibTrans" cxnId="{95FB91E4-C48A-4D4B-8337-2C8C559B86FE}">
      <dgm:prSet/>
      <dgm:spPr/>
      <dgm:t>
        <a:bodyPr/>
        <a:lstStyle/>
        <a:p>
          <a:endParaRPr lang="en-US"/>
        </a:p>
      </dgm:t>
    </dgm:pt>
    <dgm:pt modelId="{72161DA6-3FDF-4AFE-9A3A-353DED90A401}">
      <dgm:prSet/>
      <dgm:spPr/>
      <dgm:t>
        <a:bodyPr/>
        <a:lstStyle/>
        <a:p>
          <a:r>
            <a:rPr lang="en-GB"/>
            <a:t>Final Project is your </a:t>
          </a:r>
          <a:r>
            <a:rPr lang="en-GB" i="1"/>
            <a:t>real</a:t>
          </a:r>
          <a:r>
            <a:rPr lang="en-GB"/>
            <a:t> Final Exam</a:t>
          </a:r>
          <a:endParaRPr lang="en-US"/>
        </a:p>
      </dgm:t>
    </dgm:pt>
    <dgm:pt modelId="{607E0AF0-E772-4F11-84BE-9C0ED8FB36E3}" type="parTrans" cxnId="{8C6245A5-E566-41C3-8E01-89C722D0A1FD}">
      <dgm:prSet/>
      <dgm:spPr/>
      <dgm:t>
        <a:bodyPr/>
        <a:lstStyle/>
        <a:p>
          <a:endParaRPr lang="en-US"/>
        </a:p>
      </dgm:t>
    </dgm:pt>
    <dgm:pt modelId="{9666C515-C998-4BAC-8E20-D5FDFF779DDC}" type="sibTrans" cxnId="{8C6245A5-E566-41C3-8E01-89C722D0A1FD}">
      <dgm:prSet/>
      <dgm:spPr/>
      <dgm:t>
        <a:bodyPr/>
        <a:lstStyle/>
        <a:p>
          <a:endParaRPr lang="en-US"/>
        </a:p>
      </dgm:t>
    </dgm:pt>
    <dgm:pt modelId="{B659EE7E-A34E-4444-B738-8C775152BB1E}">
      <dgm:prSet/>
      <dgm:spPr/>
      <dgm:t>
        <a:bodyPr/>
        <a:lstStyle/>
        <a:p>
          <a:r>
            <a:rPr lang="en-GB"/>
            <a:t>Group paper</a:t>
          </a:r>
          <a:endParaRPr lang="en-US"/>
        </a:p>
      </dgm:t>
    </dgm:pt>
    <dgm:pt modelId="{E6DD2174-798C-4003-AE1D-5A8734CCE309}" type="parTrans" cxnId="{7BC00464-A667-4C31-9BEE-10ED3B31810C}">
      <dgm:prSet/>
      <dgm:spPr/>
      <dgm:t>
        <a:bodyPr/>
        <a:lstStyle/>
        <a:p>
          <a:endParaRPr lang="en-US"/>
        </a:p>
      </dgm:t>
    </dgm:pt>
    <dgm:pt modelId="{FE850F86-10A4-4AED-83E6-3F6A075EA679}" type="sibTrans" cxnId="{7BC00464-A667-4C31-9BEE-10ED3B31810C}">
      <dgm:prSet/>
      <dgm:spPr/>
      <dgm:t>
        <a:bodyPr/>
        <a:lstStyle/>
        <a:p>
          <a:endParaRPr lang="en-US"/>
        </a:p>
      </dgm:t>
    </dgm:pt>
    <dgm:pt modelId="{8938700E-18F1-414F-B7B1-3DC58D5DB720}">
      <dgm:prSet/>
      <dgm:spPr/>
      <dgm:t>
        <a:bodyPr/>
        <a:lstStyle/>
        <a:p>
          <a:r>
            <a:rPr lang="en-GB"/>
            <a:t>Group presentation</a:t>
          </a:r>
          <a:endParaRPr lang="en-US"/>
        </a:p>
      </dgm:t>
    </dgm:pt>
    <dgm:pt modelId="{09A77220-D225-4840-AFBA-31F5215E728B}" type="parTrans" cxnId="{C45A250E-DBE2-4092-92CB-76BBF26EA3E2}">
      <dgm:prSet/>
      <dgm:spPr/>
      <dgm:t>
        <a:bodyPr/>
        <a:lstStyle/>
        <a:p>
          <a:endParaRPr lang="en-US"/>
        </a:p>
      </dgm:t>
    </dgm:pt>
    <dgm:pt modelId="{C0F6655F-14F1-41BD-A4EE-2DBF1207E356}" type="sibTrans" cxnId="{C45A250E-DBE2-4092-92CB-76BBF26EA3E2}">
      <dgm:prSet/>
      <dgm:spPr/>
      <dgm:t>
        <a:bodyPr/>
        <a:lstStyle/>
        <a:p>
          <a:endParaRPr lang="en-US"/>
        </a:p>
      </dgm:t>
    </dgm:pt>
    <dgm:pt modelId="{72D35A6D-9CB7-41B7-AFCC-DB2E97A0C596}">
      <dgm:prSet/>
      <dgm:spPr/>
      <dgm:t>
        <a:bodyPr/>
        <a:lstStyle/>
        <a:p>
          <a:r>
            <a:rPr lang="en-GB"/>
            <a:t>More details as semester progresses… </a:t>
          </a:r>
          <a:endParaRPr lang="en-US"/>
        </a:p>
      </dgm:t>
    </dgm:pt>
    <dgm:pt modelId="{BAC0D5D3-DF1E-4741-8C6E-83B0ACDA0567}" type="parTrans" cxnId="{D39E9787-5184-438D-B78E-9C22DDA462F5}">
      <dgm:prSet/>
      <dgm:spPr/>
      <dgm:t>
        <a:bodyPr/>
        <a:lstStyle/>
        <a:p>
          <a:endParaRPr lang="en-US"/>
        </a:p>
      </dgm:t>
    </dgm:pt>
    <dgm:pt modelId="{81B4C1FF-6FE9-4247-A5C1-79435D651756}" type="sibTrans" cxnId="{D39E9787-5184-438D-B78E-9C22DDA462F5}">
      <dgm:prSet/>
      <dgm:spPr/>
      <dgm:t>
        <a:bodyPr/>
        <a:lstStyle/>
        <a:p>
          <a:endParaRPr lang="en-US"/>
        </a:p>
      </dgm:t>
    </dgm:pt>
    <dgm:pt modelId="{963E71A6-FF99-4C3A-B9FF-AB697A573A3E}">
      <dgm:prSet/>
      <dgm:spPr/>
      <dgm:t>
        <a:bodyPr/>
        <a:lstStyle/>
        <a:p>
          <a:r>
            <a:rPr lang="en-GB"/>
            <a:t>(but see wiki page on ELMS)</a:t>
          </a:r>
          <a:endParaRPr lang="en-US"/>
        </a:p>
      </dgm:t>
    </dgm:pt>
    <dgm:pt modelId="{6ED47AE7-648E-4DD2-A0D8-72D134864998}" type="parTrans" cxnId="{A9FD009F-E912-40A0-89D2-E2512D29F897}">
      <dgm:prSet/>
      <dgm:spPr/>
      <dgm:t>
        <a:bodyPr/>
        <a:lstStyle/>
        <a:p>
          <a:endParaRPr lang="en-US"/>
        </a:p>
      </dgm:t>
    </dgm:pt>
    <dgm:pt modelId="{D6076818-AEC3-4D2C-A4F0-5D8602BE64EE}" type="sibTrans" cxnId="{A9FD009F-E912-40A0-89D2-E2512D29F897}">
      <dgm:prSet/>
      <dgm:spPr/>
      <dgm:t>
        <a:bodyPr/>
        <a:lstStyle/>
        <a:p>
          <a:endParaRPr lang="en-US"/>
        </a:p>
      </dgm:t>
    </dgm:pt>
    <dgm:pt modelId="{19A2764E-33BE-1548-86B9-F9DB2DB4950A}" type="pres">
      <dgm:prSet presAssocID="{68A6F833-169A-4470-9137-5437E5AA37DA}" presName="diagram" presStyleCnt="0">
        <dgm:presLayoutVars>
          <dgm:dir/>
          <dgm:resizeHandles val="exact"/>
        </dgm:presLayoutVars>
      </dgm:prSet>
      <dgm:spPr/>
    </dgm:pt>
    <dgm:pt modelId="{BC0E9739-5C78-804D-B56B-7E943913F31E}" type="pres">
      <dgm:prSet presAssocID="{8ECE2C36-A458-41C4-81BD-E4BED0FF144E}" presName="node" presStyleLbl="node1" presStyleIdx="0" presStyleCnt="2">
        <dgm:presLayoutVars>
          <dgm:bulletEnabled val="1"/>
        </dgm:presLayoutVars>
      </dgm:prSet>
      <dgm:spPr/>
    </dgm:pt>
    <dgm:pt modelId="{EBD6FBF7-2326-564D-BB7F-F543CA98C4E0}" type="pres">
      <dgm:prSet presAssocID="{4B49DEFF-1C4C-42E1-A1FC-B25345FFEBED}" presName="sibTrans" presStyleCnt="0"/>
      <dgm:spPr/>
    </dgm:pt>
    <dgm:pt modelId="{E9A52327-1F2F-CB4C-A1BF-784BDA14587A}" type="pres">
      <dgm:prSet presAssocID="{72161DA6-3FDF-4AFE-9A3A-353DED90A401}" presName="node" presStyleLbl="node1" presStyleIdx="1" presStyleCnt="2">
        <dgm:presLayoutVars>
          <dgm:bulletEnabled val="1"/>
        </dgm:presLayoutVars>
      </dgm:prSet>
      <dgm:spPr/>
    </dgm:pt>
  </dgm:ptLst>
  <dgm:cxnLst>
    <dgm:cxn modelId="{E4C0C20C-0850-AA4F-BB38-AE8FDF6AC10F}" type="presOf" srcId="{72D35A6D-9CB7-41B7-AFCC-DB2E97A0C596}" destId="{E9A52327-1F2F-CB4C-A1BF-784BDA14587A}" srcOrd="0" destOrd="3" presId="urn:microsoft.com/office/officeart/2005/8/layout/default"/>
    <dgm:cxn modelId="{C45A250E-DBE2-4092-92CB-76BBF26EA3E2}" srcId="{72161DA6-3FDF-4AFE-9A3A-353DED90A401}" destId="{8938700E-18F1-414F-B7B1-3DC58D5DB720}" srcOrd="1" destOrd="0" parTransId="{09A77220-D225-4840-AFBA-31F5215E728B}" sibTransId="{C0F6655F-14F1-41BD-A4EE-2DBF1207E356}"/>
    <dgm:cxn modelId="{59B7903C-B2F8-1C4E-ACD8-66BAEFC53F55}" type="presOf" srcId="{A962370C-DEC7-4325-B4E0-9ED3F93EF197}" destId="{BC0E9739-5C78-804D-B56B-7E943913F31E}" srcOrd="0" destOrd="4" presId="urn:microsoft.com/office/officeart/2005/8/layout/default"/>
    <dgm:cxn modelId="{9EBF8C42-A847-2F4C-A486-4C0DCBCD557A}" type="presOf" srcId="{8ECE2C36-A458-41C4-81BD-E4BED0FF144E}" destId="{BC0E9739-5C78-804D-B56B-7E943913F31E}" srcOrd="0" destOrd="0" presId="urn:microsoft.com/office/officeart/2005/8/layout/default"/>
    <dgm:cxn modelId="{6156164F-E347-DF48-82C8-4873D1674170}" type="presOf" srcId="{963E71A6-FF99-4C3A-B9FF-AB697A573A3E}" destId="{E9A52327-1F2F-CB4C-A1BF-784BDA14587A}" srcOrd="0" destOrd="4" presId="urn:microsoft.com/office/officeart/2005/8/layout/default"/>
    <dgm:cxn modelId="{E8302A57-0D3A-2C47-A9EC-6D66235CB3A4}" type="presOf" srcId="{DF2D1834-46E7-42FC-9285-87C26B108768}" destId="{BC0E9739-5C78-804D-B56B-7E943913F31E}" srcOrd="0" destOrd="1" presId="urn:microsoft.com/office/officeart/2005/8/layout/default"/>
    <dgm:cxn modelId="{7BC00464-A667-4C31-9BEE-10ED3B31810C}" srcId="{72161DA6-3FDF-4AFE-9A3A-353DED90A401}" destId="{B659EE7E-A34E-4444-B738-8C775152BB1E}" srcOrd="0" destOrd="0" parTransId="{E6DD2174-798C-4003-AE1D-5A8734CCE309}" sibTransId="{FE850F86-10A4-4AED-83E6-3F6A075EA679}"/>
    <dgm:cxn modelId="{46DE3A66-8FAB-CF4D-9892-D2FB8E0E08C5}" type="presOf" srcId="{72161DA6-3FDF-4AFE-9A3A-353DED90A401}" destId="{E9A52327-1F2F-CB4C-A1BF-784BDA14587A}" srcOrd="0" destOrd="0" presId="urn:microsoft.com/office/officeart/2005/8/layout/default"/>
    <dgm:cxn modelId="{2E34E766-5479-4967-94EB-87FCC570C5A3}" srcId="{8ECE2C36-A458-41C4-81BD-E4BED0FF144E}" destId="{BEB123C3-6FC1-4F1B-96D8-DC501A3741DF}" srcOrd="1" destOrd="0" parTransId="{56109ACF-8E9C-4250-B8EF-0E5B46EF3C1D}" sibTransId="{EB5DF263-3453-4156-A6E9-E375025E7F87}"/>
    <dgm:cxn modelId="{99E57272-B5DF-AF4F-BAEF-4206C7288918}" type="presOf" srcId="{68A6F833-169A-4470-9137-5437E5AA37DA}" destId="{19A2764E-33BE-1548-86B9-F9DB2DB4950A}" srcOrd="0" destOrd="0" presId="urn:microsoft.com/office/officeart/2005/8/layout/default"/>
    <dgm:cxn modelId="{D39E9787-5184-438D-B78E-9C22DDA462F5}" srcId="{72161DA6-3FDF-4AFE-9A3A-353DED90A401}" destId="{72D35A6D-9CB7-41B7-AFCC-DB2E97A0C596}" srcOrd="2" destOrd="0" parTransId="{BAC0D5D3-DF1E-4741-8C6E-83B0ACDA0567}" sibTransId="{81B4C1FF-6FE9-4247-A5C1-79435D651756}"/>
    <dgm:cxn modelId="{F4C85F99-89A0-6E40-8212-8FE643012261}" type="presOf" srcId="{8938700E-18F1-414F-B7B1-3DC58D5DB720}" destId="{E9A52327-1F2F-CB4C-A1BF-784BDA14587A}" srcOrd="0" destOrd="2" presId="urn:microsoft.com/office/officeart/2005/8/layout/default"/>
    <dgm:cxn modelId="{A9FD009F-E912-40A0-89D2-E2512D29F897}" srcId="{72161DA6-3FDF-4AFE-9A3A-353DED90A401}" destId="{963E71A6-FF99-4C3A-B9FF-AB697A573A3E}" srcOrd="3" destOrd="0" parTransId="{6ED47AE7-648E-4DD2-A0D8-72D134864998}" sibTransId="{D6076818-AEC3-4D2C-A4F0-5D8602BE64EE}"/>
    <dgm:cxn modelId="{8C6245A5-E566-41C3-8E01-89C722D0A1FD}" srcId="{68A6F833-169A-4470-9137-5437E5AA37DA}" destId="{72161DA6-3FDF-4AFE-9A3A-353DED90A401}" srcOrd="1" destOrd="0" parTransId="{607E0AF0-E772-4F11-84BE-9C0ED8FB36E3}" sibTransId="{9666C515-C998-4BAC-8E20-D5FDFF779DDC}"/>
    <dgm:cxn modelId="{0E994CB7-E036-44DB-A7CA-9BA0CEC05056}" srcId="{8ECE2C36-A458-41C4-81BD-E4BED0FF144E}" destId="{C0F91B8D-7705-4345-BDA5-972522DEDE15}" srcOrd="2" destOrd="0" parTransId="{94042AB3-32F8-4F19-AF49-7BDF1CD4B1FB}" sibTransId="{9BDE8D50-F81B-4C94-A9A0-451AB52DFF03}"/>
    <dgm:cxn modelId="{D38167C5-25F6-430F-8267-46BF1E3A99A9}" srcId="{8ECE2C36-A458-41C4-81BD-E4BED0FF144E}" destId="{DF2D1834-46E7-42FC-9285-87C26B108768}" srcOrd="0" destOrd="0" parTransId="{11A5ED5A-F44A-4EE2-85E1-A73FBD02471D}" sibTransId="{61976B79-C06E-4821-929F-AEA7BF850384}"/>
    <dgm:cxn modelId="{86EAE0CB-D1F7-442C-9A1D-027373DF5DAB}" srcId="{68A6F833-169A-4470-9137-5437E5AA37DA}" destId="{8ECE2C36-A458-41C4-81BD-E4BED0FF144E}" srcOrd="0" destOrd="0" parTransId="{6DEFBBD5-79DB-4EDD-8432-5F37CF570E70}" sibTransId="{4B49DEFF-1C4C-42E1-A1FC-B25345FFEBED}"/>
    <dgm:cxn modelId="{40FD43CE-9851-934F-8A60-5AA361B31A39}" type="presOf" srcId="{C0F91B8D-7705-4345-BDA5-972522DEDE15}" destId="{BC0E9739-5C78-804D-B56B-7E943913F31E}" srcOrd="0" destOrd="3" presId="urn:microsoft.com/office/officeart/2005/8/layout/default"/>
    <dgm:cxn modelId="{E7B9A2D1-10AB-8640-B059-F3D38816F850}" type="presOf" srcId="{B659EE7E-A34E-4444-B738-8C775152BB1E}" destId="{E9A52327-1F2F-CB4C-A1BF-784BDA14587A}" srcOrd="0" destOrd="1" presId="urn:microsoft.com/office/officeart/2005/8/layout/default"/>
    <dgm:cxn modelId="{95FB91E4-C48A-4D4B-8337-2C8C559B86FE}" srcId="{8ECE2C36-A458-41C4-81BD-E4BED0FF144E}" destId="{A962370C-DEC7-4325-B4E0-9ED3F93EF197}" srcOrd="3" destOrd="0" parTransId="{EA7B74A5-7399-4693-9B2E-2BA5330BDFE5}" sibTransId="{F41D0D31-E379-4A7D-8C81-62F0E491A7E8}"/>
    <dgm:cxn modelId="{182332FB-0EED-9542-A6E6-58A951A5EEC0}" type="presOf" srcId="{BEB123C3-6FC1-4F1B-96D8-DC501A3741DF}" destId="{BC0E9739-5C78-804D-B56B-7E943913F31E}" srcOrd="0" destOrd="2" presId="urn:microsoft.com/office/officeart/2005/8/layout/default"/>
    <dgm:cxn modelId="{82967C69-8978-3544-BA41-035DDF985D6F}" type="presParOf" srcId="{19A2764E-33BE-1548-86B9-F9DB2DB4950A}" destId="{BC0E9739-5C78-804D-B56B-7E943913F31E}" srcOrd="0" destOrd="0" presId="urn:microsoft.com/office/officeart/2005/8/layout/default"/>
    <dgm:cxn modelId="{DCEF7EEC-15F8-574A-8F71-DD3FF574A735}" type="presParOf" srcId="{19A2764E-33BE-1548-86B9-F9DB2DB4950A}" destId="{EBD6FBF7-2326-564D-BB7F-F543CA98C4E0}" srcOrd="1" destOrd="0" presId="urn:microsoft.com/office/officeart/2005/8/layout/default"/>
    <dgm:cxn modelId="{C6E8C3DB-66B1-564C-9C94-3E74BAF7A364}" type="presParOf" srcId="{19A2764E-33BE-1548-86B9-F9DB2DB4950A}" destId="{E9A52327-1F2F-CB4C-A1BF-784BDA14587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177CF9-410A-49C5-A1F0-CF7365FC053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C8EA3E-3B77-44BD-A1E8-CB64E95408B8}">
      <dgm:prSet/>
      <dgm:spPr/>
      <dgm:t>
        <a:bodyPr/>
        <a:lstStyle/>
        <a:p>
          <a:r>
            <a:rPr lang="en-GB"/>
            <a:t>Lecture participation: mandatory (with the usual exceptions)</a:t>
          </a:r>
          <a:br>
            <a:rPr lang="en-GB"/>
          </a:br>
          <a:r>
            <a:rPr lang="en-GB"/>
            <a:t>- please see me </a:t>
          </a:r>
          <a:r>
            <a:rPr lang="en-GB" i="1"/>
            <a:t>in advance </a:t>
          </a:r>
          <a:r>
            <a:rPr lang="en-GB"/>
            <a:t>for religious holidays, etc.</a:t>
          </a:r>
          <a:endParaRPr lang="en-US"/>
        </a:p>
      </dgm:t>
    </dgm:pt>
    <dgm:pt modelId="{AC1031E5-0C80-466A-AE09-1218FDC994A3}" type="parTrans" cxnId="{6926F3AB-7DBA-46C5-9EA3-76A0E22DA0B1}">
      <dgm:prSet/>
      <dgm:spPr/>
      <dgm:t>
        <a:bodyPr/>
        <a:lstStyle/>
        <a:p>
          <a:endParaRPr lang="en-US"/>
        </a:p>
      </dgm:t>
    </dgm:pt>
    <dgm:pt modelId="{06039F45-1DDA-4260-912A-779AB756EF5D}" type="sibTrans" cxnId="{6926F3AB-7DBA-46C5-9EA3-76A0E22DA0B1}">
      <dgm:prSet/>
      <dgm:spPr/>
      <dgm:t>
        <a:bodyPr/>
        <a:lstStyle/>
        <a:p>
          <a:endParaRPr lang="en-US"/>
        </a:p>
      </dgm:t>
    </dgm:pt>
    <dgm:pt modelId="{586B4D52-D74F-46A2-B166-FC997545883D}">
      <dgm:prSet/>
      <dgm:spPr/>
      <dgm:t>
        <a:bodyPr/>
        <a:lstStyle/>
        <a:p>
          <a:r>
            <a:rPr lang="en-GB"/>
            <a:t>Discussion section also mandatory (MWF 12, 1, 2) </a:t>
          </a:r>
          <a:endParaRPr lang="en-US"/>
        </a:p>
      </dgm:t>
    </dgm:pt>
    <dgm:pt modelId="{23A97FD0-F627-45A4-B8BC-7AA9D3843DFA}" type="parTrans" cxnId="{9D170B77-DC07-44C3-9CB2-FE0E35BCD408}">
      <dgm:prSet/>
      <dgm:spPr/>
      <dgm:t>
        <a:bodyPr/>
        <a:lstStyle/>
        <a:p>
          <a:endParaRPr lang="en-US"/>
        </a:p>
      </dgm:t>
    </dgm:pt>
    <dgm:pt modelId="{3678B0BF-914A-4723-8EC9-484458807078}" type="sibTrans" cxnId="{9D170B77-DC07-44C3-9CB2-FE0E35BCD408}">
      <dgm:prSet/>
      <dgm:spPr/>
      <dgm:t>
        <a:bodyPr/>
        <a:lstStyle/>
        <a:p>
          <a:endParaRPr lang="en-US"/>
        </a:p>
      </dgm:t>
    </dgm:pt>
    <dgm:pt modelId="{94877417-7A60-44BD-AFC1-5932F7C3037D}">
      <dgm:prSet/>
      <dgm:spPr/>
      <dgm:t>
        <a:bodyPr/>
        <a:lstStyle/>
        <a:p>
          <a:r>
            <a:rPr lang="en-GB"/>
            <a:t>DSS Accommodation: Please see me ASAP</a:t>
          </a:r>
          <a:endParaRPr lang="en-US"/>
        </a:p>
      </dgm:t>
    </dgm:pt>
    <dgm:pt modelId="{6A830A00-40EC-49F7-AAC3-84E75C73999B}" type="parTrans" cxnId="{E69B7F0E-E8E6-4821-8567-FB9DBFD7756D}">
      <dgm:prSet/>
      <dgm:spPr/>
      <dgm:t>
        <a:bodyPr/>
        <a:lstStyle/>
        <a:p>
          <a:endParaRPr lang="en-US"/>
        </a:p>
      </dgm:t>
    </dgm:pt>
    <dgm:pt modelId="{395F5F58-571B-400D-8FF7-DC82D745FB63}" type="sibTrans" cxnId="{E69B7F0E-E8E6-4821-8567-FB9DBFD7756D}">
      <dgm:prSet/>
      <dgm:spPr/>
      <dgm:t>
        <a:bodyPr/>
        <a:lstStyle/>
        <a:p>
          <a:endParaRPr lang="en-US"/>
        </a:p>
      </dgm:t>
    </dgm:pt>
    <dgm:pt modelId="{454D3550-2CBC-47F9-8426-DD0312F78BAF}">
      <dgm:prSet/>
      <dgm:spPr/>
      <dgm:t>
        <a:bodyPr/>
        <a:lstStyle/>
        <a:p>
          <a:r>
            <a:rPr lang="en-GB"/>
            <a:t>Preparation: HIGHLY recommended </a:t>
          </a:r>
          <a:endParaRPr lang="en-US"/>
        </a:p>
      </dgm:t>
    </dgm:pt>
    <dgm:pt modelId="{33781614-7877-45AB-AC64-7CDAF9BC8590}" type="parTrans" cxnId="{6A90FAF5-6718-406F-85EB-F84302514016}">
      <dgm:prSet/>
      <dgm:spPr/>
      <dgm:t>
        <a:bodyPr/>
        <a:lstStyle/>
        <a:p>
          <a:endParaRPr lang="en-US"/>
        </a:p>
      </dgm:t>
    </dgm:pt>
    <dgm:pt modelId="{7CA0A9DA-58FB-49B8-B1E9-2F4BA5398570}" type="sibTrans" cxnId="{6A90FAF5-6718-406F-85EB-F84302514016}">
      <dgm:prSet/>
      <dgm:spPr/>
      <dgm:t>
        <a:bodyPr/>
        <a:lstStyle/>
        <a:p>
          <a:endParaRPr lang="en-US"/>
        </a:p>
      </dgm:t>
    </dgm:pt>
    <dgm:pt modelId="{8281C744-A3F7-4B4A-8064-3FE598FBF185}">
      <dgm:prSet/>
      <dgm:spPr/>
      <dgm:t>
        <a:bodyPr/>
        <a:lstStyle/>
        <a:p>
          <a:r>
            <a:rPr lang="en-GB"/>
            <a:t>at least skim the reading prior to the lecture…</a:t>
          </a:r>
          <a:endParaRPr lang="en-US"/>
        </a:p>
      </dgm:t>
    </dgm:pt>
    <dgm:pt modelId="{A5E3189B-1CBC-4342-A85A-29E69B2B0AD0}" type="parTrans" cxnId="{B5C2FA4C-6940-4CF2-BA67-81C5AE536E4F}">
      <dgm:prSet/>
      <dgm:spPr/>
      <dgm:t>
        <a:bodyPr/>
        <a:lstStyle/>
        <a:p>
          <a:endParaRPr lang="en-US"/>
        </a:p>
      </dgm:t>
    </dgm:pt>
    <dgm:pt modelId="{0F9A468D-24A3-48E3-9EFB-12DE0F7E6825}" type="sibTrans" cxnId="{B5C2FA4C-6940-4CF2-BA67-81C5AE536E4F}">
      <dgm:prSet/>
      <dgm:spPr/>
      <dgm:t>
        <a:bodyPr/>
        <a:lstStyle/>
        <a:p>
          <a:endParaRPr lang="en-US"/>
        </a:p>
      </dgm:t>
    </dgm:pt>
    <dgm:pt modelId="{98896489-50AD-419E-A656-A47BEA3B2FB1}">
      <dgm:prSet/>
      <dgm:spPr/>
      <dgm:t>
        <a:bodyPr/>
        <a:lstStyle/>
        <a:p>
          <a:r>
            <a:rPr lang="en-GB"/>
            <a:t>...then read in depth after the lecture</a:t>
          </a:r>
          <a:endParaRPr lang="en-US"/>
        </a:p>
      </dgm:t>
    </dgm:pt>
    <dgm:pt modelId="{E461E995-F886-470D-9B54-A04191627B6C}" type="parTrans" cxnId="{DFB01DB4-EE86-4D71-B9A8-F69C4FA4EE8B}">
      <dgm:prSet/>
      <dgm:spPr/>
      <dgm:t>
        <a:bodyPr/>
        <a:lstStyle/>
        <a:p>
          <a:endParaRPr lang="en-US"/>
        </a:p>
      </dgm:t>
    </dgm:pt>
    <dgm:pt modelId="{A4A8284C-246D-4157-8C72-7E2CA1FED6AC}" type="sibTrans" cxnId="{DFB01DB4-EE86-4D71-B9A8-F69C4FA4EE8B}">
      <dgm:prSet/>
      <dgm:spPr/>
      <dgm:t>
        <a:bodyPr/>
        <a:lstStyle/>
        <a:p>
          <a:endParaRPr lang="en-US"/>
        </a:p>
      </dgm:t>
    </dgm:pt>
    <dgm:pt modelId="{AA414618-593E-4A7E-9BC9-E6F82DD22E86}">
      <dgm:prSet/>
      <dgm:spPr/>
      <dgm:t>
        <a:bodyPr/>
        <a:lstStyle/>
        <a:p>
          <a:r>
            <a:rPr lang="en-GB" dirty="0"/>
            <a:t>Study Habits: DON'T WAIT until right before tests ask for help; collaborate with your classmates, but put homework answers in your OWN words.  </a:t>
          </a:r>
          <a:endParaRPr lang="en-US" dirty="0"/>
        </a:p>
      </dgm:t>
    </dgm:pt>
    <dgm:pt modelId="{E05B081D-F1D4-4531-8121-68A3B9CE7281}" type="parTrans" cxnId="{16D8A5DD-B364-4CCF-8640-8EB87F786FFB}">
      <dgm:prSet/>
      <dgm:spPr/>
      <dgm:t>
        <a:bodyPr/>
        <a:lstStyle/>
        <a:p>
          <a:endParaRPr lang="en-US"/>
        </a:p>
      </dgm:t>
    </dgm:pt>
    <dgm:pt modelId="{1353205B-7C5B-4942-BDE7-38467BD73E08}" type="sibTrans" cxnId="{16D8A5DD-B364-4CCF-8640-8EB87F786FFB}">
      <dgm:prSet/>
      <dgm:spPr/>
      <dgm:t>
        <a:bodyPr/>
        <a:lstStyle/>
        <a:p>
          <a:endParaRPr lang="en-US"/>
        </a:p>
      </dgm:t>
    </dgm:pt>
    <dgm:pt modelId="{1CC3C37F-B197-4D37-8EAD-4ED353FCE530}">
      <dgm:prSet/>
      <dgm:spPr/>
      <dgm:t>
        <a:bodyPr/>
        <a:lstStyle/>
        <a:p>
          <a:r>
            <a:rPr lang="en-GB"/>
            <a:t>Ask questions on the ELMS discussion board!</a:t>
          </a:r>
          <a:endParaRPr lang="en-US"/>
        </a:p>
      </dgm:t>
    </dgm:pt>
    <dgm:pt modelId="{20C807CF-19F4-4F33-8197-F11332EF0895}" type="parTrans" cxnId="{909A1062-550D-4376-96ED-65433B169721}">
      <dgm:prSet/>
      <dgm:spPr/>
      <dgm:t>
        <a:bodyPr/>
        <a:lstStyle/>
        <a:p>
          <a:endParaRPr lang="en-US"/>
        </a:p>
      </dgm:t>
    </dgm:pt>
    <dgm:pt modelId="{0E2FFFFB-7271-4AD9-92B1-DA6B6A670AE8}" type="sibTrans" cxnId="{909A1062-550D-4376-96ED-65433B169721}">
      <dgm:prSet/>
      <dgm:spPr/>
      <dgm:t>
        <a:bodyPr/>
        <a:lstStyle/>
        <a:p>
          <a:endParaRPr lang="en-US"/>
        </a:p>
      </dgm:t>
    </dgm:pt>
    <dgm:pt modelId="{497B9C1B-A490-EE4B-8F17-F79A4D3E3280}" type="pres">
      <dgm:prSet presAssocID="{88177CF9-410A-49C5-A1F0-CF7365FC053F}" presName="diagram" presStyleCnt="0">
        <dgm:presLayoutVars>
          <dgm:dir/>
          <dgm:resizeHandles val="exact"/>
        </dgm:presLayoutVars>
      </dgm:prSet>
      <dgm:spPr/>
    </dgm:pt>
    <dgm:pt modelId="{E3AD335C-E93B-AD4C-A17C-6BF03934F826}" type="pres">
      <dgm:prSet presAssocID="{D1C8EA3E-3B77-44BD-A1E8-CB64E95408B8}" presName="node" presStyleLbl="node1" presStyleIdx="0" presStyleCnt="6">
        <dgm:presLayoutVars>
          <dgm:bulletEnabled val="1"/>
        </dgm:presLayoutVars>
      </dgm:prSet>
      <dgm:spPr/>
    </dgm:pt>
    <dgm:pt modelId="{38E016D5-A222-F54A-830A-704A15D981B9}" type="pres">
      <dgm:prSet presAssocID="{06039F45-1DDA-4260-912A-779AB756EF5D}" presName="sibTrans" presStyleCnt="0"/>
      <dgm:spPr/>
    </dgm:pt>
    <dgm:pt modelId="{A1CAD19F-5F1E-2A45-855E-4DE69E53751C}" type="pres">
      <dgm:prSet presAssocID="{586B4D52-D74F-46A2-B166-FC997545883D}" presName="node" presStyleLbl="node1" presStyleIdx="1" presStyleCnt="6">
        <dgm:presLayoutVars>
          <dgm:bulletEnabled val="1"/>
        </dgm:presLayoutVars>
      </dgm:prSet>
      <dgm:spPr/>
    </dgm:pt>
    <dgm:pt modelId="{5EE353CF-AF8D-1741-BF69-EE0F9CF70D3B}" type="pres">
      <dgm:prSet presAssocID="{3678B0BF-914A-4723-8EC9-484458807078}" presName="sibTrans" presStyleCnt="0"/>
      <dgm:spPr/>
    </dgm:pt>
    <dgm:pt modelId="{BC2AA7ED-7AB6-EE4A-8EEF-1BC667399634}" type="pres">
      <dgm:prSet presAssocID="{94877417-7A60-44BD-AFC1-5932F7C3037D}" presName="node" presStyleLbl="node1" presStyleIdx="2" presStyleCnt="6">
        <dgm:presLayoutVars>
          <dgm:bulletEnabled val="1"/>
        </dgm:presLayoutVars>
      </dgm:prSet>
      <dgm:spPr/>
    </dgm:pt>
    <dgm:pt modelId="{F34A000C-207B-0240-BA08-D9875D6E2C8D}" type="pres">
      <dgm:prSet presAssocID="{395F5F58-571B-400D-8FF7-DC82D745FB63}" presName="sibTrans" presStyleCnt="0"/>
      <dgm:spPr/>
    </dgm:pt>
    <dgm:pt modelId="{234B2993-8ADD-924B-A4C9-830D850915F5}" type="pres">
      <dgm:prSet presAssocID="{454D3550-2CBC-47F9-8426-DD0312F78BAF}" presName="node" presStyleLbl="node1" presStyleIdx="3" presStyleCnt="6">
        <dgm:presLayoutVars>
          <dgm:bulletEnabled val="1"/>
        </dgm:presLayoutVars>
      </dgm:prSet>
      <dgm:spPr/>
    </dgm:pt>
    <dgm:pt modelId="{951A96D8-A282-FB43-B04E-73D251332D5A}" type="pres">
      <dgm:prSet presAssocID="{7CA0A9DA-58FB-49B8-B1E9-2F4BA5398570}" presName="sibTrans" presStyleCnt="0"/>
      <dgm:spPr/>
    </dgm:pt>
    <dgm:pt modelId="{B8C0ABFE-31AC-9947-BC00-7199B12EA406}" type="pres">
      <dgm:prSet presAssocID="{AA414618-593E-4A7E-9BC9-E6F82DD22E86}" presName="node" presStyleLbl="node1" presStyleIdx="4" presStyleCnt="6">
        <dgm:presLayoutVars>
          <dgm:bulletEnabled val="1"/>
        </dgm:presLayoutVars>
      </dgm:prSet>
      <dgm:spPr/>
    </dgm:pt>
    <dgm:pt modelId="{AF6AB50A-4486-1445-97AA-138E11F33652}" type="pres">
      <dgm:prSet presAssocID="{1353205B-7C5B-4942-BDE7-38467BD73E08}" presName="sibTrans" presStyleCnt="0"/>
      <dgm:spPr/>
    </dgm:pt>
    <dgm:pt modelId="{4B6D9950-4E17-7448-810A-D2D4F5DA6C76}" type="pres">
      <dgm:prSet presAssocID="{1CC3C37F-B197-4D37-8EAD-4ED353FCE530}" presName="node" presStyleLbl="node1" presStyleIdx="5" presStyleCnt="6">
        <dgm:presLayoutVars>
          <dgm:bulletEnabled val="1"/>
        </dgm:presLayoutVars>
      </dgm:prSet>
      <dgm:spPr/>
    </dgm:pt>
  </dgm:ptLst>
  <dgm:cxnLst>
    <dgm:cxn modelId="{E69B7F0E-E8E6-4821-8567-FB9DBFD7756D}" srcId="{88177CF9-410A-49C5-A1F0-CF7365FC053F}" destId="{94877417-7A60-44BD-AFC1-5932F7C3037D}" srcOrd="2" destOrd="0" parTransId="{6A830A00-40EC-49F7-AAC3-84E75C73999B}" sibTransId="{395F5F58-571B-400D-8FF7-DC82D745FB63}"/>
    <dgm:cxn modelId="{2F552917-4F87-C14F-A6AB-5C799D67299A}" type="presOf" srcId="{8281C744-A3F7-4B4A-8064-3FE598FBF185}" destId="{234B2993-8ADD-924B-A4C9-830D850915F5}" srcOrd="0" destOrd="1" presId="urn:microsoft.com/office/officeart/2005/8/layout/default"/>
    <dgm:cxn modelId="{B5C2FA4C-6940-4CF2-BA67-81C5AE536E4F}" srcId="{454D3550-2CBC-47F9-8426-DD0312F78BAF}" destId="{8281C744-A3F7-4B4A-8064-3FE598FBF185}" srcOrd="0" destOrd="0" parTransId="{A5E3189B-1CBC-4342-A85A-29E69B2B0AD0}" sibTransId="{0F9A468D-24A3-48E3-9EFB-12DE0F7E6825}"/>
    <dgm:cxn modelId="{9D14DE4F-9BDC-7941-8A1B-91DFF86E449E}" type="presOf" srcId="{AA414618-593E-4A7E-9BC9-E6F82DD22E86}" destId="{B8C0ABFE-31AC-9947-BC00-7199B12EA406}" srcOrd="0" destOrd="0" presId="urn:microsoft.com/office/officeart/2005/8/layout/default"/>
    <dgm:cxn modelId="{909A1062-550D-4376-96ED-65433B169721}" srcId="{88177CF9-410A-49C5-A1F0-CF7365FC053F}" destId="{1CC3C37F-B197-4D37-8EAD-4ED353FCE530}" srcOrd="5" destOrd="0" parTransId="{20C807CF-19F4-4F33-8197-F11332EF0895}" sibTransId="{0E2FFFFB-7271-4AD9-92B1-DA6B6A670AE8}"/>
    <dgm:cxn modelId="{2EA8A26B-C550-0D40-A119-8C9E81C95454}" type="presOf" srcId="{454D3550-2CBC-47F9-8426-DD0312F78BAF}" destId="{234B2993-8ADD-924B-A4C9-830D850915F5}" srcOrd="0" destOrd="0" presId="urn:microsoft.com/office/officeart/2005/8/layout/default"/>
    <dgm:cxn modelId="{9D170B77-DC07-44C3-9CB2-FE0E35BCD408}" srcId="{88177CF9-410A-49C5-A1F0-CF7365FC053F}" destId="{586B4D52-D74F-46A2-B166-FC997545883D}" srcOrd="1" destOrd="0" parTransId="{23A97FD0-F627-45A4-B8BC-7AA9D3843DFA}" sibTransId="{3678B0BF-914A-4723-8EC9-484458807078}"/>
    <dgm:cxn modelId="{2E114399-E4FA-BD45-80F1-C190D7CD75E8}" type="presOf" srcId="{586B4D52-D74F-46A2-B166-FC997545883D}" destId="{A1CAD19F-5F1E-2A45-855E-4DE69E53751C}" srcOrd="0" destOrd="0" presId="urn:microsoft.com/office/officeart/2005/8/layout/default"/>
    <dgm:cxn modelId="{6926F3AB-7DBA-46C5-9EA3-76A0E22DA0B1}" srcId="{88177CF9-410A-49C5-A1F0-CF7365FC053F}" destId="{D1C8EA3E-3B77-44BD-A1E8-CB64E95408B8}" srcOrd="0" destOrd="0" parTransId="{AC1031E5-0C80-466A-AE09-1218FDC994A3}" sibTransId="{06039F45-1DDA-4260-912A-779AB756EF5D}"/>
    <dgm:cxn modelId="{4BDC57B2-4835-784D-909A-049EB6B461FB}" type="presOf" srcId="{D1C8EA3E-3B77-44BD-A1E8-CB64E95408B8}" destId="{E3AD335C-E93B-AD4C-A17C-6BF03934F826}" srcOrd="0" destOrd="0" presId="urn:microsoft.com/office/officeart/2005/8/layout/default"/>
    <dgm:cxn modelId="{DFB01DB4-EE86-4D71-B9A8-F69C4FA4EE8B}" srcId="{454D3550-2CBC-47F9-8426-DD0312F78BAF}" destId="{98896489-50AD-419E-A656-A47BEA3B2FB1}" srcOrd="1" destOrd="0" parTransId="{E461E995-F886-470D-9B54-A04191627B6C}" sibTransId="{A4A8284C-246D-4157-8C72-7E2CA1FED6AC}"/>
    <dgm:cxn modelId="{16075FB8-4631-3142-93C5-F4BAC184D39C}" type="presOf" srcId="{94877417-7A60-44BD-AFC1-5932F7C3037D}" destId="{BC2AA7ED-7AB6-EE4A-8EEF-1BC667399634}" srcOrd="0" destOrd="0" presId="urn:microsoft.com/office/officeart/2005/8/layout/default"/>
    <dgm:cxn modelId="{8C34FBC5-2E44-BC4F-9E73-1CFC75B067DD}" type="presOf" srcId="{1CC3C37F-B197-4D37-8EAD-4ED353FCE530}" destId="{4B6D9950-4E17-7448-810A-D2D4F5DA6C76}" srcOrd="0" destOrd="0" presId="urn:microsoft.com/office/officeart/2005/8/layout/default"/>
    <dgm:cxn modelId="{250EB4DA-F16A-954A-BE42-602ADA8EE784}" type="presOf" srcId="{88177CF9-410A-49C5-A1F0-CF7365FC053F}" destId="{497B9C1B-A490-EE4B-8F17-F79A4D3E3280}" srcOrd="0" destOrd="0" presId="urn:microsoft.com/office/officeart/2005/8/layout/default"/>
    <dgm:cxn modelId="{16D8A5DD-B364-4CCF-8640-8EB87F786FFB}" srcId="{88177CF9-410A-49C5-A1F0-CF7365FC053F}" destId="{AA414618-593E-4A7E-9BC9-E6F82DD22E86}" srcOrd="4" destOrd="0" parTransId="{E05B081D-F1D4-4531-8121-68A3B9CE7281}" sibTransId="{1353205B-7C5B-4942-BDE7-38467BD73E08}"/>
    <dgm:cxn modelId="{516A6FE8-E037-3E42-9F45-DA2DB2057AFE}" type="presOf" srcId="{98896489-50AD-419E-A656-A47BEA3B2FB1}" destId="{234B2993-8ADD-924B-A4C9-830D850915F5}" srcOrd="0" destOrd="2" presId="urn:microsoft.com/office/officeart/2005/8/layout/default"/>
    <dgm:cxn modelId="{6A90FAF5-6718-406F-85EB-F84302514016}" srcId="{88177CF9-410A-49C5-A1F0-CF7365FC053F}" destId="{454D3550-2CBC-47F9-8426-DD0312F78BAF}" srcOrd="3" destOrd="0" parTransId="{33781614-7877-45AB-AC64-7CDAF9BC8590}" sibTransId="{7CA0A9DA-58FB-49B8-B1E9-2F4BA5398570}"/>
    <dgm:cxn modelId="{59460D2F-490E-254A-AB9B-CC1E8A5FF531}" type="presParOf" srcId="{497B9C1B-A490-EE4B-8F17-F79A4D3E3280}" destId="{E3AD335C-E93B-AD4C-A17C-6BF03934F826}" srcOrd="0" destOrd="0" presId="urn:microsoft.com/office/officeart/2005/8/layout/default"/>
    <dgm:cxn modelId="{E642CAC0-C86B-1E45-B83A-734308A9606C}" type="presParOf" srcId="{497B9C1B-A490-EE4B-8F17-F79A4D3E3280}" destId="{38E016D5-A222-F54A-830A-704A15D981B9}" srcOrd="1" destOrd="0" presId="urn:microsoft.com/office/officeart/2005/8/layout/default"/>
    <dgm:cxn modelId="{0E751D17-40B5-754C-81DD-E4EDA3448E0D}" type="presParOf" srcId="{497B9C1B-A490-EE4B-8F17-F79A4D3E3280}" destId="{A1CAD19F-5F1E-2A45-855E-4DE69E53751C}" srcOrd="2" destOrd="0" presId="urn:microsoft.com/office/officeart/2005/8/layout/default"/>
    <dgm:cxn modelId="{D9FE93B8-E495-5B4B-A2A7-3C3BA083935F}" type="presParOf" srcId="{497B9C1B-A490-EE4B-8F17-F79A4D3E3280}" destId="{5EE353CF-AF8D-1741-BF69-EE0F9CF70D3B}" srcOrd="3" destOrd="0" presId="urn:microsoft.com/office/officeart/2005/8/layout/default"/>
    <dgm:cxn modelId="{98CD0D2A-D2B3-8C49-A1F8-F40B63871C28}" type="presParOf" srcId="{497B9C1B-A490-EE4B-8F17-F79A4D3E3280}" destId="{BC2AA7ED-7AB6-EE4A-8EEF-1BC667399634}" srcOrd="4" destOrd="0" presId="urn:microsoft.com/office/officeart/2005/8/layout/default"/>
    <dgm:cxn modelId="{B389A575-937B-044B-A82C-FBA096BA9BD9}" type="presParOf" srcId="{497B9C1B-A490-EE4B-8F17-F79A4D3E3280}" destId="{F34A000C-207B-0240-BA08-D9875D6E2C8D}" srcOrd="5" destOrd="0" presId="urn:microsoft.com/office/officeart/2005/8/layout/default"/>
    <dgm:cxn modelId="{F887EF19-B4BA-4F4A-AB96-01FAF52A02B4}" type="presParOf" srcId="{497B9C1B-A490-EE4B-8F17-F79A4D3E3280}" destId="{234B2993-8ADD-924B-A4C9-830D850915F5}" srcOrd="6" destOrd="0" presId="urn:microsoft.com/office/officeart/2005/8/layout/default"/>
    <dgm:cxn modelId="{54DDA492-D467-4F44-A21E-3F7C7E310ED2}" type="presParOf" srcId="{497B9C1B-A490-EE4B-8F17-F79A4D3E3280}" destId="{951A96D8-A282-FB43-B04E-73D251332D5A}" srcOrd="7" destOrd="0" presId="urn:microsoft.com/office/officeart/2005/8/layout/default"/>
    <dgm:cxn modelId="{C7C5926D-7366-4A4C-88EA-8C78D3C60853}" type="presParOf" srcId="{497B9C1B-A490-EE4B-8F17-F79A4D3E3280}" destId="{B8C0ABFE-31AC-9947-BC00-7199B12EA406}" srcOrd="8" destOrd="0" presId="urn:microsoft.com/office/officeart/2005/8/layout/default"/>
    <dgm:cxn modelId="{59B0F8D4-A91F-A44D-9CC6-19464FB08329}" type="presParOf" srcId="{497B9C1B-A490-EE4B-8F17-F79A4D3E3280}" destId="{AF6AB50A-4486-1445-97AA-138E11F33652}" srcOrd="9" destOrd="0" presId="urn:microsoft.com/office/officeart/2005/8/layout/default"/>
    <dgm:cxn modelId="{B7024546-5EC7-F040-9B99-09B236B89E1D}" type="presParOf" srcId="{497B9C1B-A490-EE4B-8F17-F79A4D3E3280}" destId="{4B6D9950-4E17-7448-810A-D2D4F5DA6C7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129334-478A-446A-8CA7-2340028CBC1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DDBCE3D-14B4-4647-80B4-F672B802690C}">
      <dgm:prSet/>
      <dgm:spPr/>
      <dgm:t>
        <a:bodyPr/>
        <a:lstStyle/>
        <a:p>
          <a:r>
            <a:rPr lang="en-GB" dirty="0"/>
            <a:t>This class is designed to engage you in many different ways. </a:t>
          </a:r>
          <a:endParaRPr lang="en-US" dirty="0"/>
        </a:p>
      </dgm:t>
    </dgm:pt>
    <dgm:pt modelId="{B9185945-B134-4E0F-8230-80E3D07F0BA5}" type="parTrans" cxnId="{F5B8F2BF-7CB3-4615-8D46-488AC7F5C37B}">
      <dgm:prSet/>
      <dgm:spPr/>
      <dgm:t>
        <a:bodyPr/>
        <a:lstStyle/>
        <a:p>
          <a:endParaRPr lang="en-US"/>
        </a:p>
      </dgm:t>
    </dgm:pt>
    <dgm:pt modelId="{620A11C1-2008-48EA-AB45-7CF676CE31D8}" type="sibTrans" cxnId="{F5B8F2BF-7CB3-4615-8D46-488AC7F5C37B}">
      <dgm:prSet/>
      <dgm:spPr/>
      <dgm:t>
        <a:bodyPr/>
        <a:lstStyle/>
        <a:p>
          <a:endParaRPr lang="en-US"/>
        </a:p>
      </dgm:t>
    </dgm:pt>
    <dgm:pt modelId="{8834CAAD-31B3-490F-89D1-41F96CAA9357}">
      <dgm:prSet/>
      <dgm:spPr/>
      <dgm:t>
        <a:bodyPr/>
        <a:lstStyle/>
        <a:p>
          <a:r>
            <a:rPr lang="en-GB" dirty="0"/>
            <a:t>It’s actually difficult to fail if you do the work and do your best.</a:t>
          </a:r>
          <a:endParaRPr lang="en-US" dirty="0"/>
        </a:p>
      </dgm:t>
    </dgm:pt>
    <dgm:pt modelId="{6F64C0D0-090C-4D27-8C32-CE2748CA2365}" type="parTrans" cxnId="{C54B3892-F6D2-4662-A6F6-592E4B012448}">
      <dgm:prSet/>
      <dgm:spPr/>
      <dgm:t>
        <a:bodyPr/>
        <a:lstStyle/>
        <a:p>
          <a:endParaRPr lang="en-US"/>
        </a:p>
      </dgm:t>
    </dgm:pt>
    <dgm:pt modelId="{1C9771CA-95BB-425E-97E4-1C8336ED9459}" type="sibTrans" cxnId="{C54B3892-F6D2-4662-A6F6-592E4B012448}">
      <dgm:prSet/>
      <dgm:spPr/>
      <dgm:t>
        <a:bodyPr/>
        <a:lstStyle/>
        <a:p>
          <a:endParaRPr lang="en-US"/>
        </a:p>
      </dgm:t>
    </dgm:pt>
    <dgm:pt modelId="{ABF7BEB8-5225-4738-A744-FBE8ED51C70A}">
      <dgm:prSet/>
      <dgm:spPr/>
      <dgm:t>
        <a:bodyPr/>
        <a:lstStyle/>
        <a:p>
          <a:r>
            <a:rPr lang="en-GB" dirty="0"/>
            <a:t>Pace yourself and work within your groups! </a:t>
          </a:r>
          <a:endParaRPr lang="en-US" dirty="0"/>
        </a:p>
      </dgm:t>
    </dgm:pt>
    <dgm:pt modelId="{42F34EC3-57CD-48B0-BB13-3A7EE8E10870}" type="parTrans" cxnId="{3BCEA443-D402-43DC-A952-475B1AC34E69}">
      <dgm:prSet/>
      <dgm:spPr/>
      <dgm:t>
        <a:bodyPr/>
        <a:lstStyle/>
        <a:p>
          <a:endParaRPr lang="en-US"/>
        </a:p>
      </dgm:t>
    </dgm:pt>
    <dgm:pt modelId="{5046DFA8-C57C-44F1-996E-061D064D4D6B}" type="sibTrans" cxnId="{3BCEA443-D402-43DC-A952-475B1AC34E69}">
      <dgm:prSet/>
      <dgm:spPr/>
      <dgm:t>
        <a:bodyPr/>
        <a:lstStyle/>
        <a:p>
          <a:endParaRPr lang="en-US"/>
        </a:p>
      </dgm:t>
    </dgm:pt>
    <dgm:pt modelId="{CC8D24C7-C549-4ABA-A184-4FB6B790EA68}">
      <dgm:prSet/>
      <dgm:spPr/>
      <dgm:t>
        <a:bodyPr/>
        <a:lstStyle/>
        <a:p>
          <a:r>
            <a:rPr lang="en-GB" dirty="0"/>
            <a:t>I want you to be able to engage with various media sources and use science to understand what is “good” and “bad” fiction.</a:t>
          </a:r>
          <a:endParaRPr lang="en-US" dirty="0"/>
        </a:p>
      </dgm:t>
    </dgm:pt>
    <dgm:pt modelId="{BFC2C445-296E-4AE1-B1B3-E0D87A064C2D}" type="parTrans" cxnId="{67967C25-69C9-4743-9ECA-C51ECD138195}">
      <dgm:prSet/>
      <dgm:spPr/>
      <dgm:t>
        <a:bodyPr/>
        <a:lstStyle/>
        <a:p>
          <a:endParaRPr lang="en-US"/>
        </a:p>
      </dgm:t>
    </dgm:pt>
    <dgm:pt modelId="{59FFED0B-9732-4A8E-898A-754A5D8EDA94}" type="sibTrans" cxnId="{67967C25-69C9-4743-9ECA-C51ECD138195}">
      <dgm:prSet/>
      <dgm:spPr/>
      <dgm:t>
        <a:bodyPr/>
        <a:lstStyle/>
        <a:p>
          <a:endParaRPr lang="en-US"/>
        </a:p>
      </dgm:t>
    </dgm:pt>
    <dgm:pt modelId="{2EE0BD9A-39DD-B249-AEBB-5ED010BBED31}" type="pres">
      <dgm:prSet presAssocID="{D1129334-478A-446A-8CA7-2340028CBC1A}" presName="linear" presStyleCnt="0">
        <dgm:presLayoutVars>
          <dgm:animLvl val="lvl"/>
          <dgm:resizeHandles val="exact"/>
        </dgm:presLayoutVars>
      </dgm:prSet>
      <dgm:spPr/>
    </dgm:pt>
    <dgm:pt modelId="{0497438D-5612-1D42-964E-DEC1E89C5525}" type="pres">
      <dgm:prSet presAssocID="{FDDBCE3D-14B4-4647-80B4-F672B80269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2114CAD-C837-3141-A3BA-7E93A0EBFF0E}" type="pres">
      <dgm:prSet presAssocID="{620A11C1-2008-48EA-AB45-7CF676CE31D8}" presName="spacer" presStyleCnt="0"/>
      <dgm:spPr/>
    </dgm:pt>
    <dgm:pt modelId="{A957829E-FAF6-0144-A0B8-6EBB75FA734E}" type="pres">
      <dgm:prSet presAssocID="{8834CAAD-31B3-490F-89D1-41F96CAA935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8A3BFD8-DE40-8F46-8EE8-70FA3285DAA9}" type="pres">
      <dgm:prSet presAssocID="{1C9771CA-95BB-425E-97E4-1C8336ED9459}" presName="spacer" presStyleCnt="0"/>
      <dgm:spPr/>
    </dgm:pt>
    <dgm:pt modelId="{626D2D57-E3B8-3047-95FC-2AF28C651610}" type="pres">
      <dgm:prSet presAssocID="{ABF7BEB8-5225-4738-A744-FBE8ED51C7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DD2C472-12F5-FF49-93BD-AC6416F4667D}" type="pres">
      <dgm:prSet presAssocID="{5046DFA8-C57C-44F1-996E-061D064D4D6B}" presName="spacer" presStyleCnt="0"/>
      <dgm:spPr/>
    </dgm:pt>
    <dgm:pt modelId="{C42D8023-8DFE-8140-B8A7-281ACC616C9F}" type="pres">
      <dgm:prSet presAssocID="{CC8D24C7-C549-4ABA-A184-4FB6B790EA6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967C25-69C9-4743-9ECA-C51ECD138195}" srcId="{D1129334-478A-446A-8CA7-2340028CBC1A}" destId="{CC8D24C7-C549-4ABA-A184-4FB6B790EA68}" srcOrd="3" destOrd="0" parTransId="{BFC2C445-296E-4AE1-B1B3-E0D87A064C2D}" sibTransId="{59FFED0B-9732-4A8E-898A-754A5D8EDA94}"/>
    <dgm:cxn modelId="{3BCEA443-D402-43DC-A952-475B1AC34E69}" srcId="{D1129334-478A-446A-8CA7-2340028CBC1A}" destId="{ABF7BEB8-5225-4738-A744-FBE8ED51C70A}" srcOrd="2" destOrd="0" parTransId="{42F34EC3-57CD-48B0-BB13-3A7EE8E10870}" sibTransId="{5046DFA8-C57C-44F1-996E-061D064D4D6B}"/>
    <dgm:cxn modelId="{C54B3892-F6D2-4662-A6F6-592E4B012448}" srcId="{D1129334-478A-446A-8CA7-2340028CBC1A}" destId="{8834CAAD-31B3-490F-89D1-41F96CAA9357}" srcOrd="1" destOrd="0" parTransId="{6F64C0D0-090C-4D27-8C32-CE2748CA2365}" sibTransId="{1C9771CA-95BB-425E-97E4-1C8336ED9459}"/>
    <dgm:cxn modelId="{9B1B25B1-36E0-C54C-8F34-BA884C02EB8A}" type="presOf" srcId="{D1129334-478A-446A-8CA7-2340028CBC1A}" destId="{2EE0BD9A-39DD-B249-AEBB-5ED010BBED31}" srcOrd="0" destOrd="0" presId="urn:microsoft.com/office/officeart/2005/8/layout/vList2"/>
    <dgm:cxn modelId="{F412D1B3-7775-8848-9E93-01122FE84C99}" type="presOf" srcId="{8834CAAD-31B3-490F-89D1-41F96CAA9357}" destId="{A957829E-FAF6-0144-A0B8-6EBB75FA734E}" srcOrd="0" destOrd="0" presId="urn:microsoft.com/office/officeart/2005/8/layout/vList2"/>
    <dgm:cxn modelId="{F5B8F2BF-7CB3-4615-8D46-488AC7F5C37B}" srcId="{D1129334-478A-446A-8CA7-2340028CBC1A}" destId="{FDDBCE3D-14B4-4647-80B4-F672B802690C}" srcOrd="0" destOrd="0" parTransId="{B9185945-B134-4E0F-8230-80E3D07F0BA5}" sibTransId="{620A11C1-2008-48EA-AB45-7CF676CE31D8}"/>
    <dgm:cxn modelId="{B8DBC5DC-0993-A944-AB5E-E30A048D62B2}" type="presOf" srcId="{CC8D24C7-C549-4ABA-A184-4FB6B790EA68}" destId="{C42D8023-8DFE-8140-B8A7-281ACC616C9F}" srcOrd="0" destOrd="0" presId="urn:microsoft.com/office/officeart/2005/8/layout/vList2"/>
    <dgm:cxn modelId="{47BAE7E7-5EE6-C045-A303-154361908E19}" type="presOf" srcId="{ABF7BEB8-5225-4738-A744-FBE8ED51C70A}" destId="{626D2D57-E3B8-3047-95FC-2AF28C651610}" srcOrd="0" destOrd="0" presId="urn:microsoft.com/office/officeart/2005/8/layout/vList2"/>
    <dgm:cxn modelId="{6A4B67F6-3BAF-1440-83F5-A1E1D351AFBB}" type="presOf" srcId="{FDDBCE3D-14B4-4647-80B4-F672B802690C}" destId="{0497438D-5612-1D42-964E-DEC1E89C5525}" srcOrd="0" destOrd="0" presId="urn:microsoft.com/office/officeart/2005/8/layout/vList2"/>
    <dgm:cxn modelId="{CED8DF8B-D1D2-344F-BAE2-18FEDF274A90}" type="presParOf" srcId="{2EE0BD9A-39DD-B249-AEBB-5ED010BBED31}" destId="{0497438D-5612-1D42-964E-DEC1E89C5525}" srcOrd="0" destOrd="0" presId="urn:microsoft.com/office/officeart/2005/8/layout/vList2"/>
    <dgm:cxn modelId="{91F7076F-6C4E-F54A-8C46-8D8D07274BC0}" type="presParOf" srcId="{2EE0BD9A-39DD-B249-AEBB-5ED010BBED31}" destId="{D2114CAD-C837-3141-A3BA-7E93A0EBFF0E}" srcOrd="1" destOrd="0" presId="urn:microsoft.com/office/officeart/2005/8/layout/vList2"/>
    <dgm:cxn modelId="{A0DAF684-98D8-1349-9748-5BB9407B5D99}" type="presParOf" srcId="{2EE0BD9A-39DD-B249-AEBB-5ED010BBED31}" destId="{A957829E-FAF6-0144-A0B8-6EBB75FA734E}" srcOrd="2" destOrd="0" presId="urn:microsoft.com/office/officeart/2005/8/layout/vList2"/>
    <dgm:cxn modelId="{D7DE83CF-4A93-214A-901C-DE26F10A4D53}" type="presParOf" srcId="{2EE0BD9A-39DD-B249-AEBB-5ED010BBED31}" destId="{C8A3BFD8-DE40-8F46-8EE8-70FA3285DAA9}" srcOrd="3" destOrd="0" presId="urn:microsoft.com/office/officeart/2005/8/layout/vList2"/>
    <dgm:cxn modelId="{C7B75247-7579-A74A-8CFC-1AE609AB3A4A}" type="presParOf" srcId="{2EE0BD9A-39DD-B249-AEBB-5ED010BBED31}" destId="{626D2D57-E3B8-3047-95FC-2AF28C651610}" srcOrd="4" destOrd="0" presId="urn:microsoft.com/office/officeart/2005/8/layout/vList2"/>
    <dgm:cxn modelId="{126679DD-CFD8-CC4C-BE39-4609E75BD43C}" type="presParOf" srcId="{2EE0BD9A-39DD-B249-AEBB-5ED010BBED31}" destId="{8DD2C472-12F5-FF49-93BD-AC6416F4667D}" srcOrd="5" destOrd="0" presId="urn:microsoft.com/office/officeart/2005/8/layout/vList2"/>
    <dgm:cxn modelId="{011698ED-8DCB-D943-B0E2-E10E2BAA3C2D}" type="presParOf" srcId="{2EE0BD9A-39DD-B249-AEBB-5ED010BBED31}" destId="{C42D8023-8DFE-8140-B8A7-281ACC616C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2C7617-72E1-41FC-A1A6-2DD6D7E5C8A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6CC0F8B-DCCD-46A7-AC35-60B21D17DA16}">
      <dgm:prSet/>
      <dgm:spPr/>
      <dgm:t>
        <a:bodyPr/>
        <a:lstStyle/>
        <a:p>
          <a:pPr>
            <a:defRPr cap="all"/>
          </a:pPr>
          <a:r>
            <a:rPr lang="en-US"/>
            <a:t>For your final project you’ll create (or address existing) planets</a:t>
          </a:r>
        </a:p>
      </dgm:t>
    </dgm:pt>
    <dgm:pt modelId="{36ACF191-307D-44A0-B36A-5466364BCF28}" type="parTrans" cxnId="{99D012AA-A070-4701-BD25-4D677E0D3DC7}">
      <dgm:prSet/>
      <dgm:spPr/>
      <dgm:t>
        <a:bodyPr/>
        <a:lstStyle/>
        <a:p>
          <a:endParaRPr lang="en-US"/>
        </a:p>
      </dgm:t>
    </dgm:pt>
    <dgm:pt modelId="{C4490843-B6A0-4121-9122-8168577B0169}" type="sibTrans" cxnId="{99D012AA-A070-4701-BD25-4D677E0D3DC7}">
      <dgm:prSet/>
      <dgm:spPr/>
      <dgm:t>
        <a:bodyPr/>
        <a:lstStyle/>
        <a:p>
          <a:endParaRPr lang="en-US"/>
        </a:p>
      </dgm:t>
    </dgm:pt>
    <dgm:pt modelId="{0AB55E9C-A730-49EE-89CC-BD53D7E2C119}">
      <dgm:prSet/>
      <dgm:spPr/>
      <dgm:t>
        <a:bodyPr/>
        <a:lstStyle/>
        <a:p>
          <a:pPr>
            <a:defRPr cap="all"/>
          </a:pPr>
          <a:r>
            <a:rPr lang="en-US"/>
            <a:t>You’ll decide what kind they are (terrestrial, giant, water/icy), i.e., composition which sets the density (and probably their rough size)</a:t>
          </a:r>
        </a:p>
      </dgm:t>
    </dgm:pt>
    <dgm:pt modelId="{2F09CEB8-8B95-4226-9D63-18A1DC697FE0}" type="parTrans" cxnId="{C23A37DF-DDCF-4617-8B21-DCE882845FAE}">
      <dgm:prSet/>
      <dgm:spPr/>
      <dgm:t>
        <a:bodyPr/>
        <a:lstStyle/>
        <a:p>
          <a:endParaRPr lang="en-US"/>
        </a:p>
      </dgm:t>
    </dgm:pt>
    <dgm:pt modelId="{5B319C80-61C6-41FD-99A9-E77D3BA15CC8}" type="sibTrans" cxnId="{C23A37DF-DDCF-4617-8B21-DCE882845FAE}">
      <dgm:prSet/>
      <dgm:spPr/>
      <dgm:t>
        <a:bodyPr/>
        <a:lstStyle/>
        <a:p>
          <a:endParaRPr lang="en-US"/>
        </a:p>
      </dgm:t>
    </dgm:pt>
    <dgm:pt modelId="{7641E952-7A07-4C34-9E95-85D3CC8D537F}">
      <dgm:prSet/>
      <dgm:spPr/>
      <dgm:t>
        <a:bodyPr/>
        <a:lstStyle/>
        <a:p>
          <a:pPr>
            <a:defRPr cap="all"/>
          </a:pPr>
          <a:r>
            <a:rPr lang="en-US"/>
            <a:t>Then you’ll decide their actual size which (combined with density) will set their mass</a:t>
          </a:r>
        </a:p>
      </dgm:t>
    </dgm:pt>
    <dgm:pt modelId="{BFA92098-E000-4B9B-8727-2E838E5B2058}" type="parTrans" cxnId="{FCC8A311-28D4-4B65-89B8-54AB364D3D08}">
      <dgm:prSet/>
      <dgm:spPr/>
      <dgm:t>
        <a:bodyPr/>
        <a:lstStyle/>
        <a:p>
          <a:endParaRPr lang="en-US"/>
        </a:p>
      </dgm:t>
    </dgm:pt>
    <dgm:pt modelId="{1B3A37CF-AF55-4E90-B2A7-A3BBB3ADCFEA}" type="sibTrans" cxnId="{FCC8A311-28D4-4B65-89B8-54AB364D3D08}">
      <dgm:prSet/>
      <dgm:spPr/>
      <dgm:t>
        <a:bodyPr/>
        <a:lstStyle/>
        <a:p>
          <a:endParaRPr lang="en-US"/>
        </a:p>
      </dgm:t>
    </dgm:pt>
    <dgm:pt modelId="{B9196B03-6A0A-4AAF-9F0D-12B05FA02F71}">
      <dgm:prSet/>
      <dgm:spPr/>
      <dgm:t>
        <a:bodyPr/>
        <a:lstStyle/>
        <a:p>
          <a:pPr>
            <a:defRPr cap="all"/>
          </a:pPr>
          <a:r>
            <a:rPr lang="en-US"/>
            <a:t>Now you know the size and mass which completely sets the surface gravity</a:t>
          </a:r>
        </a:p>
      </dgm:t>
    </dgm:pt>
    <dgm:pt modelId="{59F8FCA2-DC0E-44C0-879A-51DC9AAE95DD}" type="parTrans" cxnId="{7E12B14D-0141-4988-B5CB-7FD05B8DFDB8}">
      <dgm:prSet/>
      <dgm:spPr/>
      <dgm:t>
        <a:bodyPr/>
        <a:lstStyle/>
        <a:p>
          <a:endParaRPr lang="en-US"/>
        </a:p>
      </dgm:t>
    </dgm:pt>
    <dgm:pt modelId="{6B314BB3-7851-4B63-ACB7-E7CBC21C7D34}" type="sibTrans" cxnId="{7E12B14D-0141-4988-B5CB-7FD05B8DFDB8}">
      <dgm:prSet/>
      <dgm:spPr/>
      <dgm:t>
        <a:bodyPr/>
        <a:lstStyle/>
        <a:p>
          <a:endParaRPr lang="en-US"/>
        </a:p>
      </dgm:t>
    </dgm:pt>
    <dgm:pt modelId="{31C7BA59-3108-4DE9-8E2E-302E73384696}" type="pres">
      <dgm:prSet presAssocID="{842C7617-72E1-41FC-A1A6-2DD6D7E5C8AB}" presName="root" presStyleCnt="0">
        <dgm:presLayoutVars>
          <dgm:dir/>
          <dgm:resizeHandles val="exact"/>
        </dgm:presLayoutVars>
      </dgm:prSet>
      <dgm:spPr/>
    </dgm:pt>
    <dgm:pt modelId="{911C9FFB-CAF1-4712-BEFE-498F4E8AF67C}" type="pres">
      <dgm:prSet presAssocID="{E6CC0F8B-DCCD-46A7-AC35-60B21D17DA16}" presName="compNode" presStyleCnt="0"/>
      <dgm:spPr/>
    </dgm:pt>
    <dgm:pt modelId="{AEFBF3C5-146C-4DCD-819A-098A89BF1549}" type="pres">
      <dgm:prSet presAssocID="{E6CC0F8B-DCCD-46A7-AC35-60B21D17DA16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EAB9670-C61F-4EFC-947D-E4FD3C6CAC24}" type="pres">
      <dgm:prSet presAssocID="{E6CC0F8B-DCCD-46A7-AC35-60B21D17DA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et"/>
        </a:ext>
      </dgm:extLst>
    </dgm:pt>
    <dgm:pt modelId="{4DA6C755-360F-42BC-982C-C3CC9FE6EE10}" type="pres">
      <dgm:prSet presAssocID="{E6CC0F8B-DCCD-46A7-AC35-60B21D17DA16}" presName="spaceRect" presStyleCnt="0"/>
      <dgm:spPr/>
    </dgm:pt>
    <dgm:pt modelId="{FB5DB95D-DC0D-4F96-92DA-524A1E1914AC}" type="pres">
      <dgm:prSet presAssocID="{E6CC0F8B-DCCD-46A7-AC35-60B21D17DA16}" presName="textRect" presStyleLbl="revTx" presStyleIdx="0" presStyleCnt="4">
        <dgm:presLayoutVars>
          <dgm:chMax val="1"/>
          <dgm:chPref val="1"/>
        </dgm:presLayoutVars>
      </dgm:prSet>
      <dgm:spPr/>
    </dgm:pt>
    <dgm:pt modelId="{31D92624-7B83-4E7F-85EB-D82F46A24390}" type="pres">
      <dgm:prSet presAssocID="{C4490843-B6A0-4121-9122-8168577B0169}" presName="sibTrans" presStyleCnt="0"/>
      <dgm:spPr/>
    </dgm:pt>
    <dgm:pt modelId="{319EBDA9-5FEA-467C-9EF4-F359413378F1}" type="pres">
      <dgm:prSet presAssocID="{0AB55E9C-A730-49EE-89CC-BD53D7E2C119}" presName="compNode" presStyleCnt="0"/>
      <dgm:spPr/>
    </dgm:pt>
    <dgm:pt modelId="{AB4E9F35-B03F-4B12-A7F6-89A3FB9EE0D3}" type="pres">
      <dgm:prSet presAssocID="{0AB55E9C-A730-49EE-89CC-BD53D7E2C119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0595139-627E-4FE8-8349-7E6CF6D46CEF}" type="pres">
      <dgm:prSet presAssocID="{0AB55E9C-A730-49EE-89CC-BD53D7E2C11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5B4AB41F-F872-4875-8ECB-190F6EDF993D}" type="pres">
      <dgm:prSet presAssocID="{0AB55E9C-A730-49EE-89CC-BD53D7E2C119}" presName="spaceRect" presStyleCnt="0"/>
      <dgm:spPr/>
    </dgm:pt>
    <dgm:pt modelId="{3D43A98B-1413-45D0-AF5C-2384B3625A3D}" type="pres">
      <dgm:prSet presAssocID="{0AB55E9C-A730-49EE-89CC-BD53D7E2C119}" presName="textRect" presStyleLbl="revTx" presStyleIdx="1" presStyleCnt="4">
        <dgm:presLayoutVars>
          <dgm:chMax val="1"/>
          <dgm:chPref val="1"/>
        </dgm:presLayoutVars>
      </dgm:prSet>
      <dgm:spPr/>
    </dgm:pt>
    <dgm:pt modelId="{9A2D2B0B-9D1C-4FD2-9077-B2DBFE8A5866}" type="pres">
      <dgm:prSet presAssocID="{5B319C80-61C6-41FD-99A9-E77D3BA15CC8}" presName="sibTrans" presStyleCnt="0"/>
      <dgm:spPr/>
    </dgm:pt>
    <dgm:pt modelId="{04A4FEB9-62A9-43FB-9511-AABCE4C3E74E}" type="pres">
      <dgm:prSet presAssocID="{7641E952-7A07-4C34-9E95-85D3CC8D537F}" presName="compNode" presStyleCnt="0"/>
      <dgm:spPr/>
    </dgm:pt>
    <dgm:pt modelId="{4659F093-2F00-4A52-AE30-1CED60A427F8}" type="pres">
      <dgm:prSet presAssocID="{7641E952-7A07-4C34-9E95-85D3CC8D537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3CBB1A2-5D8F-410D-8BAF-CE5C14167719}" type="pres">
      <dgm:prSet presAssocID="{7641E952-7A07-4C34-9E95-85D3CC8D53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62ADD38B-175F-42CA-8307-ED3194AA26DE}" type="pres">
      <dgm:prSet presAssocID="{7641E952-7A07-4C34-9E95-85D3CC8D537F}" presName="spaceRect" presStyleCnt="0"/>
      <dgm:spPr/>
    </dgm:pt>
    <dgm:pt modelId="{072209CD-CDB2-4663-AC79-D6BB2B0841E8}" type="pres">
      <dgm:prSet presAssocID="{7641E952-7A07-4C34-9E95-85D3CC8D537F}" presName="textRect" presStyleLbl="revTx" presStyleIdx="2" presStyleCnt="4">
        <dgm:presLayoutVars>
          <dgm:chMax val="1"/>
          <dgm:chPref val="1"/>
        </dgm:presLayoutVars>
      </dgm:prSet>
      <dgm:spPr/>
    </dgm:pt>
    <dgm:pt modelId="{DE541743-5DE4-40CD-A3C2-BA69D5319A3D}" type="pres">
      <dgm:prSet presAssocID="{1B3A37CF-AF55-4E90-B2A7-A3BBB3ADCFEA}" presName="sibTrans" presStyleCnt="0"/>
      <dgm:spPr/>
    </dgm:pt>
    <dgm:pt modelId="{6352A06B-6E8F-423F-845D-61642861D2AE}" type="pres">
      <dgm:prSet presAssocID="{B9196B03-6A0A-4AAF-9F0D-12B05FA02F71}" presName="compNode" presStyleCnt="0"/>
      <dgm:spPr/>
    </dgm:pt>
    <dgm:pt modelId="{6F5865A4-E2D8-4A06-AEA3-5655CEA91238}" type="pres">
      <dgm:prSet presAssocID="{B9196B03-6A0A-4AAF-9F0D-12B05FA02F7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49DDA62-8D9C-4E4A-B6B6-A0F28E3CAD5F}" type="pres">
      <dgm:prSet presAssocID="{B9196B03-6A0A-4AAF-9F0D-12B05FA02F7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431C7F1A-E70F-4A54-A8DA-4E3A583D300E}" type="pres">
      <dgm:prSet presAssocID="{B9196B03-6A0A-4AAF-9F0D-12B05FA02F71}" presName="spaceRect" presStyleCnt="0"/>
      <dgm:spPr/>
    </dgm:pt>
    <dgm:pt modelId="{3DD3F6B8-D4EC-47CC-9174-A970BFAA02D3}" type="pres">
      <dgm:prSet presAssocID="{B9196B03-6A0A-4AAF-9F0D-12B05FA02F7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B023C11-1DFE-4661-8107-3D28405EA8D8}" type="presOf" srcId="{0AB55E9C-A730-49EE-89CC-BD53D7E2C119}" destId="{3D43A98B-1413-45D0-AF5C-2384B3625A3D}" srcOrd="0" destOrd="0" presId="urn:microsoft.com/office/officeart/2018/5/layout/IconLeafLabelList"/>
    <dgm:cxn modelId="{FCC8A311-28D4-4B65-89B8-54AB364D3D08}" srcId="{842C7617-72E1-41FC-A1A6-2DD6D7E5C8AB}" destId="{7641E952-7A07-4C34-9E95-85D3CC8D537F}" srcOrd="2" destOrd="0" parTransId="{BFA92098-E000-4B9B-8727-2E838E5B2058}" sibTransId="{1B3A37CF-AF55-4E90-B2A7-A3BBB3ADCFEA}"/>
    <dgm:cxn modelId="{7E12B14D-0141-4988-B5CB-7FD05B8DFDB8}" srcId="{842C7617-72E1-41FC-A1A6-2DD6D7E5C8AB}" destId="{B9196B03-6A0A-4AAF-9F0D-12B05FA02F71}" srcOrd="3" destOrd="0" parTransId="{59F8FCA2-DC0E-44C0-879A-51DC9AAE95DD}" sibTransId="{6B314BB3-7851-4B63-ACB7-E7CBC21C7D34}"/>
    <dgm:cxn modelId="{0182AD4E-827F-49F3-8E37-1602737A4578}" type="presOf" srcId="{7641E952-7A07-4C34-9E95-85D3CC8D537F}" destId="{072209CD-CDB2-4663-AC79-D6BB2B0841E8}" srcOrd="0" destOrd="0" presId="urn:microsoft.com/office/officeart/2018/5/layout/IconLeafLabelList"/>
    <dgm:cxn modelId="{4A5A476A-B806-416F-B905-6295CC0F6D44}" type="presOf" srcId="{842C7617-72E1-41FC-A1A6-2DD6D7E5C8AB}" destId="{31C7BA59-3108-4DE9-8E2E-302E73384696}" srcOrd="0" destOrd="0" presId="urn:microsoft.com/office/officeart/2018/5/layout/IconLeafLabelList"/>
    <dgm:cxn modelId="{99D012AA-A070-4701-BD25-4D677E0D3DC7}" srcId="{842C7617-72E1-41FC-A1A6-2DD6D7E5C8AB}" destId="{E6CC0F8B-DCCD-46A7-AC35-60B21D17DA16}" srcOrd="0" destOrd="0" parTransId="{36ACF191-307D-44A0-B36A-5466364BCF28}" sibTransId="{C4490843-B6A0-4121-9122-8168577B0169}"/>
    <dgm:cxn modelId="{C23A37DF-DDCF-4617-8B21-DCE882845FAE}" srcId="{842C7617-72E1-41FC-A1A6-2DD6D7E5C8AB}" destId="{0AB55E9C-A730-49EE-89CC-BD53D7E2C119}" srcOrd="1" destOrd="0" parTransId="{2F09CEB8-8B95-4226-9D63-18A1DC697FE0}" sibTransId="{5B319C80-61C6-41FD-99A9-E77D3BA15CC8}"/>
    <dgm:cxn modelId="{3A87B9E1-BD32-41D7-B12A-AB23A43F39B1}" type="presOf" srcId="{E6CC0F8B-DCCD-46A7-AC35-60B21D17DA16}" destId="{FB5DB95D-DC0D-4F96-92DA-524A1E1914AC}" srcOrd="0" destOrd="0" presId="urn:microsoft.com/office/officeart/2018/5/layout/IconLeafLabelList"/>
    <dgm:cxn modelId="{D553C4ED-24B1-483A-AA89-D1B5EAEF18F6}" type="presOf" srcId="{B9196B03-6A0A-4AAF-9F0D-12B05FA02F71}" destId="{3DD3F6B8-D4EC-47CC-9174-A970BFAA02D3}" srcOrd="0" destOrd="0" presId="urn:microsoft.com/office/officeart/2018/5/layout/IconLeafLabelList"/>
    <dgm:cxn modelId="{FDB40E73-9F30-4627-AEC2-03851069B97B}" type="presParOf" srcId="{31C7BA59-3108-4DE9-8E2E-302E73384696}" destId="{911C9FFB-CAF1-4712-BEFE-498F4E8AF67C}" srcOrd="0" destOrd="0" presId="urn:microsoft.com/office/officeart/2018/5/layout/IconLeafLabelList"/>
    <dgm:cxn modelId="{065D00E6-771F-4BED-9477-2F67DCFEBA90}" type="presParOf" srcId="{911C9FFB-CAF1-4712-BEFE-498F4E8AF67C}" destId="{AEFBF3C5-146C-4DCD-819A-098A89BF1549}" srcOrd="0" destOrd="0" presId="urn:microsoft.com/office/officeart/2018/5/layout/IconLeafLabelList"/>
    <dgm:cxn modelId="{93702D47-10B9-40ED-8AFD-B79433966C91}" type="presParOf" srcId="{911C9FFB-CAF1-4712-BEFE-498F4E8AF67C}" destId="{AEAB9670-C61F-4EFC-947D-E4FD3C6CAC24}" srcOrd="1" destOrd="0" presId="urn:microsoft.com/office/officeart/2018/5/layout/IconLeafLabelList"/>
    <dgm:cxn modelId="{3C285B34-E6B8-41B3-A1FD-108C50265F0F}" type="presParOf" srcId="{911C9FFB-CAF1-4712-BEFE-498F4E8AF67C}" destId="{4DA6C755-360F-42BC-982C-C3CC9FE6EE10}" srcOrd="2" destOrd="0" presId="urn:microsoft.com/office/officeart/2018/5/layout/IconLeafLabelList"/>
    <dgm:cxn modelId="{DBDC99BB-0CA5-448E-964C-22F5F5510C75}" type="presParOf" srcId="{911C9FFB-CAF1-4712-BEFE-498F4E8AF67C}" destId="{FB5DB95D-DC0D-4F96-92DA-524A1E1914AC}" srcOrd="3" destOrd="0" presId="urn:microsoft.com/office/officeart/2018/5/layout/IconLeafLabelList"/>
    <dgm:cxn modelId="{240666DC-5A42-4B9F-8B3A-C770BBB18A53}" type="presParOf" srcId="{31C7BA59-3108-4DE9-8E2E-302E73384696}" destId="{31D92624-7B83-4E7F-85EB-D82F46A24390}" srcOrd="1" destOrd="0" presId="urn:microsoft.com/office/officeart/2018/5/layout/IconLeafLabelList"/>
    <dgm:cxn modelId="{F22301D6-3292-4170-AE27-CF773897F82D}" type="presParOf" srcId="{31C7BA59-3108-4DE9-8E2E-302E73384696}" destId="{319EBDA9-5FEA-467C-9EF4-F359413378F1}" srcOrd="2" destOrd="0" presId="urn:microsoft.com/office/officeart/2018/5/layout/IconLeafLabelList"/>
    <dgm:cxn modelId="{EAE0B4DF-D35A-47FF-B814-73FF6F485CDB}" type="presParOf" srcId="{319EBDA9-5FEA-467C-9EF4-F359413378F1}" destId="{AB4E9F35-B03F-4B12-A7F6-89A3FB9EE0D3}" srcOrd="0" destOrd="0" presId="urn:microsoft.com/office/officeart/2018/5/layout/IconLeafLabelList"/>
    <dgm:cxn modelId="{A9FFCB3B-5864-4570-84D8-58930270E264}" type="presParOf" srcId="{319EBDA9-5FEA-467C-9EF4-F359413378F1}" destId="{80595139-627E-4FE8-8349-7E6CF6D46CEF}" srcOrd="1" destOrd="0" presId="urn:microsoft.com/office/officeart/2018/5/layout/IconLeafLabelList"/>
    <dgm:cxn modelId="{44485FE2-E6CA-455C-A85A-51F0AECB5718}" type="presParOf" srcId="{319EBDA9-5FEA-467C-9EF4-F359413378F1}" destId="{5B4AB41F-F872-4875-8ECB-190F6EDF993D}" srcOrd="2" destOrd="0" presId="urn:microsoft.com/office/officeart/2018/5/layout/IconLeafLabelList"/>
    <dgm:cxn modelId="{1CDEB263-4360-4F49-8461-7086727FA9C1}" type="presParOf" srcId="{319EBDA9-5FEA-467C-9EF4-F359413378F1}" destId="{3D43A98B-1413-45D0-AF5C-2384B3625A3D}" srcOrd="3" destOrd="0" presId="urn:microsoft.com/office/officeart/2018/5/layout/IconLeafLabelList"/>
    <dgm:cxn modelId="{3F040640-B20D-49E2-A217-4421A121257F}" type="presParOf" srcId="{31C7BA59-3108-4DE9-8E2E-302E73384696}" destId="{9A2D2B0B-9D1C-4FD2-9077-B2DBFE8A5866}" srcOrd="3" destOrd="0" presId="urn:microsoft.com/office/officeart/2018/5/layout/IconLeafLabelList"/>
    <dgm:cxn modelId="{E8FE222B-70C4-451E-97FD-7B94356C6B70}" type="presParOf" srcId="{31C7BA59-3108-4DE9-8E2E-302E73384696}" destId="{04A4FEB9-62A9-43FB-9511-AABCE4C3E74E}" srcOrd="4" destOrd="0" presId="urn:microsoft.com/office/officeart/2018/5/layout/IconLeafLabelList"/>
    <dgm:cxn modelId="{D19FFA50-8B20-4835-AB7D-A714B5A69DD0}" type="presParOf" srcId="{04A4FEB9-62A9-43FB-9511-AABCE4C3E74E}" destId="{4659F093-2F00-4A52-AE30-1CED60A427F8}" srcOrd="0" destOrd="0" presId="urn:microsoft.com/office/officeart/2018/5/layout/IconLeafLabelList"/>
    <dgm:cxn modelId="{C2EAD0DC-74F3-4F03-90D4-C472DFFA97C9}" type="presParOf" srcId="{04A4FEB9-62A9-43FB-9511-AABCE4C3E74E}" destId="{73CBB1A2-5D8F-410D-8BAF-CE5C14167719}" srcOrd="1" destOrd="0" presId="urn:microsoft.com/office/officeart/2018/5/layout/IconLeafLabelList"/>
    <dgm:cxn modelId="{CFB88276-DB07-4EF4-A815-5F8DD3299839}" type="presParOf" srcId="{04A4FEB9-62A9-43FB-9511-AABCE4C3E74E}" destId="{62ADD38B-175F-42CA-8307-ED3194AA26DE}" srcOrd="2" destOrd="0" presId="urn:microsoft.com/office/officeart/2018/5/layout/IconLeafLabelList"/>
    <dgm:cxn modelId="{35946653-E962-48B5-84D5-E06D8D4E4C7E}" type="presParOf" srcId="{04A4FEB9-62A9-43FB-9511-AABCE4C3E74E}" destId="{072209CD-CDB2-4663-AC79-D6BB2B0841E8}" srcOrd="3" destOrd="0" presId="urn:microsoft.com/office/officeart/2018/5/layout/IconLeafLabelList"/>
    <dgm:cxn modelId="{6D75521D-F862-430E-A61D-758DD34B2C17}" type="presParOf" srcId="{31C7BA59-3108-4DE9-8E2E-302E73384696}" destId="{DE541743-5DE4-40CD-A3C2-BA69D5319A3D}" srcOrd="5" destOrd="0" presId="urn:microsoft.com/office/officeart/2018/5/layout/IconLeafLabelList"/>
    <dgm:cxn modelId="{709F278D-35ED-43B3-8F19-35DA492D5162}" type="presParOf" srcId="{31C7BA59-3108-4DE9-8E2E-302E73384696}" destId="{6352A06B-6E8F-423F-845D-61642861D2AE}" srcOrd="6" destOrd="0" presId="urn:microsoft.com/office/officeart/2018/5/layout/IconLeafLabelList"/>
    <dgm:cxn modelId="{8E658F6A-C6FA-40B6-AD0F-CAC0AC50C739}" type="presParOf" srcId="{6352A06B-6E8F-423F-845D-61642861D2AE}" destId="{6F5865A4-E2D8-4A06-AEA3-5655CEA91238}" srcOrd="0" destOrd="0" presId="urn:microsoft.com/office/officeart/2018/5/layout/IconLeafLabelList"/>
    <dgm:cxn modelId="{58280E2B-389C-4FF2-9C41-0AEFBEEB2FFF}" type="presParOf" srcId="{6352A06B-6E8F-423F-845D-61642861D2AE}" destId="{149DDA62-8D9C-4E4A-B6B6-A0F28E3CAD5F}" srcOrd="1" destOrd="0" presId="urn:microsoft.com/office/officeart/2018/5/layout/IconLeafLabelList"/>
    <dgm:cxn modelId="{9FE54CBA-34B9-4919-800B-24BB6ABB48C5}" type="presParOf" srcId="{6352A06B-6E8F-423F-845D-61642861D2AE}" destId="{431C7F1A-E70F-4A54-A8DA-4E3A583D300E}" srcOrd="2" destOrd="0" presId="urn:microsoft.com/office/officeart/2018/5/layout/IconLeafLabelList"/>
    <dgm:cxn modelId="{5040DA59-07F3-48D9-8FED-39732D25ACBD}" type="presParOf" srcId="{6352A06B-6E8F-423F-845D-61642861D2AE}" destId="{3DD3F6B8-D4EC-47CC-9174-A970BFAA02D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49804A-7AD7-42D3-895C-E53647FAA5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F7DA34-1E3A-4176-983D-8E8F8395B515}">
      <dgm:prSet/>
      <dgm:spPr/>
      <dgm:t>
        <a:bodyPr/>
        <a:lstStyle/>
        <a:p>
          <a:r>
            <a:rPr lang="en-US"/>
            <a:t>True</a:t>
          </a:r>
        </a:p>
      </dgm:t>
    </dgm:pt>
    <dgm:pt modelId="{28685696-95B5-4F85-B9D2-4A7365882CEA}" type="parTrans" cxnId="{AF8A547E-E9A5-4824-9106-137B610329C3}">
      <dgm:prSet/>
      <dgm:spPr/>
      <dgm:t>
        <a:bodyPr/>
        <a:lstStyle/>
        <a:p>
          <a:endParaRPr lang="en-US"/>
        </a:p>
      </dgm:t>
    </dgm:pt>
    <dgm:pt modelId="{98531A9B-D736-412E-B53E-4B3228C929EB}" type="sibTrans" cxnId="{AF8A547E-E9A5-4824-9106-137B610329C3}">
      <dgm:prSet/>
      <dgm:spPr/>
      <dgm:t>
        <a:bodyPr/>
        <a:lstStyle/>
        <a:p>
          <a:endParaRPr lang="en-US"/>
        </a:p>
      </dgm:t>
    </dgm:pt>
    <dgm:pt modelId="{4F21765F-CD9C-43EF-805E-67C428C531FD}">
      <dgm:prSet/>
      <dgm:spPr/>
      <dgm:t>
        <a:bodyPr/>
        <a:lstStyle/>
        <a:p>
          <a:r>
            <a:rPr lang="en-US"/>
            <a:t>False</a:t>
          </a:r>
        </a:p>
      </dgm:t>
    </dgm:pt>
    <dgm:pt modelId="{104F9380-0C79-4816-8E55-6FF19509663B}" type="parTrans" cxnId="{8B62469C-C034-4722-9319-0D7CAC0672B1}">
      <dgm:prSet/>
      <dgm:spPr/>
      <dgm:t>
        <a:bodyPr/>
        <a:lstStyle/>
        <a:p>
          <a:endParaRPr lang="en-US"/>
        </a:p>
      </dgm:t>
    </dgm:pt>
    <dgm:pt modelId="{318116CF-9057-4F81-A210-522557114207}" type="sibTrans" cxnId="{8B62469C-C034-4722-9319-0D7CAC0672B1}">
      <dgm:prSet/>
      <dgm:spPr/>
      <dgm:t>
        <a:bodyPr/>
        <a:lstStyle/>
        <a:p>
          <a:endParaRPr lang="en-US"/>
        </a:p>
      </dgm:t>
    </dgm:pt>
    <dgm:pt modelId="{1BF0E480-B113-4239-9C68-C828726D1FAB}">
      <dgm:prSet/>
      <dgm:spPr/>
      <dgm:t>
        <a:bodyPr/>
        <a:lstStyle/>
        <a:p>
          <a:r>
            <a:rPr lang="en-US"/>
            <a:t>I don’t know</a:t>
          </a:r>
        </a:p>
      </dgm:t>
    </dgm:pt>
    <dgm:pt modelId="{6DCCAC19-B9A0-4D0D-A09D-7CA118D0262B}" type="parTrans" cxnId="{23870CCA-3E02-4DDA-B254-6D09874267BD}">
      <dgm:prSet/>
      <dgm:spPr/>
      <dgm:t>
        <a:bodyPr/>
        <a:lstStyle/>
        <a:p>
          <a:endParaRPr lang="en-US"/>
        </a:p>
      </dgm:t>
    </dgm:pt>
    <dgm:pt modelId="{D06B70B4-4728-46AD-B40E-EA96CC472558}" type="sibTrans" cxnId="{23870CCA-3E02-4DDA-B254-6D09874267BD}">
      <dgm:prSet/>
      <dgm:spPr/>
      <dgm:t>
        <a:bodyPr/>
        <a:lstStyle/>
        <a:p>
          <a:endParaRPr lang="en-US"/>
        </a:p>
      </dgm:t>
    </dgm:pt>
    <dgm:pt modelId="{8DF114CB-FEBC-6E48-A75E-8A7B87CE12E6}" type="pres">
      <dgm:prSet presAssocID="{7849804A-7AD7-42D3-895C-E53647FAA5A3}" presName="linear" presStyleCnt="0">
        <dgm:presLayoutVars>
          <dgm:animLvl val="lvl"/>
          <dgm:resizeHandles val="exact"/>
        </dgm:presLayoutVars>
      </dgm:prSet>
      <dgm:spPr/>
    </dgm:pt>
    <dgm:pt modelId="{8D866100-ECF2-2944-A421-657E117B9F0E}" type="pres">
      <dgm:prSet presAssocID="{BBF7DA34-1E3A-4176-983D-8E8F8395B5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1474730-A9E9-D842-B6FB-09F4DB98026E}" type="pres">
      <dgm:prSet presAssocID="{98531A9B-D736-412E-B53E-4B3228C929EB}" presName="spacer" presStyleCnt="0"/>
      <dgm:spPr/>
    </dgm:pt>
    <dgm:pt modelId="{7066F916-5E33-CE4B-AE1D-F8CDBC6ABF81}" type="pres">
      <dgm:prSet presAssocID="{4F21765F-CD9C-43EF-805E-67C428C531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F4C4381-C6A9-3744-B983-93E9590E5FBC}" type="pres">
      <dgm:prSet presAssocID="{318116CF-9057-4F81-A210-522557114207}" presName="spacer" presStyleCnt="0"/>
      <dgm:spPr/>
    </dgm:pt>
    <dgm:pt modelId="{F0FC4A55-0725-DC45-985C-D89AF5AE227F}" type="pres">
      <dgm:prSet presAssocID="{1BF0E480-B113-4239-9C68-C828726D1FA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2D4F706-1871-094F-B21D-5C2FD036F6F5}" type="presOf" srcId="{4F21765F-CD9C-43EF-805E-67C428C531FD}" destId="{7066F916-5E33-CE4B-AE1D-F8CDBC6ABF81}" srcOrd="0" destOrd="0" presId="urn:microsoft.com/office/officeart/2005/8/layout/vList2"/>
    <dgm:cxn modelId="{58B9A74D-57DB-2946-9E8D-E4BFEBF00598}" type="presOf" srcId="{7849804A-7AD7-42D3-895C-E53647FAA5A3}" destId="{8DF114CB-FEBC-6E48-A75E-8A7B87CE12E6}" srcOrd="0" destOrd="0" presId="urn:microsoft.com/office/officeart/2005/8/layout/vList2"/>
    <dgm:cxn modelId="{57998E60-6225-454A-BEFE-2912C0EA4285}" type="presOf" srcId="{1BF0E480-B113-4239-9C68-C828726D1FAB}" destId="{F0FC4A55-0725-DC45-985C-D89AF5AE227F}" srcOrd="0" destOrd="0" presId="urn:microsoft.com/office/officeart/2005/8/layout/vList2"/>
    <dgm:cxn modelId="{F222D372-BBB8-3943-B9B4-87B572D6B78D}" type="presOf" srcId="{BBF7DA34-1E3A-4176-983D-8E8F8395B515}" destId="{8D866100-ECF2-2944-A421-657E117B9F0E}" srcOrd="0" destOrd="0" presId="urn:microsoft.com/office/officeart/2005/8/layout/vList2"/>
    <dgm:cxn modelId="{AF8A547E-E9A5-4824-9106-137B610329C3}" srcId="{7849804A-7AD7-42D3-895C-E53647FAA5A3}" destId="{BBF7DA34-1E3A-4176-983D-8E8F8395B515}" srcOrd="0" destOrd="0" parTransId="{28685696-95B5-4F85-B9D2-4A7365882CEA}" sibTransId="{98531A9B-D736-412E-B53E-4B3228C929EB}"/>
    <dgm:cxn modelId="{8B62469C-C034-4722-9319-0D7CAC0672B1}" srcId="{7849804A-7AD7-42D3-895C-E53647FAA5A3}" destId="{4F21765F-CD9C-43EF-805E-67C428C531FD}" srcOrd="1" destOrd="0" parTransId="{104F9380-0C79-4816-8E55-6FF19509663B}" sibTransId="{318116CF-9057-4F81-A210-522557114207}"/>
    <dgm:cxn modelId="{23870CCA-3E02-4DDA-B254-6D09874267BD}" srcId="{7849804A-7AD7-42D3-895C-E53647FAA5A3}" destId="{1BF0E480-B113-4239-9C68-C828726D1FAB}" srcOrd="2" destOrd="0" parTransId="{6DCCAC19-B9A0-4D0D-A09D-7CA118D0262B}" sibTransId="{D06B70B4-4728-46AD-B40E-EA96CC472558}"/>
    <dgm:cxn modelId="{49F37A61-62A5-D44B-B627-D42EEFF7E0D3}" type="presParOf" srcId="{8DF114CB-FEBC-6E48-A75E-8A7B87CE12E6}" destId="{8D866100-ECF2-2944-A421-657E117B9F0E}" srcOrd="0" destOrd="0" presId="urn:microsoft.com/office/officeart/2005/8/layout/vList2"/>
    <dgm:cxn modelId="{A3B45EEE-662B-7141-AAEF-883DC74DD9B8}" type="presParOf" srcId="{8DF114CB-FEBC-6E48-A75E-8A7B87CE12E6}" destId="{21474730-A9E9-D842-B6FB-09F4DB98026E}" srcOrd="1" destOrd="0" presId="urn:microsoft.com/office/officeart/2005/8/layout/vList2"/>
    <dgm:cxn modelId="{8BF17A42-F117-D749-AAD4-61C8DCD272BF}" type="presParOf" srcId="{8DF114CB-FEBC-6E48-A75E-8A7B87CE12E6}" destId="{7066F916-5E33-CE4B-AE1D-F8CDBC6ABF81}" srcOrd="2" destOrd="0" presId="urn:microsoft.com/office/officeart/2005/8/layout/vList2"/>
    <dgm:cxn modelId="{37579932-6457-294F-A343-1C020CC2058F}" type="presParOf" srcId="{8DF114CB-FEBC-6E48-A75E-8A7B87CE12E6}" destId="{5F4C4381-C6A9-3744-B983-93E9590E5FBC}" srcOrd="3" destOrd="0" presId="urn:microsoft.com/office/officeart/2005/8/layout/vList2"/>
    <dgm:cxn modelId="{2610FD57-FAB6-2F42-AABA-F8D1ECF85C74}" type="presParOf" srcId="{8DF114CB-FEBC-6E48-A75E-8A7B87CE12E6}" destId="{F0FC4A55-0725-DC45-985C-D89AF5AE227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48C738-E70D-4279-A77C-A231A3A429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A092DB2-B82F-4CAB-BC17-0E6802B942E4}">
      <dgm:prSet/>
      <dgm:spPr/>
      <dgm:t>
        <a:bodyPr/>
        <a:lstStyle/>
        <a:p>
          <a:r>
            <a:rPr lang="en-US"/>
            <a:t>Nothing; all is lost; give up hope</a:t>
          </a:r>
        </a:p>
      </dgm:t>
    </dgm:pt>
    <dgm:pt modelId="{39CC71A3-D9CE-4119-A568-C63F5AE143B6}" type="parTrans" cxnId="{5E356F99-7A20-40C0-8ED7-D007068F6D38}">
      <dgm:prSet/>
      <dgm:spPr/>
      <dgm:t>
        <a:bodyPr/>
        <a:lstStyle/>
        <a:p>
          <a:endParaRPr lang="en-US"/>
        </a:p>
      </dgm:t>
    </dgm:pt>
    <dgm:pt modelId="{F0E47E93-BB75-4CAF-8728-E8AE4A12EFBE}" type="sibTrans" cxnId="{5E356F99-7A20-40C0-8ED7-D007068F6D38}">
      <dgm:prSet/>
      <dgm:spPr/>
      <dgm:t>
        <a:bodyPr/>
        <a:lstStyle/>
        <a:p>
          <a:endParaRPr lang="en-US"/>
        </a:p>
      </dgm:t>
    </dgm:pt>
    <dgm:pt modelId="{3ACCC438-E769-4F2F-9817-354F25EAAACB}">
      <dgm:prSet/>
      <dgm:spPr/>
      <dgm:t>
        <a:bodyPr/>
        <a:lstStyle/>
        <a:p>
          <a:r>
            <a:rPr lang="en-US"/>
            <a:t>Pressure</a:t>
          </a:r>
        </a:p>
      </dgm:t>
    </dgm:pt>
    <dgm:pt modelId="{00B57339-8D89-4ADF-AEED-FA72DFF0BA8B}" type="parTrans" cxnId="{30A9FE47-031D-493A-9BE4-0C3AB2ECB3D2}">
      <dgm:prSet/>
      <dgm:spPr/>
      <dgm:t>
        <a:bodyPr/>
        <a:lstStyle/>
        <a:p>
          <a:endParaRPr lang="en-US"/>
        </a:p>
      </dgm:t>
    </dgm:pt>
    <dgm:pt modelId="{BF59113E-96C3-4A26-91AE-2ECF530E5A32}" type="sibTrans" cxnId="{30A9FE47-031D-493A-9BE4-0C3AB2ECB3D2}">
      <dgm:prSet/>
      <dgm:spPr/>
      <dgm:t>
        <a:bodyPr/>
        <a:lstStyle/>
        <a:p>
          <a:endParaRPr lang="en-US"/>
        </a:p>
      </dgm:t>
    </dgm:pt>
    <dgm:pt modelId="{4C459F40-9480-4E31-8267-089FB37EA39B}">
      <dgm:prSet/>
      <dgm:spPr/>
      <dgm:t>
        <a:bodyPr/>
        <a:lstStyle/>
        <a:p>
          <a:r>
            <a:rPr lang="en-US"/>
            <a:t>Electromagnetism to the rescue!</a:t>
          </a:r>
        </a:p>
      </dgm:t>
    </dgm:pt>
    <dgm:pt modelId="{07E8BD12-22A6-4F4E-8D7F-ADC73B3F2EA5}" type="parTrans" cxnId="{0A59AEF8-A8F6-43D5-855A-389B3015D7FE}">
      <dgm:prSet/>
      <dgm:spPr/>
      <dgm:t>
        <a:bodyPr/>
        <a:lstStyle/>
        <a:p>
          <a:endParaRPr lang="en-US"/>
        </a:p>
      </dgm:t>
    </dgm:pt>
    <dgm:pt modelId="{E6817962-8DB5-4A59-B688-3B95D9C3717A}" type="sibTrans" cxnId="{0A59AEF8-A8F6-43D5-855A-389B3015D7FE}">
      <dgm:prSet/>
      <dgm:spPr/>
      <dgm:t>
        <a:bodyPr/>
        <a:lstStyle/>
        <a:p>
          <a:endParaRPr lang="en-US"/>
        </a:p>
      </dgm:t>
    </dgm:pt>
    <dgm:pt modelId="{A33B739E-BD13-4C33-A659-2090C7D8C9D4}">
      <dgm:prSet/>
      <dgm:spPr/>
      <dgm:t>
        <a:bodyPr/>
        <a:lstStyle/>
        <a:p>
          <a:r>
            <a:rPr lang="en-US"/>
            <a:t>Nuclear forces</a:t>
          </a:r>
        </a:p>
      </dgm:t>
    </dgm:pt>
    <dgm:pt modelId="{1D597459-7162-430A-9F28-DD6A6C5431CA}" type="parTrans" cxnId="{EBE3893B-145F-4F00-9D51-1BE53B6067FB}">
      <dgm:prSet/>
      <dgm:spPr/>
      <dgm:t>
        <a:bodyPr/>
        <a:lstStyle/>
        <a:p>
          <a:endParaRPr lang="en-US"/>
        </a:p>
      </dgm:t>
    </dgm:pt>
    <dgm:pt modelId="{6B8C2B65-3800-4574-BADA-0A0DCBAA9331}" type="sibTrans" cxnId="{EBE3893B-145F-4F00-9D51-1BE53B6067FB}">
      <dgm:prSet/>
      <dgm:spPr/>
      <dgm:t>
        <a:bodyPr/>
        <a:lstStyle/>
        <a:p>
          <a:endParaRPr lang="en-US"/>
        </a:p>
      </dgm:t>
    </dgm:pt>
    <dgm:pt modelId="{9A4EF931-0E20-4816-805D-57E149612036}">
      <dgm:prSet/>
      <dgm:spPr/>
      <dgm:t>
        <a:bodyPr/>
        <a:lstStyle/>
        <a:p>
          <a:r>
            <a:rPr lang="en-US"/>
            <a:t>Antigravity</a:t>
          </a:r>
        </a:p>
      </dgm:t>
    </dgm:pt>
    <dgm:pt modelId="{D997FB57-8032-4246-8BB2-8C6EC592A371}" type="parTrans" cxnId="{D8D3EA4F-73F6-42D9-8F68-28BB22BF0EAE}">
      <dgm:prSet/>
      <dgm:spPr/>
      <dgm:t>
        <a:bodyPr/>
        <a:lstStyle/>
        <a:p>
          <a:endParaRPr lang="en-US"/>
        </a:p>
      </dgm:t>
    </dgm:pt>
    <dgm:pt modelId="{5858F206-995B-4D8F-8859-69BE60BCD298}" type="sibTrans" cxnId="{D8D3EA4F-73F6-42D9-8F68-28BB22BF0EAE}">
      <dgm:prSet/>
      <dgm:spPr/>
      <dgm:t>
        <a:bodyPr/>
        <a:lstStyle/>
        <a:p>
          <a:endParaRPr lang="en-US"/>
        </a:p>
      </dgm:t>
    </dgm:pt>
    <dgm:pt modelId="{00B75571-681E-4C22-A022-D8B70083A6F2}">
      <dgm:prSet/>
      <dgm:spPr/>
      <dgm:t>
        <a:bodyPr/>
        <a:lstStyle/>
        <a:p>
          <a:r>
            <a:rPr lang="en-US"/>
            <a:t>Other </a:t>
          </a:r>
        </a:p>
      </dgm:t>
    </dgm:pt>
    <dgm:pt modelId="{B2C54F56-56F7-4AFE-88E8-39772AB4C333}" type="parTrans" cxnId="{697625AB-3E9B-4BAF-8155-4124B3749A0F}">
      <dgm:prSet/>
      <dgm:spPr/>
      <dgm:t>
        <a:bodyPr/>
        <a:lstStyle/>
        <a:p>
          <a:endParaRPr lang="en-US"/>
        </a:p>
      </dgm:t>
    </dgm:pt>
    <dgm:pt modelId="{65003CE4-C5CA-4BB3-9C81-A626D14B47CA}" type="sibTrans" cxnId="{697625AB-3E9B-4BAF-8155-4124B3749A0F}">
      <dgm:prSet/>
      <dgm:spPr/>
      <dgm:t>
        <a:bodyPr/>
        <a:lstStyle/>
        <a:p>
          <a:endParaRPr lang="en-US"/>
        </a:p>
      </dgm:t>
    </dgm:pt>
    <dgm:pt modelId="{20EC1285-362D-C145-ABF4-E9C05A84F475}" type="pres">
      <dgm:prSet presAssocID="{3E48C738-E70D-4279-A77C-A231A3A42943}" presName="linear" presStyleCnt="0">
        <dgm:presLayoutVars>
          <dgm:animLvl val="lvl"/>
          <dgm:resizeHandles val="exact"/>
        </dgm:presLayoutVars>
      </dgm:prSet>
      <dgm:spPr/>
    </dgm:pt>
    <dgm:pt modelId="{0E1BDCE2-05BA-4F49-8EB4-06DD1A8B695F}" type="pres">
      <dgm:prSet presAssocID="{0A092DB2-B82F-4CAB-BC17-0E6802B942E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3283576-B87A-CC4B-8518-7B861D4CD3FA}" type="pres">
      <dgm:prSet presAssocID="{F0E47E93-BB75-4CAF-8728-E8AE4A12EFBE}" presName="spacer" presStyleCnt="0"/>
      <dgm:spPr/>
    </dgm:pt>
    <dgm:pt modelId="{D02CDC89-D029-C14C-9628-AC2BD2A25083}" type="pres">
      <dgm:prSet presAssocID="{3ACCC438-E769-4F2F-9817-354F25EAAAC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35286A7-5FA2-FB4D-8376-D3FA7DBFF598}" type="pres">
      <dgm:prSet presAssocID="{BF59113E-96C3-4A26-91AE-2ECF530E5A32}" presName="spacer" presStyleCnt="0"/>
      <dgm:spPr/>
    </dgm:pt>
    <dgm:pt modelId="{58699E27-3C19-3D41-BFEE-F2AF9B2C8409}" type="pres">
      <dgm:prSet presAssocID="{4C459F40-9480-4E31-8267-089FB37EA39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AB7BFC7-AD3C-6C4D-8BCB-72EDA8D40767}" type="pres">
      <dgm:prSet presAssocID="{E6817962-8DB5-4A59-B688-3B95D9C3717A}" presName="spacer" presStyleCnt="0"/>
      <dgm:spPr/>
    </dgm:pt>
    <dgm:pt modelId="{26BCC171-842D-6843-B962-E0CCAF26F8FE}" type="pres">
      <dgm:prSet presAssocID="{A33B739E-BD13-4C33-A659-2090C7D8C9D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06B3C9C-B128-EC40-B92B-881D8911AE5A}" type="pres">
      <dgm:prSet presAssocID="{6B8C2B65-3800-4574-BADA-0A0DCBAA9331}" presName="spacer" presStyleCnt="0"/>
      <dgm:spPr/>
    </dgm:pt>
    <dgm:pt modelId="{B0291209-D7F8-B145-A31A-F08C4880AD08}" type="pres">
      <dgm:prSet presAssocID="{9A4EF931-0E20-4816-805D-57E14961203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DBB3B39-E737-1A47-ACCE-4B35D6F42063}" type="pres">
      <dgm:prSet presAssocID="{5858F206-995B-4D8F-8859-69BE60BCD298}" presName="spacer" presStyleCnt="0"/>
      <dgm:spPr/>
    </dgm:pt>
    <dgm:pt modelId="{DD59266E-DFF1-6545-9EB0-09F0B81DB705}" type="pres">
      <dgm:prSet presAssocID="{00B75571-681E-4C22-A022-D8B70083A6F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3AC690C-77AA-914B-A040-1D457503E9B0}" type="presOf" srcId="{4C459F40-9480-4E31-8267-089FB37EA39B}" destId="{58699E27-3C19-3D41-BFEE-F2AF9B2C8409}" srcOrd="0" destOrd="0" presId="urn:microsoft.com/office/officeart/2005/8/layout/vList2"/>
    <dgm:cxn modelId="{036C252B-3FEA-FE45-A956-B9F3431CC7E1}" type="presOf" srcId="{00B75571-681E-4C22-A022-D8B70083A6F2}" destId="{DD59266E-DFF1-6545-9EB0-09F0B81DB705}" srcOrd="0" destOrd="0" presId="urn:microsoft.com/office/officeart/2005/8/layout/vList2"/>
    <dgm:cxn modelId="{EBE3893B-145F-4F00-9D51-1BE53B6067FB}" srcId="{3E48C738-E70D-4279-A77C-A231A3A42943}" destId="{A33B739E-BD13-4C33-A659-2090C7D8C9D4}" srcOrd="3" destOrd="0" parTransId="{1D597459-7162-430A-9F28-DD6A6C5431CA}" sibTransId="{6B8C2B65-3800-4574-BADA-0A0DCBAA9331}"/>
    <dgm:cxn modelId="{30A9FE47-031D-493A-9BE4-0C3AB2ECB3D2}" srcId="{3E48C738-E70D-4279-A77C-A231A3A42943}" destId="{3ACCC438-E769-4F2F-9817-354F25EAAACB}" srcOrd="1" destOrd="0" parTransId="{00B57339-8D89-4ADF-AEED-FA72DFF0BA8B}" sibTransId="{BF59113E-96C3-4A26-91AE-2ECF530E5A32}"/>
    <dgm:cxn modelId="{80680948-A44B-DD4F-8318-CEE96431E277}" type="presOf" srcId="{3E48C738-E70D-4279-A77C-A231A3A42943}" destId="{20EC1285-362D-C145-ABF4-E9C05A84F475}" srcOrd="0" destOrd="0" presId="urn:microsoft.com/office/officeart/2005/8/layout/vList2"/>
    <dgm:cxn modelId="{D8D3EA4F-73F6-42D9-8F68-28BB22BF0EAE}" srcId="{3E48C738-E70D-4279-A77C-A231A3A42943}" destId="{9A4EF931-0E20-4816-805D-57E149612036}" srcOrd="4" destOrd="0" parTransId="{D997FB57-8032-4246-8BB2-8C6EC592A371}" sibTransId="{5858F206-995B-4D8F-8859-69BE60BCD298}"/>
    <dgm:cxn modelId="{98F36664-89E9-0940-AA44-D28E34A16F72}" type="presOf" srcId="{A33B739E-BD13-4C33-A659-2090C7D8C9D4}" destId="{26BCC171-842D-6843-B962-E0CCAF26F8FE}" srcOrd="0" destOrd="0" presId="urn:microsoft.com/office/officeart/2005/8/layout/vList2"/>
    <dgm:cxn modelId="{50123C8A-1810-EF47-9AA6-9D267772C462}" type="presOf" srcId="{0A092DB2-B82F-4CAB-BC17-0E6802B942E4}" destId="{0E1BDCE2-05BA-4F49-8EB4-06DD1A8B695F}" srcOrd="0" destOrd="0" presId="urn:microsoft.com/office/officeart/2005/8/layout/vList2"/>
    <dgm:cxn modelId="{5E356F99-7A20-40C0-8ED7-D007068F6D38}" srcId="{3E48C738-E70D-4279-A77C-A231A3A42943}" destId="{0A092DB2-B82F-4CAB-BC17-0E6802B942E4}" srcOrd="0" destOrd="0" parTransId="{39CC71A3-D9CE-4119-A568-C63F5AE143B6}" sibTransId="{F0E47E93-BB75-4CAF-8728-E8AE4A12EFBE}"/>
    <dgm:cxn modelId="{697625AB-3E9B-4BAF-8155-4124B3749A0F}" srcId="{3E48C738-E70D-4279-A77C-A231A3A42943}" destId="{00B75571-681E-4C22-A022-D8B70083A6F2}" srcOrd="5" destOrd="0" parTransId="{B2C54F56-56F7-4AFE-88E8-39772AB4C333}" sibTransId="{65003CE4-C5CA-4BB3-9C81-A626D14B47CA}"/>
    <dgm:cxn modelId="{B516B9B3-E694-BB43-92AF-48C8BD5C1BA4}" type="presOf" srcId="{9A4EF931-0E20-4816-805D-57E149612036}" destId="{B0291209-D7F8-B145-A31A-F08C4880AD08}" srcOrd="0" destOrd="0" presId="urn:microsoft.com/office/officeart/2005/8/layout/vList2"/>
    <dgm:cxn modelId="{7529ACE5-30B2-324D-82ED-A287BF1F0D53}" type="presOf" srcId="{3ACCC438-E769-4F2F-9817-354F25EAAACB}" destId="{D02CDC89-D029-C14C-9628-AC2BD2A25083}" srcOrd="0" destOrd="0" presId="urn:microsoft.com/office/officeart/2005/8/layout/vList2"/>
    <dgm:cxn modelId="{0A59AEF8-A8F6-43D5-855A-389B3015D7FE}" srcId="{3E48C738-E70D-4279-A77C-A231A3A42943}" destId="{4C459F40-9480-4E31-8267-089FB37EA39B}" srcOrd="2" destOrd="0" parTransId="{07E8BD12-22A6-4F4E-8D7F-ADC73B3F2EA5}" sibTransId="{E6817962-8DB5-4A59-B688-3B95D9C3717A}"/>
    <dgm:cxn modelId="{C525CC6D-BD29-BA45-9DB3-E945DD133FC4}" type="presParOf" srcId="{20EC1285-362D-C145-ABF4-E9C05A84F475}" destId="{0E1BDCE2-05BA-4F49-8EB4-06DD1A8B695F}" srcOrd="0" destOrd="0" presId="urn:microsoft.com/office/officeart/2005/8/layout/vList2"/>
    <dgm:cxn modelId="{B4D72D21-4475-3346-9012-2E532B054743}" type="presParOf" srcId="{20EC1285-362D-C145-ABF4-E9C05A84F475}" destId="{23283576-B87A-CC4B-8518-7B861D4CD3FA}" srcOrd="1" destOrd="0" presId="urn:microsoft.com/office/officeart/2005/8/layout/vList2"/>
    <dgm:cxn modelId="{CEAFAFEC-702B-7B4D-A9B9-422071BA8376}" type="presParOf" srcId="{20EC1285-362D-C145-ABF4-E9C05A84F475}" destId="{D02CDC89-D029-C14C-9628-AC2BD2A25083}" srcOrd="2" destOrd="0" presId="urn:microsoft.com/office/officeart/2005/8/layout/vList2"/>
    <dgm:cxn modelId="{C138BA1C-0D4B-DF41-BCD4-DC6CBAD7F5EC}" type="presParOf" srcId="{20EC1285-362D-C145-ABF4-E9C05A84F475}" destId="{E35286A7-5FA2-FB4D-8376-D3FA7DBFF598}" srcOrd="3" destOrd="0" presId="urn:microsoft.com/office/officeart/2005/8/layout/vList2"/>
    <dgm:cxn modelId="{2E85C072-A62A-BB4A-A660-F5B55B3ABA87}" type="presParOf" srcId="{20EC1285-362D-C145-ABF4-E9C05A84F475}" destId="{58699E27-3C19-3D41-BFEE-F2AF9B2C8409}" srcOrd="4" destOrd="0" presId="urn:microsoft.com/office/officeart/2005/8/layout/vList2"/>
    <dgm:cxn modelId="{BCCE5445-56B8-984A-A271-1963BC218ABD}" type="presParOf" srcId="{20EC1285-362D-C145-ABF4-E9C05A84F475}" destId="{9AB7BFC7-AD3C-6C4D-8BCB-72EDA8D40767}" srcOrd="5" destOrd="0" presId="urn:microsoft.com/office/officeart/2005/8/layout/vList2"/>
    <dgm:cxn modelId="{B365BED0-09C0-3C4E-B3B5-BF7FA7EA3C71}" type="presParOf" srcId="{20EC1285-362D-C145-ABF4-E9C05A84F475}" destId="{26BCC171-842D-6843-B962-E0CCAF26F8FE}" srcOrd="6" destOrd="0" presId="urn:microsoft.com/office/officeart/2005/8/layout/vList2"/>
    <dgm:cxn modelId="{18C4E38E-AD64-A440-8E97-A9B6275B6BBB}" type="presParOf" srcId="{20EC1285-362D-C145-ABF4-E9C05A84F475}" destId="{206B3C9C-B128-EC40-B92B-881D8911AE5A}" srcOrd="7" destOrd="0" presId="urn:microsoft.com/office/officeart/2005/8/layout/vList2"/>
    <dgm:cxn modelId="{52D4BED9-CBCF-6543-8383-5C3267A402D3}" type="presParOf" srcId="{20EC1285-362D-C145-ABF4-E9C05A84F475}" destId="{B0291209-D7F8-B145-A31A-F08C4880AD08}" srcOrd="8" destOrd="0" presId="urn:microsoft.com/office/officeart/2005/8/layout/vList2"/>
    <dgm:cxn modelId="{7E5EFB4A-B192-BE43-9743-712AEDF04AB3}" type="presParOf" srcId="{20EC1285-362D-C145-ABF4-E9C05A84F475}" destId="{7DBB3B39-E737-1A47-ACCE-4B35D6F42063}" srcOrd="9" destOrd="0" presId="urn:microsoft.com/office/officeart/2005/8/layout/vList2"/>
    <dgm:cxn modelId="{DDDDDAB1-A009-0047-B65F-2BF54B3A56D1}" type="presParOf" srcId="{20EC1285-362D-C145-ABF4-E9C05A84F475}" destId="{DD59266E-DFF1-6545-9EB0-09F0B81DB70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3D98F37-5CEE-4198-8E11-F3D7CECB78CE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A5BCC6A-5C35-4F96-9983-6F8838905A92}">
      <dgm:prSet/>
      <dgm:spPr/>
      <dgm:t>
        <a:bodyPr/>
        <a:lstStyle/>
        <a:p>
          <a:r>
            <a:rPr lang="en-US"/>
            <a:t>Our 4 giant planets formed within 5 – 20 AU of the Sun (much closer in toward the Sun than Neptune currently is)</a:t>
          </a:r>
        </a:p>
      </dgm:t>
    </dgm:pt>
    <dgm:pt modelId="{EF4628E5-BF8A-4F0D-9D21-C592BBD5C269}" type="parTrans" cxnId="{57E6E1D2-EC79-4B54-9A28-BA71B293C3D7}">
      <dgm:prSet/>
      <dgm:spPr/>
      <dgm:t>
        <a:bodyPr/>
        <a:lstStyle/>
        <a:p>
          <a:endParaRPr lang="en-US"/>
        </a:p>
      </dgm:t>
    </dgm:pt>
    <dgm:pt modelId="{FF291D31-A308-4CC2-9400-1629EA6E4227}" type="sibTrans" cxnId="{57E6E1D2-EC79-4B54-9A28-BA71B293C3D7}">
      <dgm:prSet/>
      <dgm:spPr/>
      <dgm:t>
        <a:bodyPr/>
        <a:lstStyle/>
        <a:p>
          <a:endParaRPr lang="en-US"/>
        </a:p>
      </dgm:t>
    </dgm:pt>
    <dgm:pt modelId="{0EB5274A-654A-4D9E-B638-DB83FDABB788}">
      <dgm:prSet/>
      <dgm:spPr/>
      <dgm:t>
        <a:bodyPr/>
        <a:lstStyle/>
        <a:p>
          <a:r>
            <a:rPr lang="en-US"/>
            <a:t>Beyond them was a massive leftover disk of material out to ~30 AU</a:t>
          </a:r>
        </a:p>
      </dgm:t>
    </dgm:pt>
    <dgm:pt modelId="{5E52BE44-6B2F-457F-ADA6-CCAD7613CD7B}" type="parTrans" cxnId="{FD2156FD-A0F3-41C3-B44E-8A1857FEC6B8}">
      <dgm:prSet/>
      <dgm:spPr/>
      <dgm:t>
        <a:bodyPr/>
        <a:lstStyle/>
        <a:p>
          <a:endParaRPr lang="en-US"/>
        </a:p>
      </dgm:t>
    </dgm:pt>
    <dgm:pt modelId="{AF6E472C-C5CA-4B8E-B2D9-91139B9E3986}" type="sibTrans" cxnId="{FD2156FD-A0F3-41C3-B44E-8A1857FEC6B8}">
      <dgm:prSet/>
      <dgm:spPr/>
      <dgm:t>
        <a:bodyPr/>
        <a:lstStyle/>
        <a:p>
          <a:endParaRPr lang="en-US"/>
        </a:p>
      </dgm:t>
    </dgm:pt>
    <dgm:pt modelId="{F69BFF1A-477C-4124-8CB9-422F09165EB7}">
      <dgm:prSet/>
      <dgm:spPr/>
      <dgm:t>
        <a:bodyPr/>
        <a:lstStyle/>
        <a:p>
          <a:r>
            <a:rPr lang="en-US"/>
            <a:t>The four giants migrate slowly, spreading out as they interact with the disk</a:t>
          </a:r>
        </a:p>
      </dgm:t>
    </dgm:pt>
    <dgm:pt modelId="{9C9B4B61-A520-4A24-8A50-9008D1211D37}" type="parTrans" cxnId="{A26F7FE6-E832-46F9-AC78-257A084B846E}">
      <dgm:prSet/>
      <dgm:spPr/>
      <dgm:t>
        <a:bodyPr/>
        <a:lstStyle/>
        <a:p>
          <a:endParaRPr lang="en-US"/>
        </a:p>
      </dgm:t>
    </dgm:pt>
    <dgm:pt modelId="{E000D6B9-26BC-4B9B-B290-1D28C7EFFDCB}" type="sibTrans" cxnId="{A26F7FE6-E832-46F9-AC78-257A084B846E}">
      <dgm:prSet/>
      <dgm:spPr/>
      <dgm:t>
        <a:bodyPr/>
        <a:lstStyle/>
        <a:p>
          <a:endParaRPr lang="en-US"/>
        </a:p>
      </dgm:t>
    </dgm:pt>
    <dgm:pt modelId="{A8F840F8-20EC-284C-B885-1633A303C379}" type="pres">
      <dgm:prSet presAssocID="{33D98F37-5CEE-4198-8E11-F3D7CECB78CE}" presName="linear" presStyleCnt="0">
        <dgm:presLayoutVars>
          <dgm:animLvl val="lvl"/>
          <dgm:resizeHandles val="exact"/>
        </dgm:presLayoutVars>
      </dgm:prSet>
      <dgm:spPr/>
    </dgm:pt>
    <dgm:pt modelId="{CC3287ED-FA6F-9C49-B2FC-93E0747E7E6C}" type="pres">
      <dgm:prSet presAssocID="{BA5BCC6A-5C35-4F96-9983-6F8838905A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DFF339C-5F55-4043-87BB-F4555C7065AD}" type="pres">
      <dgm:prSet presAssocID="{FF291D31-A308-4CC2-9400-1629EA6E4227}" presName="spacer" presStyleCnt="0"/>
      <dgm:spPr/>
    </dgm:pt>
    <dgm:pt modelId="{CC3E90FC-E1AB-E54A-8C72-3760A62DF8CA}" type="pres">
      <dgm:prSet presAssocID="{0EB5274A-654A-4D9E-B638-DB83FDABB7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08F959-9832-CD49-A21D-FBB236807A77}" type="pres">
      <dgm:prSet presAssocID="{AF6E472C-C5CA-4B8E-B2D9-91139B9E3986}" presName="spacer" presStyleCnt="0"/>
      <dgm:spPr/>
    </dgm:pt>
    <dgm:pt modelId="{5DBFACB5-A173-B248-8EDF-7DAEB7D0EF93}" type="pres">
      <dgm:prSet presAssocID="{F69BFF1A-477C-4124-8CB9-422F09165EB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849880A-60AF-FB47-A74F-E0B330A9DBD0}" type="presOf" srcId="{F69BFF1A-477C-4124-8CB9-422F09165EB7}" destId="{5DBFACB5-A173-B248-8EDF-7DAEB7D0EF93}" srcOrd="0" destOrd="0" presId="urn:microsoft.com/office/officeart/2005/8/layout/vList2"/>
    <dgm:cxn modelId="{9E373E61-E6FC-6D49-A57A-F1B064C03E33}" type="presOf" srcId="{0EB5274A-654A-4D9E-B638-DB83FDABB788}" destId="{CC3E90FC-E1AB-E54A-8C72-3760A62DF8CA}" srcOrd="0" destOrd="0" presId="urn:microsoft.com/office/officeart/2005/8/layout/vList2"/>
    <dgm:cxn modelId="{2CD17094-0650-D448-9786-57A3989C7B39}" type="presOf" srcId="{BA5BCC6A-5C35-4F96-9983-6F8838905A92}" destId="{CC3287ED-FA6F-9C49-B2FC-93E0747E7E6C}" srcOrd="0" destOrd="0" presId="urn:microsoft.com/office/officeart/2005/8/layout/vList2"/>
    <dgm:cxn modelId="{57E6E1D2-EC79-4B54-9A28-BA71B293C3D7}" srcId="{33D98F37-5CEE-4198-8E11-F3D7CECB78CE}" destId="{BA5BCC6A-5C35-4F96-9983-6F8838905A92}" srcOrd="0" destOrd="0" parTransId="{EF4628E5-BF8A-4F0D-9D21-C592BBD5C269}" sibTransId="{FF291D31-A308-4CC2-9400-1629EA6E4227}"/>
    <dgm:cxn modelId="{A26F7FE6-E832-46F9-AC78-257A084B846E}" srcId="{33D98F37-5CEE-4198-8E11-F3D7CECB78CE}" destId="{F69BFF1A-477C-4124-8CB9-422F09165EB7}" srcOrd="2" destOrd="0" parTransId="{9C9B4B61-A520-4A24-8A50-9008D1211D37}" sibTransId="{E000D6B9-26BC-4B9B-B290-1D28C7EFFDCB}"/>
    <dgm:cxn modelId="{512552EF-38E2-DD47-9ECC-BD80255272D7}" type="presOf" srcId="{33D98F37-5CEE-4198-8E11-F3D7CECB78CE}" destId="{A8F840F8-20EC-284C-B885-1633A303C379}" srcOrd="0" destOrd="0" presId="urn:microsoft.com/office/officeart/2005/8/layout/vList2"/>
    <dgm:cxn modelId="{FD2156FD-A0F3-41C3-B44E-8A1857FEC6B8}" srcId="{33D98F37-5CEE-4198-8E11-F3D7CECB78CE}" destId="{0EB5274A-654A-4D9E-B638-DB83FDABB788}" srcOrd="1" destOrd="0" parTransId="{5E52BE44-6B2F-457F-ADA6-CCAD7613CD7B}" sibTransId="{AF6E472C-C5CA-4B8E-B2D9-91139B9E3986}"/>
    <dgm:cxn modelId="{8A1744A0-2019-3A41-8E2C-F049FDF9EAF2}" type="presParOf" srcId="{A8F840F8-20EC-284C-B885-1633A303C379}" destId="{CC3287ED-FA6F-9C49-B2FC-93E0747E7E6C}" srcOrd="0" destOrd="0" presId="urn:microsoft.com/office/officeart/2005/8/layout/vList2"/>
    <dgm:cxn modelId="{50488215-600E-4744-98BB-695D8BA3FCA5}" type="presParOf" srcId="{A8F840F8-20EC-284C-B885-1633A303C379}" destId="{6DFF339C-5F55-4043-87BB-F4555C7065AD}" srcOrd="1" destOrd="0" presId="urn:microsoft.com/office/officeart/2005/8/layout/vList2"/>
    <dgm:cxn modelId="{073DC677-F12D-6C44-A7C1-787452B5FCCF}" type="presParOf" srcId="{A8F840F8-20EC-284C-B885-1633A303C379}" destId="{CC3E90FC-E1AB-E54A-8C72-3760A62DF8CA}" srcOrd="2" destOrd="0" presId="urn:microsoft.com/office/officeart/2005/8/layout/vList2"/>
    <dgm:cxn modelId="{E9C098FE-0255-F142-901F-6DA6FF072B06}" type="presParOf" srcId="{A8F840F8-20EC-284C-B885-1633A303C379}" destId="{5E08F959-9832-CD49-A21D-FBB236807A77}" srcOrd="3" destOrd="0" presId="urn:microsoft.com/office/officeart/2005/8/layout/vList2"/>
    <dgm:cxn modelId="{D4D1AE7E-5218-A14D-AC1B-A2FF779264D5}" type="presParOf" srcId="{A8F840F8-20EC-284C-B885-1633A303C379}" destId="{5DBFACB5-A173-B248-8EDF-7DAEB7D0EF9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C1CF1C4-3145-4854-98F0-8A656962DC1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42B9C50-6195-4FBE-90E9-486AD5C76BBB}">
      <dgm:prSet/>
      <dgm:spPr/>
      <dgm:t>
        <a:bodyPr/>
        <a:lstStyle/>
        <a:p>
          <a:r>
            <a:rPr lang="en-US" b="1"/>
            <a:t>Jupiter &amp; Saturn </a:t>
          </a:r>
          <a:r>
            <a:rPr lang="en-US"/>
            <a:t>cross a strong 2:1 </a:t>
          </a:r>
          <a:r>
            <a:rPr lang="en-US" b="1"/>
            <a:t>mean-motion resonance </a:t>
          </a:r>
          <a:r>
            <a:rPr lang="en-US"/>
            <a:t>at around 700 Ma.  </a:t>
          </a:r>
        </a:p>
      </dgm:t>
    </dgm:pt>
    <dgm:pt modelId="{88F60CE9-5DA2-4D84-B3C2-D2BEDED5559D}" type="parTrans" cxnId="{4595B70C-FF31-4756-8AA4-53522C27C957}">
      <dgm:prSet/>
      <dgm:spPr/>
      <dgm:t>
        <a:bodyPr/>
        <a:lstStyle/>
        <a:p>
          <a:endParaRPr lang="en-US"/>
        </a:p>
      </dgm:t>
    </dgm:pt>
    <dgm:pt modelId="{AFEEFCC2-EE9E-4DB7-A2E0-03B4D64B4AAD}" type="sibTrans" cxnId="{4595B70C-FF31-4756-8AA4-53522C27C957}">
      <dgm:prSet/>
      <dgm:spPr/>
      <dgm:t>
        <a:bodyPr/>
        <a:lstStyle/>
        <a:p>
          <a:endParaRPr lang="en-US"/>
        </a:p>
      </dgm:t>
    </dgm:pt>
    <dgm:pt modelId="{10CFFDA1-0FC2-4811-A922-629D4E2BC854}">
      <dgm:prSet/>
      <dgm:spPr/>
      <dgm:t>
        <a:bodyPr/>
        <a:lstStyle/>
        <a:p>
          <a:r>
            <a:rPr lang="en-US"/>
            <a:t>Gravity again!</a:t>
          </a:r>
        </a:p>
      </dgm:t>
    </dgm:pt>
    <dgm:pt modelId="{4AEBF387-052E-4B27-B96E-FB00BB61B75F}" type="parTrans" cxnId="{476064E4-437F-4078-B5C5-8E13FC9F38DE}">
      <dgm:prSet/>
      <dgm:spPr/>
      <dgm:t>
        <a:bodyPr/>
        <a:lstStyle/>
        <a:p>
          <a:endParaRPr lang="en-US"/>
        </a:p>
      </dgm:t>
    </dgm:pt>
    <dgm:pt modelId="{A6CB56B2-AC61-42D4-B2B9-0087CBD9D1D7}" type="sibTrans" cxnId="{476064E4-437F-4078-B5C5-8E13FC9F38DE}">
      <dgm:prSet/>
      <dgm:spPr/>
      <dgm:t>
        <a:bodyPr/>
        <a:lstStyle/>
        <a:p>
          <a:endParaRPr lang="en-US"/>
        </a:p>
      </dgm:t>
    </dgm:pt>
    <dgm:pt modelId="{04285268-05A0-4001-AF75-1BFFD36CEAD1}">
      <dgm:prSet/>
      <dgm:spPr/>
      <dgm:t>
        <a:bodyPr/>
        <a:lstStyle/>
        <a:p>
          <a:r>
            <a:rPr lang="en-US"/>
            <a:t>This causes Uranus &amp; Neptune to go unstable and get scattered farther out into the disk. </a:t>
          </a:r>
        </a:p>
      </dgm:t>
    </dgm:pt>
    <dgm:pt modelId="{2E68AC3F-4251-4961-9B24-F0F867D468F1}" type="parTrans" cxnId="{305C4121-3EF0-492F-8BB7-228C2C93A5D3}">
      <dgm:prSet/>
      <dgm:spPr/>
      <dgm:t>
        <a:bodyPr/>
        <a:lstStyle/>
        <a:p>
          <a:endParaRPr lang="en-US"/>
        </a:p>
      </dgm:t>
    </dgm:pt>
    <dgm:pt modelId="{52CED36D-B20F-4BFF-9C9F-FEFF33E9ACC6}" type="sibTrans" cxnId="{305C4121-3EF0-492F-8BB7-228C2C93A5D3}">
      <dgm:prSet/>
      <dgm:spPr/>
      <dgm:t>
        <a:bodyPr/>
        <a:lstStyle/>
        <a:p>
          <a:endParaRPr lang="en-US"/>
        </a:p>
      </dgm:t>
    </dgm:pt>
    <dgm:pt modelId="{6C15E92D-833C-410D-B381-1A7DC9A3BD53}">
      <dgm:prSet/>
      <dgm:spPr/>
      <dgm:t>
        <a:bodyPr/>
        <a:lstStyle/>
        <a:p>
          <a:r>
            <a:rPr lang="en-US"/>
            <a:t>Uranus &amp; Neptune evolve into current orbits due to interactions with the disk.</a:t>
          </a:r>
        </a:p>
      </dgm:t>
    </dgm:pt>
    <dgm:pt modelId="{434FD538-3138-4D3E-B800-00E0E4CD9426}" type="parTrans" cxnId="{D967FC83-849B-47CB-897C-B2A52CC280FA}">
      <dgm:prSet/>
      <dgm:spPr/>
      <dgm:t>
        <a:bodyPr/>
        <a:lstStyle/>
        <a:p>
          <a:endParaRPr lang="en-US"/>
        </a:p>
      </dgm:t>
    </dgm:pt>
    <dgm:pt modelId="{09E26912-7C91-473F-AF3D-2304758B1DBB}" type="sibTrans" cxnId="{D967FC83-849B-47CB-897C-B2A52CC280FA}">
      <dgm:prSet/>
      <dgm:spPr/>
      <dgm:t>
        <a:bodyPr/>
        <a:lstStyle/>
        <a:p>
          <a:endParaRPr lang="en-US"/>
        </a:p>
      </dgm:t>
    </dgm:pt>
    <dgm:pt modelId="{212E605B-DC35-4146-B906-CA7BD52685DE}">
      <dgm:prSet/>
      <dgm:spPr/>
      <dgm:t>
        <a:bodyPr/>
        <a:lstStyle/>
        <a:p>
          <a:r>
            <a:rPr lang="en-US"/>
            <a:t>Incredibly violent process!!!! (remember: it’s </a:t>
          </a:r>
          <a:r>
            <a:rPr lang="en-US" i="1"/>
            <a:t>not</a:t>
          </a:r>
          <a:r>
            <a:rPr lang="en-US"/>
            <a:t> violent to Jupiter (318 x mass of the Earth) or Saturn (95 x mass of the Earth)</a:t>
          </a:r>
        </a:p>
      </dgm:t>
    </dgm:pt>
    <dgm:pt modelId="{653170E6-8E2F-4824-BC52-1A18F580A5D0}" type="parTrans" cxnId="{4095C422-D290-4140-BDC0-1BDE7A92D0C4}">
      <dgm:prSet/>
      <dgm:spPr/>
      <dgm:t>
        <a:bodyPr/>
        <a:lstStyle/>
        <a:p>
          <a:endParaRPr lang="en-US"/>
        </a:p>
      </dgm:t>
    </dgm:pt>
    <dgm:pt modelId="{F6C05580-4F40-4042-814E-63FE79F006A2}" type="sibTrans" cxnId="{4095C422-D290-4140-BDC0-1BDE7A92D0C4}">
      <dgm:prSet/>
      <dgm:spPr/>
      <dgm:t>
        <a:bodyPr/>
        <a:lstStyle/>
        <a:p>
          <a:endParaRPr lang="en-US"/>
        </a:p>
      </dgm:t>
    </dgm:pt>
    <dgm:pt modelId="{5304AF0E-C1E6-8A4D-B6AF-069BCCE652AB}" type="pres">
      <dgm:prSet presAssocID="{0C1CF1C4-3145-4854-98F0-8A656962DC19}" presName="linear" presStyleCnt="0">
        <dgm:presLayoutVars>
          <dgm:animLvl val="lvl"/>
          <dgm:resizeHandles val="exact"/>
        </dgm:presLayoutVars>
      </dgm:prSet>
      <dgm:spPr/>
    </dgm:pt>
    <dgm:pt modelId="{44D592E9-98A1-1645-A5D1-E0FF8713639E}" type="pres">
      <dgm:prSet presAssocID="{242B9C50-6195-4FBE-90E9-486AD5C76BB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4554EF6-3F94-8B41-8B6C-9C7CFEB2B571}" type="pres">
      <dgm:prSet presAssocID="{AFEEFCC2-EE9E-4DB7-A2E0-03B4D64B4AAD}" presName="spacer" presStyleCnt="0"/>
      <dgm:spPr/>
    </dgm:pt>
    <dgm:pt modelId="{C526D54E-85C0-BF4F-9EE0-43F0D6E8C82C}" type="pres">
      <dgm:prSet presAssocID="{10CFFDA1-0FC2-4811-A922-629D4E2BC85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E49289D-56CC-C449-8069-5E07A0EBA745}" type="pres">
      <dgm:prSet presAssocID="{A6CB56B2-AC61-42D4-B2B9-0087CBD9D1D7}" presName="spacer" presStyleCnt="0"/>
      <dgm:spPr/>
    </dgm:pt>
    <dgm:pt modelId="{F3D5FE8D-9B74-AE4C-A95E-026055E9EC9E}" type="pres">
      <dgm:prSet presAssocID="{04285268-05A0-4001-AF75-1BFFD36CEAD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51064A7-53C6-5D44-9F51-92A0AA983EA0}" type="pres">
      <dgm:prSet presAssocID="{52CED36D-B20F-4BFF-9C9F-FEFF33E9ACC6}" presName="spacer" presStyleCnt="0"/>
      <dgm:spPr/>
    </dgm:pt>
    <dgm:pt modelId="{C59925D7-5113-1541-B12B-AA2424AD3EEE}" type="pres">
      <dgm:prSet presAssocID="{6C15E92D-833C-410D-B381-1A7DC9A3BD5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3E4760A-6133-AE4D-8B09-169D604C033D}" type="pres">
      <dgm:prSet presAssocID="{09E26912-7C91-473F-AF3D-2304758B1DBB}" presName="spacer" presStyleCnt="0"/>
      <dgm:spPr/>
    </dgm:pt>
    <dgm:pt modelId="{FAF72D7F-3583-6F40-968B-6C0A026DF823}" type="pres">
      <dgm:prSet presAssocID="{212E605B-DC35-4146-B906-CA7BD52685D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D55602-B645-9047-9B03-8E7D5DA7AF10}" type="presOf" srcId="{04285268-05A0-4001-AF75-1BFFD36CEAD1}" destId="{F3D5FE8D-9B74-AE4C-A95E-026055E9EC9E}" srcOrd="0" destOrd="0" presId="urn:microsoft.com/office/officeart/2005/8/layout/vList2"/>
    <dgm:cxn modelId="{4595B70C-FF31-4756-8AA4-53522C27C957}" srcId="{0C1CF1C4-3145-4854-98F0-8A656962DC19}" destId="{242B9C50-6195-4FBE-90E9-486AD5C76BBB}" srcOrd="0" destOrd="0" parTransId="{88F60CE9-5DA2-4D84-B3C2-D2BEDED5559D}" sibTransId="{AFEEFCC2-EE9E-4DB7-A2E0-03B4D64B4AAD}"/>
    <dgm:cxn modelId="{305C4121-3EF0-492F-8BB7-228C2C93A5D3}" srcId="{0C1CF1C4-3145-4854-98F0-8A656962DC19}" destId="{04285268-05A0-4001-AF75-1BFFD36CEAD1}" srcOrd="2" destOrd="0" parTransId="{2E68AC3F-4251-4961-9B24-F0F867D468F1}" sibTransId="{52CED36D-B20F-4BFF-9C9F-FEFF33E9ACC6}"/>
    <dgm:cxn modelId="{4095C422-D290-4140-BDC0-1BDE7A92D0C4}" srcId="{0C1CF1C4-3145-4854-98F0-8A656962DC19}" destId="{212E605B-DC35-4146-B906-CA7BD52685DE}" srcOrd="4" destOrd="0" parTransId="{653170E6-8E2F-4824-BC52-1A18F580A5D0}" sibTransId="{F6C05580-4F40-4042-814E-63FE79F006A2}"/>
    <dgm:cxn modelId="{F6548224-6975-7943-8206-0A575B15E0E3}" type="presOf" srcId="{212E605B-DC35-4146-B906-CA7BD52685DE}" destId="{FAF72D7F-3583-6F40-968B-6C0A026DF823}" srcOrd="0" destOrd="0" presId="urn:microsoft.com/office/officeart/2005/8/layout/vList2"/>
    <dgm:cxn modelId="{BC556648-967B-F249-B7B1-174D063377D7}" type="presOf" srcId="{6C15E92D-833C-410D-B381-1A7DC9A3BD53}" destId="{C59925D7-5113-1541-B12B-AA2424AD3EEE}" srcOrd="0" destOrd="0" presId="urn:microsoft.com/office/officeart/2005/8/layout/vList2"/>
    <dgm:cxn modelId="{5077B155-A663-FA44-BA8E-34C3162E3079}" type="presOf" srcId="{10CFFDA1-0FC2-4811-A922-629D4E2BC854}" destId="{C526D54E-85C0-BF4F-9EE0-43F0D6E8C82C}" srcOrd="0" destOrd="0" presId="urn:microsoft.com/office/officeart/2005/8/layout/vList2"/>
    <dgm:cxn modelId="{7797106B-5938-A44D-A595-CD216643ACD0}" type="presOf" srcId="{242B9C50-6195-4FBE-90E9-486AD5C76BBB}" destId="{44D592E9-98A1-1645-A5D1-E0FF8713639E}" srcOrd="0" destOrd="0" presId="urn:microsoft.com/office/officeart/2005/8/layout/vList2"/>
    <dgm:cxn modelId="{9AE85F81-467C-9F43-8B9A-761A33A89BD1}" type="presOf" srcId="{0C1CF1C4-3145-4854-98F0-8A656962DC19}" destId="{5304AF0E-C1E6-8A4D-B6AF-069BCCE652AB}" srcOrd="0" destOrd="0" presId="urn:microsoft.com/office/officeart/2005/8/layout/vList2"/>
    <dgm:cxn modelId="{D967FC83-849B-47CB-897C-B2A52CC280FA}" srcId="{0C1CF1C4-3145-4854-98F0-8A656962DC19}" destId="{6C15E92D-833C-410D-B381-1A7DC9A3BD53}" srcOrd="3" destOrd="0" parTransId="{434FD538-3138-4D3E-B800-00E0E4CD9426}" sibTransId="{09E26912-7C91-473F-AF3D-2304758B1DBB}"/>
    <dgm:cxn modelId="{476064E4-437F-4078-B5C5-8E13FC9F38DE}" srcId="{0C1CF1C4-3145-4854-98F0-8A656962DC19}" destId="{10CFFDA1-0FC2-4811-A922-629D4E2BC854}" srcOrd="1" destOrd="0" parTransId="{4AEBF387-052E-4B27-B96E-FB00BB61B75F}" sibTransId="{A6CB56B2-AC61-42D4-B2B9-0087CBD9D1D7}"/>
    <dgm:cxn modelId="{B6D90970-DFB5-044E-9216-3BFF6AE08C53}" type="presParOf" srcId="{5304AF0E-C1E6-8A4D-B6AF-069BCCE652AB}" destId="{44D592E9-98A1-1645-A5D1-E0FF8713639E}" srcOrd="0" destOrd="0" presId="urn:microsoft.com/office/officeart/2005/8/layout/vList2"/>
    <dgm:cxn modelId="{8910DD09-39F0-BC48-B371-9044CD551691}" type="presParOf" srcId="{5304AF0E-C1E6-8A4D-B6AF-069BCCE652AB}" destId="{64554EF6-3F94-8B41-8B6C-9C7CFEB2B571}" srcOrd="1" destOrd="0" presId="urn:microsoft.com/office/officeart/2005/8/layout/vList2"/>
    <dgm:cxn modelId="{BADDFEC5-F3D4-3D40-9C2A-EB6BF60AA29E}" type="presParOf" srcId="{5304AF0E-C1E6-8A4D-B6AF-069BCCE652AB}" destId="{C526D54E-85C0-BF4F-9EE0-43F0D6E8C82C}" srcOrd="2" destOrd="0" presId="urn:microsoft.com/office/officeart/2005/8/layout/vList2"/>
    <dgm:cxn modelId="{4D108576-68E3-9849-A208-FB369D9AAD3B}" type="presParOf" srcId="{5304AF0E-C1E6-8A4D-B6AF-069BCCE652AB}" destId="{5E49289D-56CC-C449-8069-5E07A0EBA745}" srcOrd="3" destOrd="0" presId="urn:microsoft.com/office/officeart/2005/8/layout/vList2"/>
    <dgm:cxn modelId="{B4B921C1-B6DA-864B-9F86-6DB3089DC96C}" type="presParOf" srcId="{5304AF0E-C1E6-8A4D-B6AF-069BCCE652AB}" destId="{F3D5FE8D-9B74-AE4C-A95E-026055E9EC9E}" srcOrd="4" destOrd="0" presId="urn:microsoft.com/office/officeart/2005/8/layout/vList2"/>
    <dgm:cxn modelId="{D96E1615-32BA-4443-8D5A-AFA9ADF53F2A}" type="presParOf" srcId="{5304AF0E-C1E6-8A4D-B6AF-069BCCE652AB}" destId="{251064A7-53C6-5D44-9F51-92A0AA983EA0}" srcOrd="5" destOrd="0" presId="urn:microsoft.com/office/officeart/2005/8/layout/vList2"/>
    <dgm:cxn modelId="{9160F597-AD8C-744A-BD5D-A8A227D1418E}" type="presParOf" srcId="{5304AF0E-C1E6-8A4D-B6AF-069BCCE652AB}" destId="{C59925D7-5113-1541-B12B-AA2424AD3EEE}" srcOrd="6" destOrd="0" presId="urn:microsoft.com/office/officeart/2005/8/layout/vList2"/>
    <dgm:cxn modelId="{BA9B02D5-92D2-F94A-ACAF-BBE12ABCF891}" type="presParOf" srcId="{5304AF0E-C1E6-8A4D-B6AF-069BCCE652AB}" destId="{B3E4760A-6133-AE4D-8B09-169D604C033D}" srcOrd="7" destOrd="0" presId="urn:microsoft.com/office/officeart/2005/8/layout/vList2"/>
    <dgm:cxn modelId="{C39732F4-9369-3446-8F0F-ECF8E239D410}" type="presParOf" srcId="{5304AF0E-C1E6-8A4D-B6AF-069BCCE652AB}" destId="{FAF72D7F-3583-6F40-968B-6C0A026DF82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9CC3E2C-900B-4CC5-8BC9-81ABB0DB1F6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9CEC9A-650D-4C61-B7E2-6C04064EB349}">
      <dgm:prSet/>
      <dgm:spPr/>
      <dgm:t>
        <a:bodyPr/>
        <a:lstStyle/>
        <a:p>
          <a:r>
            <a:rPr lang="en-US"/>
            <a:t>The present-day orbits of the giants (Neptune too!)</a:t>
          </a:r>
        </a:p>
      </dgm:t>
    </dgm:pt>
    <dgm:pt modelId="{32BB9A2B-97B2-497D-8742-1005CBA56631}" type="parTrans" cxnId="{1EF22BB0-CEE9-4921-92AC-E5CB390EC5CF}">
      <dgm:prSet/>
      <dgm:spPr/>
      <dgm:t>
        <a:bodyPr/>
        <a:lstStyle/>
        <a:p>
          <a:endParaRPr lang="en-US"/>
        </a:p>
      </dgm:t>
    </dgm:pt>
    <dgm:pt modelId="{310F4944-A17F-45D5-BAAD-3CCD69E1A97B}" type="sibTrans" cxnId="{1EF22BB0-CEE9-4921-92AC-E5CB390EC5CF}">
      <dgm:prSet/>
      <dgm:spPr/>
      <dgm:t>
        <a:bodyPr/>
        <a:lstStyle/>
        <a:p>
          <a:endParaRPr lang="en-US"/>
        </a:p>
      </dgm:t>
    </dgm:pt>
    <dgm:pt modelId="{8D9E3CE1-67EB-4D7D-B87A-BC5AE6E37C4A}">
      <dgm:prSet/>
      <dgm:spPr/>
      <dgm:t>
        <a:bodyPr/>
        <a:lstStyle/>
        <a:p>
          <a:r>
            <a:rPr lang="en-US"/>
            <a:t>The late heavy bombardment!</a:t>
          </a:r>
        </a:p>
      </dgm:t>
    </dgm:pt>
    <dgm:pt modelId="{85D207EF-1983-4A0F-9CA8-D4B14FA70873}" type="parTrans" cxnId="{D449D274-0191-4CC2-BD60-6546081AD69C}">
      <dgm:prSet/>
      <dgm:spPr/>
      <dgm:t>
        <a:bodyPr/>
        <a:lstStyle/>
        <a:p>
          <a:endParaRPr lang="en-US"/>
        </a:p>
      </dgm:t>
    </dgm:pt>
    <dgm:pt modelId="{D2E6443B-911D-4689-BDBB-9241C8525DC5}" type="sibTrans" cxnId="{D449D274-0191-4CC2-BD60-6546081AD69C}">
      <dgm:prSet/>
      <dgm:spPr/>
      <dgm:t>
        <a:bodyPr/>
        <a:lstStyle/>
        <a:p>
          <a:endParaRPr lang="en-US"/>
        </a:p>
      </dgm:t>
    </dgm:pt>
    <dgm:pt modelId="{358392EE-6784-4DD4-8A9A-7D1CA4763FA4}">
      <dgm:prSet/>
      <dgm:spPr/>
      <dgm:t>
        <a:bodyPr/>
        <a:lstStyle/>
        <a:p>
          <a:r>
            <a:rPr lang="en-US"/>
            <a:t>And some other things to some extent:</a:t>
          </a:r>
        </a:p>
      </dgm:t>
    </dgm:pt>
    <dgm:pt modelId="{2622952A-FF96-4ECA-B0CA-8D5266755B83}" type="parTrans" cxnId="{2DA0592D-DFA2-4F95-B95D-9B09626E2631}">
      <dgm:prSet/>
      <dgm:spPr/>
      <dgm:t>
        <a:bodyPr/>
        <a:lstStyle/>
        <a:p>
          <a:endParaRPr lang="en-US"/>
        </a:p>
      </dgm:t>
    </dgm:pt>
    <dgm:pt modelId="{F356B705-B7FE-4370-82FE-B61F324F6695}" type="sibTrans" cxnId="{2DA0592D-DFA2-4F95-B95D-9B09626E2631}">
      <dgm:prSet/>
      <dgm:spPr/>
      <dgm:t>
        <a:bodyPr/>
        <a:lstStyle/>
        <a:p>
          <a:endParaRPr lang="en-US"/>
        </a:p>
      </dgm:t>
    </dgm:pt>
    <dgm:pt modelId="{2040EBFB-5188-4430-82A3-1F2FAA75B920}">
      <dgm:prSet/>
      <dgm:spPr/>
      <dgm:t>
        <a:bodyPr/>
        <a:lstStyle/>
        <a:p>
          <a:r>
            <a:rPr lang="en-US"/>
            <a:t>Capture of the Trojan asteroids</a:t>
          </a:r>
        </a:p>
      </dgm:t>
    </dgm:pt>
    <dgm:pt modelId="{0F6E76F5-0ABD-4021-9BFF-3C4CD77A4226}" type="parTrans" cxnId="{EDD2D5AF-3097-4B36-988E-343FAE4C1EC1}">
      <dgm:prSet/>
      <dgm:spPr/>
      <dgm:t>
        <a:bodyPr/>
        <a:lstStyle/>
        <a:p>
          <a:endParaRPr lang="en-US"/>
        </a:p>
      </dgm:t>
    </dgm:pt>
    <dgm:pt modelId="{4154DE45-1630-4219-890C-C7F0E5173EB5}" type="sibTrans" cxnId="{EDD2D5AF-3097-4B36-988E-343FAE4C1EC1}">
      <dgm:prSet/>
      <dgm:spPr/>
      <dgm:t>
        <a:bodyPr/>
        <a:lstStyle/>
        <a:p>
          <a:endParaRPr lang="en-US"/>
        </a:p>
      </dgm:t>
    </dgm:pt>
    <dgm:pt modelId="{1628A8CF-32A7-49AF-AC08-B51D3DF64082}">
      <dgm:prSet/>
      <dgm:spPr/>
      <dgm:t>
        <a:bodyPr/>
        <a:lstStyle/>
        <a:p>
          <a:r>
            <a:rPr lang="en-US"/>
            <a:t>Trapping of comet-like asteroids in the main belt.</a:t>
          </a:r>
        </a:p>
      </dgm:t>
    </dgm:pt>
    <dgm:pt modelId="{7D6B78A6-67AC-4B96-AA6B-B10D1525BD9E}" type="parTrans" cxnId="{F99B42C5-7E79-4DEF-8AE3-B531D024D09E}">
      <dgm:prSet/>
      <dgm:spPr/>
      <dgm:t>
        <a:bodyPr/>
        <a:lstStyle/>
        <a:p>
          <a:endParaRPr lang="en-US"/>
        </a:p>
      </dgm:t>
    </dgm:pt>
    <dgm:pt modelId="{C1DF246E-2EE3-4F90-A0BE-86C7AFCCCDF4}" type="sibTrans" cxnId="{F99B42C5-7E79-4DEF-8AE3-B531D024D09E}">
      <dgm:prSet/>
      <dgm:spPr/>
      <dgm:t>
        <a:bodyPr/>
        <a:lstStyle/>
        <a:p>
          <a:endParaRPr lang="en-US"/>
        </a:p>
      </dgm:t>
    </dgm:pt>
    <dgm:pt modelId="{059B05EC-1A08-4C42-91BC-BB04B66735CF}">
      <dgm:prSet/>
      <dgm:spPr/>
      <dgm:t>
        <a:bodyPr/>
        <a:lstStyle/>
        <a:p>
          <a:r>
            <a:rPr lang="en-US"/>
            <a:t>Capture of giant planet irregular moons.</a:t>
          </a:r>
        </a:p>
      </dgm:t>
    </dgm:pt>
    <dgm:pt modelId="{9819F2CB-7A9F-4727-98A1-C34DEBD19C24}" type="parTrans" cxnId="{4955043F-6476-47D1-BBAC-D4B387FAE961}">
      <dgm:prSet/>
      <dgm:spPr/>
      <dgm:t>
        <a:bodyPr/>
        <a:lstStyle/>
        <a:p>
          <a:endParaRPr lang="en-US"/>
        </a:p>
      </dgm:t>
    </dgm:pt>
    <dgm:pt modelId="{C1D45578-A68F-4735-AD86-A6DA4958ADEE}" type="sibTrans" cxnId="{4955043F-6476-47D1-BBAC-D4B387FAE961}">
      <dgm:prSet/>
      <dgm:spPr/>
      <dgm:t>
        <a:bodyPr/>
        <a:lstStyle/>
        <a:p>
          <a:endParaRPr lang="en-US"/>
        </a:p>
      </dgm:t>
    </dgm:pt>
    <dgm:pt modelId="{8E6ECF59-DE09-4574-B862-24ABA88E8CEC}">
      <dgm:prSet/>
      <dgm:spPr/>
      <dgm:t>
        <a:bodyPr/>
        <a:lstStyle/>
        <a:p>
          <a:r>
            <a:rPr lang="en-US"/>
            <a:t>Properties of Kuiper belt</a:t>
          </a:r>
        </a:p>
      </dgm:t>
    </dgm:pt>
    <dgm:pt modelId="{A0C52CF8-F7F7-4605-927E-FDB671DA61F9}" type="parTrans" cxnId="{33FA55CA-F9C5-46AE-BC00-B5CDB9CD4D5D}">
      <dgm:prSet/>
      <dgm:spPr/>
      <dgm:t>
        <a:bodyPr/>
        <a:lstStyle/>
        <a:p>
          <a:endParaRPr lang="en-US"/>
        </a:p>
      </dgm:t>
    </dgm:pt>
    <dgm:pt modelId="{752A4654-8AC5-4697-9E68-E6E04E8677F0}" type="sibTrans" cxnId="{33FA55CA-F9C5-46AE-BC00-B5CDB9CD4D5D}">
      <dgm:prSet/>
      <dgm:spPr/>
      <dgm:t>
        <a:bodyPr/>
        <a:lstStyle/>
        <a:p>
          <a:endParaRPr lang="en-US"/>
        </a:p>
      </dgm:t>
    </dgm:pt>
    <dgm:pt modelId="{92EFFC31-564A-D44F-ACC3-8FC16784D7C0}" type="pres">
      <dgm:prSet presAssocID="{D9CC3E2C-900B-4CC5-8BC9-81ABB0DB1F69}" presName="linear" presStyleCnt="0">
        <dgm:presLayoutVars>
          <dgm:animLvl val="lvl"/>
          <dgm:resizeHandles val="exact"/>
        </dgm:presLayoutVars>
      </dgm:prSet>
      <dgm:spPr/>
    </dgm:pt>
    <dgm:pt modelId="{E42B71E1-149B-834F-9E78-6CEE5625A05A}" type="pres">
      <dgm:prSet presAssocID="{499CEC9A-650D-4C61-B7E2-6C04064EB34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10F016F-068D-1543-9DD6-6030E234DE76}" type="pres">
      <dgm:prSet presAssocID="{310F4944-A17F-45D5-BAAD-3CCD69E1A97B}" presName="spacer" presStyleCnt="0"/>
      <dgm:spPr/>
    </dgm:pt>
    <dgm:pt modelId="{E61E9230-DAC1-7742-956E-C4E327867F74}" type="pres">
      <dgm:prSet presAssocID="{8D9E3CE1-67EB-4D7D-B87A-BC5AE6E37C4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8ABFD04-AD89-6B47-A2C1-A089066EC4DF}" type="pres">
      <dgm:prSet presAssocID="{D2E6443B-911D-4689-BDBB-9241C8525DC5}" presName="spacer" presStyleCnt="0"/>
      <dgm:spPr/>
    </dgm:pt>
    <dgm:pt modelId="{8D492EEB-A0A8-ED47-9820-99FC724AE636}" type="pres">
      <dgm:prSet presAssocID="{358392EE-6784-4DD4-8A9A-7D1CA4763F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73FE1F9-65FB-CD49-994F-83EDB9E0E37C}" type="pres">
      <dgm:prSet presAssocID="{358392EE-6784-4DD4-8A9A-7D1CA4763FA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EB20609-04D8-6749-89EE-40408A40C02F}" type="presOf" srcId="{1628A8CF-32A7-49AF-AC08-B51D3DF64082}" destId="{E73FE1F9-65FB-CD49-994F-83EDB9E0E37C}" srcOrd="0" destOrd="1" presId="urn:microsoft.com/office/officeart/2005/8/layout/vList2"/>
    <dgm:cxn modelId="{A3526929-6BE0-804A-9FCE-D382E04F42EB}" type="presOf" srcId="{8E6ECF59-DE09-4574-B862-24ABA88E8CEC}" destId="{E73FE1F9-65FB-CD49-994F-83EDB9E0E37C}" srcOrd="0" destOrd="3" presId="urn:microsoft.com/office/officeart/2005/8/layout/vList2"/>
    <dgm:cxn modelId="{2DA0592D-DFA2-4F95-B95D-9B09626E2631}" srcId="{D9CC3E2C-900B-4CC5-8BC9-81ABB0DB1F69}" destId="{358392EE-6784-4DD4-8A9A-7D1CA4763FA4}" srcOrd="2" destOrd="0" parTransId="{2622952A-FF96-4ECA-B0CA-8D5266755B83}" sibTransId="{F356B705-B7FE-4370-82FE-B61F324F6695}"/>
    <dgm:cxn modelId="{A959193E-8E17-6547-AB21-442F620649D5}" type="presOf" srcId="{499CEC9A-650D-4C61-B7E2-6C04064EB349}" destId="{E42B71E1-149B-834F-9E78-6CEE5625A05A}" srcOrd="0" destOrd="0" presId="urn:microsoft.com/office/officeart/2005/8/layout/vList2"/>
    <dgm:cxn modelId="{4955043F-6476-47D1-BBAC-D4B387FAE961}" srcId="{358392EE-6784-4DD4-8A9A-7D1CA4763FA4}" destId="{059B05EC-1A08-4C42-91BC-BB04B66735CF}" srcOrd="2" destOrd="0" parTransId="{9819F2CB-7A9F-4727-98A1-C34DEBD19C24}" sibTransId="{C1D45578-A68F-4735-AD86-A6DA4958ADEE}"/>
    <dgm:cxn modelId="{DD41A05A-5F72-2040-B393-6EFB9144CF38}" type="presOf" srcId="{2040EBFB-5188-4430-82A3-1F2FAA75B920}" destId="{E73FE1F9-65FB-CD49-994F-83EDB9E0E37C}" srcOrd="0" destOrd="0" presId="urn:microsoft.com/office/officeart/2005/8/layout/vList2"/>
    <dgm:cxn modelId="{298EE062-ABC6-1C40-87C8-F614A8DAAC2E}" type="presOf" srcId="{358392EE-6784-4DD4-8A9A-7D1CA4763FA4}" destId="{8D492EEB-A0A8-ED47-9820-99FC724AE636}" srcOrd="0" destOrd="0" presId="urn:microsoft.com/office/officeart/2005/8/layout/vList2"/>
    <dgm:cxn modelId="{D449D274-0191-4CC2-BD60-6546081AD69C}" srcId="{D9CC3E2C-900B-4CC5-8BC9-81ABB0DB1F69}" destId="{8D9E3CE1-67EB-4D7D-B87A-BC5AE6E37C4A}" srcOrd="1" destOrd="0" parTransId="{85D207EF-1983-4A0F-9CA8-D4B14FA70873}" sibTransId="{D2E6443B-911D-4689-BDBB-9241C8525DC5}"/>
    <dgm:cxn modelId="{6682568E-8148-F04F-B92E-04AB5446AB3A}" type="presOf" srcId="{8D9E3CE1-67EB-4D7D-B87A-BC5AE6E37C4A}" destId="{E61E9230-DAC1-7742-956E-C4E327867F74}" srcOrd="0" destOrd="0" presId="urn:microsoft.com/office/officeart/2005/8/layout/vList2"/>
    <dgm:cxn modelId="{EDD2D5AF-3097-4B36-988E-343FAE4C1EC1}" srcId="{358392EE-6784-4DD4-8A9A-7D1CA4763FA4}" destId="{2040EBFB-5188-4430-82A3-1F2FAA75B920}" srcOrd="0" destOrd="0" parTransId="{0F6E76F5-0ABD-4021-9BFF-3C4CD77A4226}" sibTransId="{4154DE45-1630-4219-890C-C7F0E5173EB5}"/>
    <dgm:cxn modelId="{1EF22BB0-CEE9-4921-92AC-E5CB390EC5CF}" srcId="{D9CC3E2C-900B-4CC5-8BC9-81ABB0DB1F69}" destId="{499CEC9A-650D-4C61-B7E2-6C04064EB349}" srcOrd="0" destOrd="0" parTransId="{32BB9A2B-97B2-497D-8742-1005CBA56631}" sibTransId="{310F4944-A17F-45D5-BAAD-3CCD69E1A97B}"/>
    <dgm:cxn modelId="{CE78B2BC-6784-3942-BA98-AAC4D99AECE8}" type="presOf" srcId="{059B05EC-1A08-4C42-91BC-BB04B66735CF}" destId="{E73FE1F9-65FB-CD49-994F-83EDB9E0E37C}" srcOrd="0" destOrd="2" presId="urn:microsoft.com/office/officeart/2005/8/layout/vList2"/>
    <dgm:cxn modelId="{F99B42C5-7E79-4DEF-8AE3-B531D024D09E}" srcId="{358392EE-6784-4DD4-8A9A-7D1CA4763FA4}" destId="{1628A8CF-32A7-49AF-AC08-B51D3DF64082}" srcOrd="1" destOrd="0" parTransId="{7D6B78A6-67AC-4B96-AA6B-B10D1525BD9E}" sibTransId="{C1DF246E-2EE3-4F90-A0BE-86C7AFCCCDF4}"/>
    <dgm:cxn modelId="{33FA55CA-F9C5-46AE-BC00-B5CDB9CD4D5D}" srcId="{358392EE-6784-4DD4-8A9A-7D1CA4763FA4}" destId="{8E6ECF59-DE09-4574-B862-24ABA88E8CEC}" srcOrd="3" destOrd="0" parTransId="{A0C52CF8-F7F7-4605-927E-FDB671DA61F9}" sibTransId="{752A4654-8AC5-4697-9E68-E6E04E8677F0}"/>
    <dgm:cxn modelId="{FC0B42E7-D39A-374A-856A-0451592B54A4}" type="presOf" srcId="{D9CC3E2C-900B-4CC5-8BC9-81ABB0DB1F69}" destId="{92EFFC31-564A-D44F-ACC3-8FC16784D7C0}" srcOrd="0" destOrd="0" presId="urn:microsoft.com/office/officeart/2005/8/layout/vList2"/>
    <dgm:cxn modelId="{E023591D-5C0D-2C4C-A40B-27AF85DC0C6E}" type="presParOf" srcId="{92EFFC31-564A-D44F-ACC3-8FC16784D7C0}" destId="{E42B71E1-149B-834F-9E78-6CEE5625A05A}" srcOrd="0" destOrd="0" presId="urn:microsoft.com/office/officeart/2005/8/layout/vList2"/>
    <dgm:cxn modelId="{9AD49B5A-6872-0541-AF04-B100EF16B356}" type="presParOf" srcId="{92EFFC31-564A-D44F-ACC3-8FC16784D7C0}" destId="{010F016F-068D-1543-9DD6-6030E234DE76}" srcOrd="1" destOrd="0" presId="urn:microsoft.com/office/officeart/2005/8/layout/vList2"/>
    <dgm:cxn modelId="{39B0B9B4-41E2-5A4D-901A-F7E260888B23}" type="presParOf" srcId="{92EFFC31-564A-D44F-ACC3-8FC16784D7C0}" destId="{E61E9230-DAC1-7742-956E-C4E327867F74}" srcOrd="2" destOrd="0" presId="urn:microsoft.com/office/officeart/2005/8/layout/vList2"/>
    <dgm:cxn modelId="{0840C9D6-1B9F-A443-94F7-FB36F6C638F1}" type="presParOf" srcId="{92EFFC31-564A-D44F-ACC3-8FC16784D7C0}" destId="{18ABFD04-AD89-6B47-A2C1-A089066EC4DF}" srcOrd="3" destOrd="0" presId="urn:microsoft.com/office/officeart/2005/8/layout/vList2"/>
    <dgm:cxn modelId="{D85B8067-CC9F-234F-AD52-1D940DE1E7DE}" type="presParOf" srcId="{92EFFC31-564A-D44F-ACC3-8FC16784D7C0}" destId="{8D492EEB-A0A8-ED47-9820-99FC724AE636}" srcOrd="4" destOrd="0" presId="urn:microsoft.com/office/officeart/2005/8/layout/vList2"/>
    <dgm:cxn modelId="{8AC0CBFA-4A55-CC40-9058-51D047C753AD}" type="presParOf" srcId="{92EFFC31-564A-D44F-ACC3-8FC16784D7C0}" destId="{E73FE1F9-65FB-CD49-994F-83EDB9E0E37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E99F297-477E-4C3D-82C2-FD4AD766640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FEDEA15-FEEE-46E5-93A2-10588DFE6141}">
      <dgm:prSet/>
      <dgm:spPr/>
      <dgm:t>
        <a:bodyPr/>
        <a:lstStyle/>
        <a:p>
          <a:r>
            <a:rPr lang="en-US"/>
            <a:t>Most importantly, we can see that planet migration matters…</a:t>
          </a:r>
        </a:p>
      </dgm:t>
    </dgm:pt>
    <dgm:pt modelId="{A35F6F8C-0BBD-4B36-95BA-CF0C93CF5BEB}" type="parTrans" cxnId="{58FE8D83-B486-4BE0-8DA2-446295992B5E}">
      <dgm:prSet/>
      <dgm:spPr/>
      <dgm:t>
        <a:bodyPr/>
        <a:lstStyle/>
        <a:p>
          <a:endParaRPr lang="en-US"/>
        </a:p>
      </dgm:t>
    </dgm:pt>
    <dgm:pt modelId="{D46DA623-D4CC-4142-B8A6-8C56935A60AE}" type="sibTrans" cxnId="{58FE8D83-B486-4BE0-8DA2-446295992B5E}">
      <dgm:prSet/>
      <dgm:spPr/>
      <dgm:t>
        <a:bodyPr/>
        <a:lstStyle/>
        <a:p>
          <a:endParaRPr lang="en-US"/>
        </a:p>
      </dgm:t>
    </dgm:pt>
    <dgm:pt modelId="{487FA096-C04A-45C6-AD09-2FED2E4CB708}">
      <dgm:prSet/>
      <dgm:spPr/>
      <dgm:t>
        <a:bodyPr/>
        <a:lstStyle/>
        <a:p>
          <a:r>
            <a:rPr lang="en-US"/>
            <a:t>…may explain “hot” Jupiters…</a:t>
          </a:r>
        </a:p>
      </dgm:t>
    </dgm:pt>
    <dgm:pt modelId="{63697DE1-A66A-4556-A155-236AB11431C2}" type="parTrans" cxnId="{CA11DECA-7054-4A29-B7DF-3D15ED759E71}">
      <dgm:prSet/>
      <dgm:spPr/>
      <dgm:t>
        <a:bodyPr/>
        <a:lstStyle/>
        <a:p>
          <a:endParaRPr lang="en-US"/>
        </a:p>
      </dgm:t>
    </dgm:pt>
    <dgm:pt modelId="{63D6731E-1C22-4CBC-AECE-8F19C6D40E96}" type="sibTrans" cxnId="{CA11DECA-7054-4A29-B7DF-3D15ED759E71}">
      <dgm:prSet/>
      <dgm:spPr/>
      <dgm:t>
        <a:bodyPr/>
        <a:lstStyle/>
        <a:p>
          <a:endParaRPr lang="en-US"/>
        </a:p>
      </dgm:t>
    </dgm:pt>
    <dgm:pt modelId="{C508777A-703F-4E56-9D4B-0A5556F80C40}">
      <dgm:prSet/>
      <dgm:spPr/>
      <dgm:t>
        <a:bodyPr/>
        <a:lstStyle/>
        <a:p>
          <a:r>
            <a:rPr lang="en-US"/>
            <a:t>Or we may need to scrap many details of the conventional stellar system formation model</a:t>
          </a:r>
        </a:p>
      </dgm:t>
    </dgm:pt>
    <dgm:pt modelId="{0E90FDD9-8159-468E-AF08-13C7EA2C35C9}" type="parTrans" cxnId="{B6717581-6DC0-413A-8EF6-3E5B5BEC0312}">
      <dgm:prSet/>
      <dgm:spPr/>
      <dgm:t>
        <a:bodyPr/>
        <a:lstStyle/>
        <a:p>
          <a:endParaRPr lang="en-US"/>
        </a:p>
      </dgm:t>
    </dgm:pt>
    <dgm:pt modelId="{06114A1B-9D72-4C6B-861C-42788CE7ECEB}" type="sibTrans" cxnId="{B6717581-6DC0-413A-8EF6-3E5B5BEC0312}">
      <dgm:prSet/>
      <dgm:spPr/>
      <dgm:t>
        <a:bodyPr/>
        <a:lstStyle/>
        <a:p>
          <a:endParaRPr lang="en-US"/>
        </a:p>
      </dgm:t>
    </dgm:pt>
    <dgm:pt modelId="{0D6E825F-E0C0-3248-86BE-C7C510A0BB8B}" type="pres">
      <dgm:prSet presAssocID="{9E99F297-477E-4C3D-82C2-FD4AD7666409}" presName="linear" presStyleCnt="0">
        <dgm:presLayoutVars>
          <dgm:animLvl val="lvl"/>
          <dgm:resizeHandles val="exact"/>
        </dgm:presLayoutVars>
      </dgm:prSet>
      <dgm:spPr/>
    </dgm:pt>
    <dgm:pt modelId="{D88AFF79-D7BF-7148-8508-21D1954B8A48}" type="pres">
      <dgm:prSet presAssocID="{0FEDEA15-FEEE-46E5-93A2-10588DFE614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5636F6E-33B9-894D-8E58-E7480AFC80D9}" type="pres">
      <dgm:prSet presAssocID="{D46DA623-D4CC-4142-B8A6-8C56935A60AE}" presName="spacer" presStyleCnt="0"/>
      <dgm:spPr/>
    </dgm:pt>
    <dgm:pt modelId="{C49C95B9-8836-0643-BE8A-0762A0D9DCC4}" type="pres">
      <dgm:prSet presAssocID="{487FA096-C04A-45C6-AD09-2FED2E4CB70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C4AA9E-0DC6-6845-8FF5-F6C40B3FDF4C}" type="pres">
      <dgm:prSet presAssocID="{63D6731E-1C22-4CBC-AECE-8F19C6D40E96}" presName="spacer" presStyleCnt="0"/>
      <dgm:spPr/>
    </dgm:pt>
    <dgm:pt modelId="{0FB66346-2963-9042-8D75-447514CB7967}" type="pres">
      <dgm:prSet presAssocID="{C508777A-703F-4E56-9D4B-0A5556F80C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BE1480E-21B7-A84E-82A6-3820E1FD6E5E}" type="presOf" srcId="{9E99F297-477E-4C3D-82C2-FD4AD7666409}" destId="{0D6E825F-E0C0-3248-86BE-C7C510A0BB8B}" srcOrd="0" destOrd="0" presId="urn:microsoft.com/office/officeart/2005/8/layout/vList2"/>
    <dgm:cxn modelId="{FDFC5C2B-AAF0-0E46-A228-EE68FD23526D}" type="presOf" srcId="{C508777A-703F-4E56-9D4B-0A5556F80C40}" destId="{0FB66346-2963-9042-8D75-447514CB7967}" srcOrd="0" destOrd="0" presId="urn:microsoft.com/office/officeart/2005/8/layout/vList2"/>
    <dgm:cxn modelId="{B6717581-6DC0-413A-8EF6-3E5B5BEC0312}" srcId="{9E99F297-477E-4C3D-82C2-FD4AD7666409}" destId="{C508777A-703F-4E56-9D4B-0A5556F80C40}" srcOrd="2" destOrd="0" parTransId="{0E90FDD9-8159-468E-AF08-13C7EA2C35C9}" sibTransId="{06114A1B-9D72-4C6B-861C-42788CE7ECEB}"/>
    <dgm:cxn modelId="{58FE8D83-B486-4BE0-8DA2-446295992B5E}" srcId="{9E99F297-477E-4C3D-82C2-FD4AD7666409}" destId="{0FEDEA15-FEEE-46E5-93A2-10588DFE6141}" srcOrd="0" destOrd="0" parTransId="{A35F6F8C-0BBD-4B36-95BA-CF0C93CF5BEB}" sibTransId="{D46DA623-D4CC-4142-B8A6-8C56935A60AE}"/>
    <dgm:cxn modelId="{CA11DECA-7054-4A29-B7DF-3D15ED759E71}" srcId="{9E99F297-477E-4C3D-82C2-FD4AD7666409}" destId="{487FA096-C04A-45C6-AD09-2FED2E4CB708}" srcOrd="1" destOrd="0" parTransId="{63697DE1-A66A-4556-A155-236AB11431C2}" sibTransId="{63D6731E-1C22-4CBC-AECE-8F19C6D40E96}"/>
    <dgm:cxn modelId="{73F76ECE-C447-0A49-B026-1CF9A2242D7C}" type="presOf" srcId="{487FA096-C04A-45C6-AD09-2FED2E4CB708}" destId="{C49C95B9-8836-0643-BE8A-0762A0D9DCC4}" srcOrd="0" destOrd="0" presId="urn:microsoft.com/office/officeart/2005/8/layout/vList2"/>
    <dgm:cxn modelId="{111B01D4-9A63-5046-A9EF-B3FAB124EF68}" type="presOf" srcId="{0FEDEA15-FEEE-46E5-93A2-10588DFE6141}" destId="{D88AFF79-D7BF-7148-8508-21D1954B8A48}" srcOrd="0" destOrd="0" presId="urn:microsoft.com/office/officeart/2005/8/layout/vList2"/>
    <dgm:cxn modelId="{802EF433-52D5-3E48-AAF4-798D85F4BA30}" type="presParOf" srcId="{0D6E825F-E0C0-3248-86BE-C7C510A0BB8B}" destId="{D88AFF79-D7BF-7148-8508-21D1954B8A48}" srcOrd="0" destOrd="0" presId="urn:microsoft.com/office/officeart/2005/8/layout/vList2"/>
    <dgm:cxn modelId="{9DA56384-A09B-224B-9118-2818EB090500}" type="presParOf" srcId="{0D6E825F-E0C0-3248-86BE-C7C510A0BB8B}" destId="{65636F6E-33B9-894D-8E58-E7480AFC80D9}" srcOrd="1" destOrd="0" presId="urn:microsoft.com/office/officeart/2005/8/layout/vList2"/>
    <dgm:cxn modelId="{0E5DF8F3-6D89-4440-BB98-6BE36F84922B}" type="presParOf" srcId="{0D6E825F-E0C0-3248-86BE-C7C510A0BB8B}" destId="{C49C95B9-8836-0643-BE8A-0762A0D9DCC4}" srcOrd="2" destOrd="0" presId="urn:microsoft.com/office/officeart/2005/8/layout/vList2"/>
    <dgm:cxn modelId="{AACAE690-4C08-E54B-953F-E4371FD268E2}" type="presParOf" srcId="{0D6E825F-E0C0-3248-86BE-C7C510A0BB8B}" destId="{27C4AA9E-0DC6-6845-8FF5-F6C40B3FDF4C}" srcOrd="3" destOrd="0" presId="urn:microsoft.com/office/officeart/2005/8/layout/vList2"/>
    <dgm:cxn modelId="{285C63CB-D264-AD49-9A7F-980952DE8CD9}" type="presParOf" srcId="{0D6E825F-E0C0-3248-86BE-C7C510A0BB8B}" destId="{0FB66346-2963-9042-8D75-447514CB796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D984CE0-22D6-412E-AB71-77E135B56B5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40241B-513A-414A-BD19-40918E2C0458}">
      <dgm:prSet/>
      <dgm:spPr/>
      <dgm:t>
        <a:bodyPr/>
        <a:lstStyle/>
        <a:p>
          <a:r>
            <a:rPr lang="en-US"/>
            <a:t>Seismic waves reflecting/refracting off boundaries</a:t>
          </a:r>
        </a:p>
      </dgm:t>
    </dgm:pt>
    <dgm:pt modelId="{D7E171E5-1907-42D0-A5F9-82FEAA83D4C5}" type="parTrans" cxnId="{38707E19-81B6-4FB2-BFDA-893025AC7829}">
      <dgm:prSet/>
      <dgm:spPr/>
      <dgm:t>
        <a:bodyPr/>
        <a:lstStyle/>
        <a:p>
          <a:endParaRPr lang="en-US"/>
        </a:p>
      </dgm:t>
    </dgm:pt>
    <dgm:pt modelId="{9556D0C7-C7B7-4FF2-A9B5-8383A26E7C88}" type="sibTrans" cxnId="{38707E19-81B6-4FB2-BFDA-893025AC7829}">
      <dgm:prSet/>
      <dgm:spPr/>
      <dgm:t>
        <a:bodyPr/>
        <a:lstStyle/>
        <a:p>
          <a:endParaRPr lang="en-US"/>
        </a:p>
      </dgm:t>
    </dgm:pt>
    <dgm:pt modelId="{1C30F56A-1CEA-4866-94E2-92D5947AC21E}">
      <dgm:prSet/>
      <dgm:spPr/>
      <dgm:t>
        <a:bodyPr/>
        <a:lstStyle/>
        <a:p>
          <a:r>
            <a:rPr lang="en-US"/>
            <a:t>Evidence from below! (Xenoliths)</a:t>
          </a:r>
        </a:p>
      </dgm:t>
    </dgm:pt>
    <dgm:pt modelId="{BDBB9A5A-BC51-47A7-A18A-E0564DFD02C4}" type="parTrans" cxnId="{CF5889D7-C5C7-4F08-B7A1-3F8FEA8896B3}">
      <dgm:prSet/>
      <dgm:spPr/>
      <dgm:t>
        <a:bodyPr/>
        <a:lstStyle/>
        <a:p>
          <a:endParaRPr lang="en-US"/>
        </a:p>
      </dgm:t>
    </dgm:pt>
    <dgm:pt modelId="{6FFE2723-D430-4B7E-A343-D66AA382424F}" type="sibTrans" cxnId="{CF5889D7-C5C7-4F08-B7A1-3F8FEA8896B3}">
      <dgm:prSet/>
      <dgm:spPr/>
      <dgm:t>
        <a:bodyPr/>
        <a:lstStyle/>
        <a:p>
          <a:endParaRPr lang="en-US"/>
        </a:p>
      </dgm:t>
    </dgm:pt>
    <dgm:pt modelId="{69FF6C4B-F6EF-4C6C-A5CA-C85B1E731761}">
      <dgm:prSet/>
      <dgm:spPr/>
      <dgm:t>
        <a:bodyPr/>
        <a:lstStyle/>
        <a:p>
          <a:r>
            <a:rPr lang="en-US"/>
            <a:t>Volcanism</a:t>
          </a:r>
        </a:p>
      </dgm:t>
    </dgm:pt>
    <dgm:pt modelId="{1DC5870E-E2C5-4294-A4A7-02D642483F5D}" type="parTrans" cxnId="{57FADA66-90AB-4042-8D6B-EB566A003084}">
      <dgm:prSet/>
      <dgm:spPr/>
      <dgm:t>
        <a:bodyPr/>
        <a:lstStyle/>
        <a:p>
          <a:endParaRPr lang="en-US"/>
        </a:p>
      </dgm:t>
    </dgm:pt>
    <dgm:pt modelId="{2E81D7F7-0B29-4626-9D73-07A3E8C4310B}" type="sibTrans" cxnId="{57FADA66-90AB-4042-8D6B-EB566A003084}">
      <dgm:prSet/>
      <dgm:spPr/>
      <dgm:t>
        <a:bodyPr/>
        <a:lstStyle/>
        <a:p>
          <a:endParaRPr lang="en-US"/>
        </a:p>
      </dgm:t>
    </dgm:pt>
    <dgm:pt modelId="{AF52775D-ECA0-48FA-B32F-0F707A337B47}">
      <dgm:prSet/>
      <dgm:spPr/>
      <dgm:t>
        <a:bodyPr/>
        <a:lstStyle/>
        <a:p>
          <a:r>
            <a:rPr lang="en-US"/>
            <a:t>Magnetic field</a:t>
          </a:r>
        </a:p>
      </dgm:t>
    </dgm:pt>
    <dgm:pt modelId="{5836C26A-B203-4B31-B198-AB46DCE844F3}" type="parTrans" cxnId="{0471E11C-3654-4027-81C4-73F1553F0CEC}">
      <dgm:prSet/>
      <dgm:spPr/>
      <dgm:t>
        <a:bodyPr/>
        <a:lstStyle/>
        <a:p>
          <a:endParaRPr lang="en-US"/>
        </a:p>
      </dgm:t>
    </dgm:pt>
    <dgm:pt modelId="{1A897CB7-BB7A-4109-9260-1D3A1CFD5805}" type="sibTrans" cxnId="{0471E11C-3654-4027-81C4-73F1553F0CEC}">
      <dgm:prSet/>
      <dgm:spPr/>
      <dgm:t>
        <a:bodyPr/>
        <a:lstStyle/>
        <a:p>
          <a:endParaRPr lang="en-US"/>
        </a:p>
      </dgm:t>
    </dgm:pt>
    <dgm:pt modelId="{14E44E2F-C721-ED4A-9F70-FEFACDC67DC1}" type="pres">
      <dgm:prSet presAssocID="{5D984CE0-22D6-412E-AB71-77E135B56B53}" presName="linear" presStyleCnt="0">
        <dgm:presLayoutVars>
          <dgm:animLvl val="lvl"/>
          <dgm:resizeHandles val="exact"/>
        </dgm:presLayoutVars>
      </dgm:prSet>
      <dgm:spPr/>
    </dgm:pt>
    <dgm:pt modelId="{490EE2A5-BB33-E341-82DC-A4C13222D21C}" type="pres">
      <dgm:prSet presAssocID="{BE40241B-513A-414A-BD19-40918E2C04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B9D19D-9360-FA49-872B-5033CD210EC8}" type="pres">
      <dgm:prSet presAssocID="{9556D0C7-C7B7-4FF2-A9B5-8383A26E7C88}" presName="spacer" presStyleCnt="0"/>
      <dgm:spPr/>
    </dgm:pt>
    <dgm:pt modelId="{DB0F4AC7-1719-4640-B48C-255EB8D95DA7}" type="pres">
      <dgm:prSet presAssocID="{1C30F56A-1CEA-4866-94E2-92D5947AC2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A533C2-46E3-AA4A-97B9-846D17556767}" type="pres">
      <dgm:prSet presAssocID="{6FFE2723-D430-4B7E-A343-D66AA382424F}" presName="spacer" presStyleCnt="0"/>
      <dgm:spPr/>
    </dgm:pt>
    <dgm:pt modelId="{C4714391-7805-B24C-9D76-831E556142EE}" type="pres">
      <dgm:prSet presAssocID="{69FF6C4B-F6EF-4C6C-A5CA-C85B1E7317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A5266D-CEDF-5844-9796-F6E48032FFA5}" type="pres">
      <dgm:prSet presAssocID="{2E81D7F7-0B29-4626-9D73-07A3E8C4310B}" presName="spacer" presStyleCnt="0"/>
      <dgm:spPr/>
    </dgm:pt>
    <dgm:pt modelId="{2AF8A6FB-A56C-BF49-8344-6987F1E3F172}" type="pres">
      <dgm:prSet presAssocID="{AF52775D-ECA0-48FA-B32F-0F707A337B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8707E19-81B6-4FB2-BFDA-893025AC7829}" srcId="{5D984CE0-22D6-412E-AB71-77E135B56B53}" destId="{BE40241B-513A-414A-BD19-40918E2C0458}" srcOrd="0" destOrd="0" parTransId="{D7E171E5-1907-42D0-A5F9-82FEAA83D4C5}" sibTransId="{9556D0C7-C7B7-4FF2-A9B5-8383A26E7C88}"/>
    <dgm:cxn modelId="{7664351A-12CD-114B-B819-FF7987FA38C7}" type="presOf" srcId="{AF52775D-ECA0-48FA-B32F-0F707A337B47}" destId="{2AF8A6FB-A56C-BF49-8344-6987F1E3F172}" srcOrd="0" destOrd="0" presId="urn:microsoft.com/office/officeart/2005/8/layout/vList2"/>
    <dgm:cxn modelId="{0471E11C-3654-4027-81C4-73F1553F0CEC}" srcId="{5D984CE0-22D6-412E-AB71-77E135B56B53}" destId="{AF52775D-ECA0-48FA-B32F-0F707A337B47}" srcOrd="3" destOrd="0" parTransId="{5836C26A-B203-4B31-B198-AB46DCE844F3}" sibTransId="{1A897CB7-BB7A-4109-9260-1D3A1CFD5805}"/>
    <dgm:cxn modelId="{57FADA66-90AB-4042-8D6B-EB566A003084}" srcId="{5D984CE0-22D6-412E-AB71-77E135B56B53}" destId="{69FF6C4B-F6EF-4C6C-A5CA-C85B1E731761}" srcOrd="2" destOrd="0" parTransId="{1DC5870E-E2C5-4294-A4A7-02D642483F5D}" sibTransId="{2E81D7F7-0B29-4626-9D73-07A3E8C4310B}"/>
    <dgm:cxn modelId="{9079FB8B-1EF0-2041-8160-EC38C3096F69}" type="presOf" srcId="{BE40241B-513A-414A-BD19-40918E2C0458}" destId="{490EE2A5-BB33-E341-82DC-A4C13222D21C}" srcOrd="0" destOrd="0" presId="urn:microsoft.com/office/officeart/2005/8/layout/vList2"/>
    <dgm:cxn modelId="{FBDDF7B3-061E-E841-8D1A-FF03222AF004}" type="presOf" srcId="{1C30F56A-1CEA-4866-94E2-92D5947AC21E}" destId="{DB0F4AC7-1719-4640-B48C-255EB8D95DA7}" srcOrd="0" destOrd="0" presId="urn:microsoft.com/office/officeart/2005/8/layout/vList2"/>
    <dgm:cxn modelId="{CAC908B9-6C75-0742-8FD9-81378958DB59}" type="presOf" srcId="{69FF6C4B-F6EF-4C6C-A5CA-C85B1E731761}" destId="{C4714391-7805-B24C-9D76-831E556142EE}" srcOrd="0" destOrd="0" presId="urn:microsoft.com/office/officeart/2005/8/layout/vList2"/>
    <dgm:cxn modelId="{BF29FEC7-007B-E84D-BFCB-9E3CA074D22E}" type="presOf" srcId="{5D984CE0-22D6-412E-AB71-77E135B56B53}" destId="{14E44E2F-C721-ED4A-9F70-FEFACDC67DC1}" srcOrd="0" destOrd="0" presId="urn:microsoft.com/office/officeart/2005/8/layout/vList2"/>
    <dgm:cxn modelId="{CF5889D7-C5C7-4F08-B7A1-3F8FEA8896B3}" srcId="{5D984CE0-22D6-412E-AB71-77E135B56B53}" destId="{1C30F56A-1CEA-4866-94E2-92D5947AC21E}" srcOrd="1" destOrd="0" parTransId="{BDBB9A5A-BC51-47A7-A18A-E0564DFD02C4}" sibTransId="{6FFE2723-D430-4B7E-A343-D66AA382424F}"/>
    <dgm:cxn modelId="{B3A93E27-3610-1E43-9716-05442F989D2F}" type="presParOf" srcId="{14E44E2F-C721-ED4A-9F70-FEFACDC67DC1}" destId="{490EE2A5-BB33-E341-82DC-A4C13222D21C}" srcOrd="0" destOrd="0" presId="urn:microsoft.com/office/officeart/2005/8/layout/vList2"/>
    <dgm:cxn modelId="{F2B787E7-961D-B940-8CD6-B8B8AE78656E}" type="presParOf" srcId="{14E44E2F-C721-ED4A-9F70-FEFACDC67DC1}" destId="{90B9D19D-9360-FA49-872B-5033CD210EC8}" srcOrd="1" destOrd="0" presId="urn:microsoft.com/office/officeart/2005/8/layout/vList2"/>
    <dgm:cxn modelId="{3C6FCA6B-D155-3A49-A7BC-1E721065CF59}" type="presParOf" srcId="{14E44E2F-C721-ED4A-9F70-FEFACDC67DC1}" destId="{DB0F4AC7-1719-4640-B48C-255EB8D95DA7}" srcOrd="2" destOrd="0" presId="urn:microsoft.com/office/officeart/2005/8/layout/vList2"/>
    <dgm:cxn modelId="{716797C0-B20E-1543-B08B-6CD3B4FB9F9F}" type="presParOf" srcId="{14E44E2F-C721-ED4A-9F70-FEFACDC67DC1}" destId="{29A533C2-46E3-AA4A-97B9-846D17556767}" srcOrd="3" destOrd="0" presId="urn:microsoft.com/office/officeart/2005/8/layout/vList2"/>
    <dgm:cxn modelId="{072074BA-E507-AD46-AFA1-C891E1A6D13A}" type="presParOf" srcId="{14E44E2F-C721-ED4A-9F70-FEFACDC67DC1}" destId="{C4714391-7805-B24C-9D76-831E556142EE}" srcOrd="4" destOrd="0" presId="urn:microsoft.com/office/officeart/2005/8/layout/vList2"/>
    <dgm:cxn modelId="{91392C15-9D3D-B84D-B28E-2A6B7B8AF0B8}" type="presParOf" srcId="{14E44E2F-C721-ED4A-9F70-FEFACDC67DC1}" destId="{E5A5266D-CEDF-5844-9796-F6E48032FFA5}" srcOrd="5" destOrd="0" presId="urn:microsoft.com/office/officeart/2005/8/layout/vList2"/>
    <dgm:cxn modelId="{F12346AE-25B9-C547-9B2B-3198ACD49ED2}" type="presParOf" srcId="{14E44E2F-C721-ED4A-9F70-FEFACDC67DC1}" destId="{2AF8A6FB-A56C-BF49-8344-6987F1E3F17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9FA44FB-5852-4D1D-800C-0E31519EBA1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B4AABB-2C70-4D72-8699-1E0E18D5D3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Alien rock</a:t>
          </a:r>
        </a:p>
      </dgm:t>
    </dgm:pt>
    <dgm:pt modelId="{111469F0-A92E-4CEB-9D05-63CEFF7B7349}" type="parTrans" cxnId="{0BB41C58-6C00-4582-B6EF-60D90C759CBD}">
      <dgm:prSet/>
      <dgm:spPr/>
      <dgm:t>
        <a:bodyPr/>
        <a:lstStyle/>
        <a:p>
          <a:endParaRPr lang="en-US"/>
        </a:p>
      </dgm:t>
    </dgm:pt>
    <dgm:pt modelId="{E525AA4D-4E47-4898-A016-FA45C950D854}" type="sibTrans" cxnId="{0BB41C58-6C00-4582-B6EF-60D90C759CBD}">
      <dgm:prSet/>
      <dgm:spPr/>
      <dgm:t>
        <a:bodyPr/>
        <a:lstStyle/>
        <a:p>
          <a:endParaRPr lang="en-US"/>
        </a:p>
      </dgm:t>
    </dgm:pt>
    <dgm:pt modelId="{C18831E6-DFEC-488B-9801-A731AE28C1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Plagioclase feldspar</a:t>
          </a:r>
        </a:p>
      </dgm:t>
    </dgm:pt>
    <dgm:pt modelId="{C8259491-0665-4B10-827B-F328E2169975}" type="parTrans" cxnId="{A84C80F5-D232-42C8-B605-24DA1299A052}">
      <dgm:prSet/>
      <dgm:spPr/>
      <dgm:t>
        <a:bodyPr/>
        <a:lstStyle/>
        <a:p>
          <a:endParaRPr lang="en-US"/>
        </a:p>
      </dgm:t>
    </dgm:pt>
    <dgm:pt modelId="{08FB19CE-FDCD-438A-B14C-7BAABC5E3072}" type="sibTrans" cxnId="{A84C80F5-D232-42C8-B605-24DA1299A052}">
      <dgm:prSet/>
      <dgm:spPr/>
      <dgm:t>
        <a:bodyPr/>
        <a:lstStyle/>
        <a:p>
          <a:endParaRPr lang="en-US"/>
        </a:p>
      </dgm:t>
    </dgm:pt>
    <dgm:pt modelId="{287AEAAB-9E40-436D-AD4A-ED0A4C5C2B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Frozen magma</a:t>
          </a:r>
        </a:p>
      </dgm:t>
    </dgm:pt>
    <dgm:pt modelId="{5D728A56-F2BE-43F2-B024-BAC0B84C36D2}" type="parTrans" cxnId="{A4463AD3-C310-4262-AD99-53ABCA457F4E}">
      <dgm:prSet/>
      <dgm:spPr/>
      <dgm:t>
        <a:bodyPr/>
        <a:lstStyle/>
        <a:p>
          <a:endParaRPr lang="en-US"/>
        </a:p>
      </dgm:t>
    </dgm:pt>
    <dgm:pt modelId="{E1A3025D-40D7-4E59-966D-0A9B1CCB5E67}" type="sibTrans" cxnId="{A4463AD3-C310-4262-AD99-53ABCA457F4E}">
      <dgm:prSet/>
      <dgm:spPr/>
      <dgm:t>
        <a:bodyPr/>
        <a:lstStyle/>
        <a:p>
          <a:endParaRPr lang="en-US"/>
        </a:p>
      </dgm:t>
    </dgm:pt>
    <dgm:pt modelId="{E4531035-7710-47F1-BDE1-6439628EE4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Calcite</a:t>
          </a:r>
        </a:p>
      </dgm:t>
    </dgm:pt>
    <dgm:pt modelId="{65F9CD68-7AAE-4C98-94D6-E623AF8877FC}" type="parTrans" cxnId="{7728800E-BD87-4DAA-A513-06BA85F51400}">
      <dgm:prSet/>
      <dgm:spPr/>
      <dgm:t>
        <a:bodyPr/>
        <a:lstStyle/>
        <a:p>
          <a:endParaRPr lang="en-US"/>
        </a:p>
      </dgm:t>
    </dgm:pt>
    <dgm:pt modelId="{463F88C4-406C-4E93-87AA-CF1E75590227}" type="sibTrans" cxnId="{7728800E-BD87-4DAA-A513-06BA85F51400}">
      <dgm:prSet/>
      <dgm:spPr/>
      <dgm:t>
        <a:bodyPr/>
        <a:lstStyle/>
        <a:p>
          <a:endParaRPr lang="en-US"/>
        </a:p>
      </dgm:t>
    </dgm:pt>
    <dgm:pt modelId="{B4E5C006-8216-439F-B13C-BA988E4B76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Serpentine</a:t>
          </a:r>
        </a:p>
      </dgm:t>
    </dgm:pt>
    <dgm:pt modelId="{319F2B84-CD7E-44BF-AD58-E416AA9E3C2A}" type="parTrans" cxnId="{A786228F-E43E-454E-8197-30D188C9ECFC}">
      <dgm:prSet/>
      <dgm:spPr/>
      <dgm:t>
        <a:bodyPr/>
        <a:lstStyle/>
        <a:p>
          <a:endParaRPr lang="en-US"/>
        </a:p>
      </dgm:t>
    </dgm:pt>
    <dgm:pt modelId="{53DAD790-1B3F-455D-938E-64E606C7DE0C}" type="sibTrans" cxnId="{A786228F-E43E-454E-8197-30D188C9ECFC}">
      <dgm:prSet/>
      <dgm:spPr/>
      <dgm:t>
        <a:bodyPr/>
        <a:lstStyle/>
        <a:p>
          <a:endParaRPr lang="en-US"/>
        </a:p>
      </dgm:t>
    </dgm:pt>
    <dgm:pt modelId="{2015849B-33C2-48F5-BA0F-53BB97989A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 don’t know. Guess I should have asked?</a:t>
          </a:r>
        </a:p>
      </dgm:t>
    </dgm:pt>
    <dgm:pt modelId="{AEF75977-962A-45A3-B368-4FA129015421}" type="parTrans" cxnId="{1119990C-C507-46E4-BDFD-FFB1A778F926}">
      <dgm:prSet/>
      <dgm:spPr/>
      <dgm:t>
        <a:bodyPr/>
        <a:lstStyle/>
        <a:p>
          <a:endParaRPr lang="en-US"/>
        </a:p>
      </dgm:t>
    </dgm:pt>
    <dgm:pt modelId="{4660B09F-5FB2-4EE5-AF7B-C4EB3DE2A249}" type="sibTrans" cxnId="{1119990C-C507-46E4-BDFD-FFB1A778F926}">
      <dgm:prSet/>
      <dgm:spPr/>
      <dgm:t>
        <a:bodyPr/>
        <a:lstStyle/>
        <a:p>
          <a:endParaRPr lang="en-US"/>
        </a:p>
      </dgm:t>
    </dgm:pt>
    <dgm:pt modelId="{8BBA667B-81B8-438E-8283-3338CA51A978}" type="pres">
      <dgm:prSet presAssocID="{09FA44FB-5852-4D1D-800C-0E31519EBA15}" presName="root" presStyleCnt="0">
        <dgm:presLayoutVars>
          <dgm:dir/>
          <dgm:resizeHandles val="exact"/>
        </dgm:presLayoutVars>
      </dgm:prSet>
      <dgm:spPr/>
    </dgm:pt>
    <dgm:pt modelId="{854882FB-76E8-4B18-A411-62DF568F3371}" type="pres">
      <dgm:prSet presAssocID="{09B4AABB-2C70-4D72-8699-1E0E18D5D378}" presName="compNode" presStyleCnt="0"/>
      <dgm:spPr/>
    </dgm:pt>
    <dgm:pt modelId="{A3A5B7E4-E7E2-482F-B747-A3370CD76B5B}" type="pres">
      <dgm:prSet presAssocID="{09B4AABB-2C70-4D72-8699-1E0E18D5D378}" presName="bgRect" presStyleLbl="bgShp" presStyleIdx="0" presStyleCnt="6"/>
      <dgm:spPr/>
    </dgm:pt>
    <dgm:pt modelId="{F050A4CD-A058-406C-8543-2FA78DF11BCF}" type="pres">
      <dgm:prSet presAssocID="{09B4AABB-2C70-4D72-8699-1E0E18D5D378}" presName="iconRect" presStyleLbl="node1" presStyleIdx="0" presStyleCnt="6"/>
      <dgm:spPr/>
    </dgm:pt>
    <dgm:pt modelId="{2FAA2CB0-AA50-44D5-AE1D-CBC8CAEBDBD6}" type="pres">
      <dgm:prSet presAssocID="{09B4AABB-2C70-4D72-8699-1E0E18D5D378}" presName="spaceRect" presStyleCnt="0"/>
      <dgm:spPr/>
    </dgm:pt>
    <dgm:pt modelId="{602006C6-95F3-45A2-B381-21EFBD10513C}" type="pres">
      <dgm:prSet presAssocID="{09B4AABB-2C70-4D72-8699-1E0E18D5D378}" presName="parTx" presStyleLbl="revTx" presStyleIdx="0" presStyleCnt="6">
        <dgm:presLayoutVars>
          <dgm:chMax val="0"/>
          <dgm:chPref val="0"/>
        </dgm:presLayoutVars>
      </dgm:prSet>
      <dgm:spPr/>
    </dgm:pt>
    <dgm:pt modelId="{B55D4B55-33D0-4305-B7AB-78DACE0E60DF}" type="pres">
      <dgm:prSet presAssocID="{E525AA4D-4E47-4898-A016-FA45C950D854}" presName="sibTrans" presStyleCnt="0"/>
      <dgm:spPr/>
    </dgm:pt>
    <dgm:pt modelId="{C9144033-609B-4308-9737-37851062C62A}" type="pres">
      <dgm:prSet presAssocID="{C18831E6-DFEC-488B-9801-A731AE28C129}" presName="compNode" presStyleCnt="0"/>
      <dgm:spPr/>
    </dgm:pt>
    <dgm:pt modelId="{9B690DE2-B9FB-4C27-9E85-CA9193FB8E7A}" type="pres">
      <dgm:prSet presAssocID="{C18831E6-DFEC-488B-9801-A731AE28C129}" presName="bgRect" presStyleLbl="bgShp" presStyleIdx="1" presStyleCnt="6"/>
      <dgm:spPr/>
    </dgm:pt>
    <dgm:pt modelId="{36343B27-0B6B-46FE-A1ED-F36E09703BDE}" type="pres">
      <dgm:prSet presAssocID="{C18831E6-DFEC-488B-9801-A731AE28C129}" presName="iconRect" presStyleLbl="node1" presStyleIdx="1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6EEFB9AB-FF10-4F29-89F5-8D71C7CB5831}" type="pres">
      <dgm:prSet presAssocID="{C18831E6-DFEC-488B-9801-A731AE28C129}" presName="spaceRect" presStyleCnt="0"/>
      <dgm:spPr/>
    </dgm:pt>
    <dgm:pt modelId="{B30D0AAD-5DA8-4AF7-9697-870475D9CFC0}" type="pres">
      <dgm:prSet presAssocID="{C18831E6-DFEC-488B-9801-A731AE28C129}" presName="parTx" presStyleLbl="revTx" presStyleIdx="1" presStyleCnt="6">
        <dgm:presLayoutVars>
          <dgm:chMax val="0"/>
          <dgm:chPref val="0"/>
        </dgm:presLayoutVars>
      </dgm:prSet>
      <dgm:spPr/>
    </dgm:pt>
    <dgm:pt modelId="{F0D5771C-3A46-471A-9FF8-8DE33EF62D97}" type="pres">
      <dgm:prSet presAssocID="{08FB19CE-FDCD-438A-B14C-7BAABC5E3072}" presName="sibTrans" presStyleCnt="0"/>
      <dgm:spPr/>
    </dgm:pt>
    <dgm:pt modelId="{B6D55A99-DCAA-4200-BEBD-C23A4A61CB56}" type="pres">
      <dgm:prSet presAssocID="{287AEAAB-9E40-436D-AD4A-ED0A4C5C2B63}" presName="compNode" presStyleCnt="0"/>
      <dgm:spPr/>
    </dgm:pt>
    <dgm:pt modelId="{DDD1C8FE-CCC9-4902-BF96-5E5F336F3D7C}" type="pres">
      <dgm:prSet presAssocID="{287AEAAB-9E40-436D-AD4A-ED0A4C5C2B63}" presName="bgRect" presStyleLbl="bgShp" presStyleIdx="2" presStyleCnt="6"/>
      <dgm:spPr/>
    </dgm:pt>
    <dgm:pt modelId="{0A1092FC-9AEA-47DB-84CD-7D70D4977702}" type="pres">
      <dgm:prSet presAssocID="{287AEAAB-9E40-436D-AD4A-ED0A4C5C2B63}" presName="iconRect" presStyleLbl="nod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nowflake"/>
        </a:ext>
      </dgm:extLst>
    </dgm:pt>
    <dgm:pt modelId="{75EB89DC-77AC-4CCA-BC76-006E4B44E52F}" type="pres">
      <dgm:prSet presAssocID="{287AEAAB-9E40-436D-AD4A-ED0A4C5C2B63}" presName="spaceRect" presStyleCnt="0"/>
      <dgm:spPr/>
    </dgm:pt>
    <dgm:pt modelId="{11D8A151-5565-4750-84D0-167AD5845D25}" type="pres">
      <dgm:prSet presAssocID="{287AEAAB-9E40-436D-AD4A-ED0A4C5C2B63}" presName="parTx" presStyleLbl="revTx" presStyleIdx="2" presStyleCnt="6">
        <dgm:presLayoutVars>
          <dgm:chMax val="0"/>
          <dgm:chPref val="0"/>
        </dgm:presLayoutVars>
      </dgm:prSet>
      <dgm:spPr/>
    </dgm:pt>
    <dgm:pt modelId="{3810A2E7-F22E-4700-91C4-93F7CC282C82}" type="pres">
      <dgm:prSet presAssocID="{E1A3025D-40D7-4E59-966D-0A9B1CCB5E67}" presName="sibTrans" presStyleCnt="0"/>
      <dgm:spPr/>
    </dgm:pt>
    <dgm:pt modelId="{B4F2F480-B69B-4ADF-88C4-F2C979494B15}" type="pres">
      <dgm:prSet presAssocID="{E4531035-7710-47F1-BDE1-6439628EE463}" presName="compNode" presStyleCnt="0"/>
      <dgm:spPr/>
    </dgm:pt>
    <dgm:pt modelId="{38237337-29A9-4332-997A-62A8EDB94328}" type="pres">
      <dgm:prSet presAssocID="{E4531035-7710-47F1-BDE1-6439628EE463}" presName="bgRect" presStyleLbl="bgShp" presStyleIdx="3" presStyleCnt="6"/>
      <dgm:spPr/>
    </dgm:pt>
    <dgm:pt modelId="{72B696F3-67D3-4CBE-8087-4E96D7EF552B}" type="pres">
      <dgm:prSet presAssocID="{E4531035-7710-47F1-BDE1-6439628EE463}" presName="iconRect" presStyleLbl="node1" presStyleIdx="3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EF0543FE-C4A9-426B-AB0C-57FC0D95361B}" type="pres">
      <dgm:prSet presAssocID="{E4531035-7710-47F1-BDE1-6439628EE463}" presName="spaceRect" presStyleCnt="0"/>
      <dgm:spPr/>
    </dgm:pt>
    <dgm:pt modelId="{DF5A1998-2998-4E78-9F63-D9F258FE01C3}" type="pres">
      <dgm:prSet presAssocID="{E4531035-7710-47F1-BDE1-6439628EE463}" presName="parTx" presStyleLbl="revTx" presStyleIdx="3" presStyleCnt="6">
        <dgm:presLayoutVars>
          <dgm:chMax val="0"/>
          <dgm:chPref val="0"/>
        </dgm:presLayoutVars>
      </dgm:prSet>
      <dgm:spPr/>
    </dgm:pt>
    <dgm:pt modelId="{0148A667-E75D-4CC4-9FF8-B122C627329F}" type="pres">
      <dgm:prSet presAssocID="{463F88C4-406C-4E93-87AA-CF1E75590227}" presName="sibTrans" presStyleCnt="0"/>
      <dgm:spPr/>
    </dgm:pt>
    <dgm:pt modelId="{C33EBE81-23DE-4F92-A89C-9B4E5F5C6345}" type="pres">
      <dgm:prSet presAssocID="{B4E5C006-8216-439F-B13C-BA988E4B76C8}" presName="compNode" presStyleCnt="0"/>
      <dgm:spPr/>
    </dgm:pt>
    <dgm:pt modelId="{1E7F9E18-F8C3-4BB0-99A8-D7872E30851B}" type="pres">
      <dgm:prSet presAssocID="{B4E5C006-8216-439F-B13C-BA988E4B76C8}" presName="bgRect" presStyleLbl="bgShp" presStyleIdx="4" presStyleCnt="6"/>
      <dgm:spPr/>
    </dgm:pt>
    <dgm:pt modelId="{1A51F1C0-30A1-47EA-9AE5-AA9B425DD12E}" type="pres">
      <dgm:prSet presAssocID="{B4E5C006-8216-439F-B13C-BA988E4B76C8}" presName="iconRect" presStyleLbl="node1" presStyleIdx="4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nake"/>
        </a:ext>
      </dgm:extLst>
    </dgm:pt>
    <dgm:pt modelId="{0CF40120-4FFA-45FB-9759-FB3FD75EB8C3}" type="pres">
      <dgm:prSet presAssocID="{B4E5C006-8216-439F-B13C-BA988E4B76C8}" presName="spaceRect" presStyleCnt="0"/>
      <dgm:spPr/>
    </dgm:pt>
    <dgm:pt modelId="{4F87A16C-DA28-407E-A548-25CC8183A83D}" type="pres">
      <dgm:prSet presAssocID="{B4E5C006-8216-439F-B13C-BA988E4B76C8}" presName="parTx" presStyleLbl="revTx" presStyleIdx="4" presStyleCnt="6">
        <dgm:presLayoutVars>
          <dgm:chMax val="0"/>
          <dgm:chPref val="0"/>
        </dgm:presLayoutVars>
      </dgm:prSet>
      <dgm:spPr/>
    </dgm:pt>
    <dgm:pt modelId="{5F7A55D6-D276-48C6-B7F9-550B1B572998}" type="pres">
      <dgm:prSet presAssocID="{53DAD790-1B3F-455D-938E-64E606C7DE0C}" presName="sibTrans" presStyleCnt="0"/>
      <dgm:spPr/>
    </dgm:pt>
    <dgm:pt modelId="{50BFA814-C8DC-4190-82AB-AACD6C72E4A7}" type="pres">
      <dgm:prSet presAssocID="{2015849B-33C2-48F5-BA0F-53BB97989AB4}" presName="compNode" presStyleCnt="0"/>
      <dgm:spPr/>
    </dgm:pt>
    <dgm:pt modelId="{D724534C-CCF1-4465-A0AB-C29A7890B088}" type="pres">
      <dgm:prSet presAssocID="{2015849B-33C2-48F5-BA0F-53BB97989AB4}" presName="bgRect" presStyleLbl="bgShp" presStyleIdx="5" presStyleCnt="6"/>
      <dgm:spPr/>
    </dgm:pt>
    <dgm:pt modelId="{50F49E16-782E-43C2-8EEC-08C9EDC83733}" type="pres">
      <dgm:prSet presAssocID="{2015849B-33C2-48F5-BA0F-53BB97989AB4}" presName="iconRect" presStyleLbl="node1" presStyleIdx="5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20980DD8-3ADF-43CE-8139-0981973A3498}" type="pres">
      <dgm:prSet presAssocID="{2015849B-33C2-48F5-BA0F-53BB97989AB4}" presName="spaceRect" presStyleCnt="0"/>
      <dgm:spPr/>
    </dgm:pt>
    <dgm:pt modelId="{2F6B4A0D-F66B-467B-A5D8-CC746EDA3C92}" type="pres">
      <dgm:prSet presAssocID="{2015849B-33C2-48F5-BA0F-53BB97989AB4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23D2107-4AC8-42D3-858C-9B219D95F5F7}" type="presOf" srcId="{C18831E6-DFEC-488B-9801-A731AE28C129}" destId="{B30D0AAD-5DA8-4AF7-9697-870475D9CFC0}" srcOrd="0" destOrd="0" presId="urn:microsoft.com/office/officeart/2018/2/layout/IconVerticalSolidList"/>
    <dgm:cxn modelId="{1119990C-C507-46E4-BDFD-FFB1A778F926}" srcId="{09FA44FB-5852-4D1D-800C-0E31519EBA15}" destId="{2015849B-33C2-48F5-BA0F-53BB97989AB4}" srcOrd="5" destOrd="0" parTransId="{AEF75977-962A-45A3-B368-4FA129015421}" sibTransId="{4660B09F-5FB2-4EE5-AF7B-C4EB3DE2A249}"/>
    <dgm:cxn modelId="{7728800E-BD87-4DAA-A513-06BA85F51400}" srcId="{09FA44FB-5852-4D1D-800C-0E31519EBA15}" destId="{E4531035-7710-47F1-BDE1-6439628EE463}" srcOrd="3" destOrd="0" parTransId="{65F9CD68-7AAE-4C98-94D6-E623AF8877FC}" sibTransId="{463F88C4-406C-4E93-87AA-CF1E75590227}"/>
    <dgm:cxn modelId="{F8F6F61E-9A32-423D-9848-B4798E96B615}" type="presOf" srcId="{E4531035-7710-47F1-BDE1-6439628EE463}" destId="{DF5A1998-2998-4E78-9F63-D9F258FE01C3}" srcOrd="0" destOrd="0" presId="urn:microsoft.com/office/officeart/2018/2/layout/IconVerticalSolidList"/>
    <dgm:cxn modelId="{D0FA2141-E518-4930-B945-63FC860B21FA}" type="presOf" srcId="{09FA44FB-5852-4D1D-800C-0E31519EBA15}" destId="{8BBA667B-81B8-438E-8283-3338CA51A978}" srcOrd="0" destOrd="0" presId="urn:microsoft.com/office/officeart/2018/2/layout/IconVerticalSolidList"/>
    <dgm:cxn modelId="{0BB41C58-6C00-4582-B6EF-60D90C759CBD}" srcId="{09FA44FB-5852-4D1D-800C-0E31519EBA15}" destId="{09B4AABB-2C70-4D72-8699-1E0E18D5D378}" srcOrd="0" destOrd="0" parTransId="{111469F0-A92E-4CEB-9D05-63CEFF7B7349}" sibTransId="{E525AA4D-4E47-4898-A016-FA45C950D854}"/>
    <dgm:cxn modelId="{314BFA81-47F8-4B4D-9E2D-0E13B7108D5C}" type="presOf" srcId="{B4E5C006-8216-439F-B13C-BA988E4B76C8}" destId="{4F87A16C-DA28-407E-A548-25CC8183A83D}" srcOrd="0" destOrd="0" presId="urn:microsoft.com/office/officeart/2018/2/layout/IconVerticalSolidList"/>
    <dgm:cxn modelId="{A786228F-E43E-454E-8197-30D188C9ECFC}" srcId="{09FA44FB-5852-4D1D-800C-0E31519EBA15}" destId="{B4E5C006-8216-439F-B13C-BA988E4B76C8}" srcOrd="4" destOrd="0" parTransId="{319F2B84-CD7E-44BF-AD58-E416AA9E3C2A}" sibTransId="{53DAD790-1B3F-455D-938E-64E606C7DE0C}"/>
    <dgm:cxn modelId="{260443BA-B1A7-4BE8-8F23-1178B0782CF8}" type="presOf" srcId="{287AEAAB-9E40-436D-AD4A-ED0A4C5C2B63}" destId="{11D8A151-5565-4750-84D0-167AD5845D25}" srcOrd="0" destOrd="0" presId="urn:microsoft.com/office/officeart/2018/2/layout/IconVerticalSolidList"/>
    <dgm:cxn modelId="{5E5F92BD-3232-43A1-9D70-B398B0C6A493}" type="presOf" srcId="{2015849B-33C2-48F5-BA0F-53BB97989AB4}" destId="{2F6B4A0D-F66B-467B-A5D8-CC746EDA3C92}" srcOrd="0" destOrd="0" presId="urn:microsoft.com/office/officeart/2018/2/layout/IconVerticalSolidList"/>
    <dgm:cxn modelId="{A4463AD3-C310-4262-AD99-53ABCA457F4E}" srcId="{09FA44FB-5852-4D1D-800C-0E31519EBA15}" destId="{287AEAAB-9E40-436D-AD4A-ED0A4C5C2B63}" srcOrd="2" destOrd="0" parTransId="{5D728A56-F2BE-43F2-B024-BAC0B84C36D2}" sibTransId="{E1A3025D-40D7-4E59-966D-0A9B1CCB5E67}"/>
    <dgm:cxn modelId="{A84C80F5-D232-42C8-B605-24DA1299A052}" srcId="{09FA44FB-5852-4D1D-800C-0E31519EBA15}" destId="{C18831E6-DFEC-488B-9801-A731AE28C129}" srcOrd="1" destOrd="0" parTransId="{C8259491-0665-4B10-827B-F328E2169975}" sibTransId="{08FB19CE-FDCD-438A-B14C-7BAABC5E3072}"/>
    <dgm:cxn modelId="{5F1522FD-C7F1-4DE5-BAA3-A54E7391B998}" type="presOf" srcId="{09B4AABB-2C70-4D72-8699-1E0E18D5D378}" destId="{602006C6-95F3-45A2-B381-21EFBD10513C}" srcOrd="0" destOrd="0" presId="urn:microsoft.com/office/officeart/2018/2/layout/IconVerticalSolidList"/>
    <dgm:cxn modelId="{BDCEC247-D5F5-44FF-91A8-3D4C53DC5AFF}" type="presParOf" srcId="{8BBA667B-81B8-438E-8283-3338CA51A978}" destId="{854882FB-76E8-4B18-A411-62DF568F3371}" srcOrd="0" destOrd="0" presId="urn:microsoft.com/office/officeart/2018/2/layout/IconVerticalSolidList"/>
    <dgm:cxn modelId="{154D3256-73DA-4F35-90AB-5EAB5EA3C4C0}" type="presParOf" srcId="{854882FB-76E8-4B18-A411-62DF568F3371}" destId="{A3A5B7E4-E7E2-482F-B747-A3370CD76B5B}" srcOrd="0" destOrd="0" presId="urn:microsoft.com/office/officeart/2018/2/layout/IconVerticalSolidList"/>
    <dgm:cxn modelId="{1E3D978F-FFE6-4D2E-BB5A-FBF2EDFDFBBA}" type="presParOf" srcId="{854882FB-76E8-4B18-A411-62DF568F3371}" destId="{F050A4CD-A058-406C-8543-2FA78DF11BCF}" srcOrd="1" destOrd="0" presId="urn:microsoft.com/office/officeart/2018/2/layout/IconVerticalSolidList"/>
    <dgm:cxn modelId="{1E06F40C-96D5-4ACE-BD64-7AE9955EFE70}" type="presParOf" srcId="{854882FB-76E8-4B18-A411-62DF568F3371}" destId="{2FAA2CB0-AA50-44D5-AE1D-CBC8CAEBDBD6}" srcOrd="2" destOrd="0" presId="urn:microsoft.com/office/officeart/2018/2/layout/IconVerticalSolidList"/>
    <dgm:cxn modelId="{C640B182-6248-4BD2-91A5-69B6E8284371}" type="presParOf" srcId="{854882FB-76E8-4B18-A411-62DF568F3371}" destId="{602006C6-95F3-45A2-B381-21EFBD10513C}" srcOrd="3" destOrd="0" presId="urn:microsoft.com/office/officeart/2018/2/layout/IconVerticalSolidList"/>
    <dgm:cxn modelId="{891B0217-F022-4D68-808F-5A4B41F4058D}" type="presParOf" srcId="{8BBA667B-81B8-438E-8283-3338CA51A978}" destId="{B55D4B55-33D0-4305-B7AB-78DACE0E60DF}" srcOrd="1" destOrd="0" presId="urn:microsoft.com/office/officeart/2018/2/layout/IconVerticalSolidList"/>
    <dgm:cxn modelId="{05FB1DE0-0579-4CDE-B099-9B999634C334}" type="presParOf" srcId="{8BBA667B-81B8-438E-8283-3338CA51A978}" destId="{C9144033-609B-4308-9737-37851062C62A}" srcOrd="2" destOrd="0" presId="urn:microsoft.com/office/officeart/2018/2/layout/IconVerticalSolidList"/>
    <dgm:cxn modelId="{2924410D-4C97-45D1-8E1A-76B20937318A}" type="presParOf" srcId="{C9144033-609B-4308-9737-37851062C62A}" destId="{9B690DE2-B9FB-4C27-9E85-CA9193FB8E7A}" srcOrd="0" destOrd="0" presId="urn:microsoft.com/office/officeart/2018/2/layout/IconVerticalSolidList"/>
    <dgm:cxn modelId="{4DF82882-0038-4D8A-9187-756BD5090E8D}" type="presParOf" srcId="{C9144033-609B-4308-9737-37851062C62A}" destId="{36343B27-0B6B-46FE-A1ED-F36E09703BDE}" srcOrd="1" destOrd="0" presId="urn:microsoft.com/office/officeart/2018/2/layout/IconVerticalSolidList"/>
    <dgm:cxn modelId="{48A0260D-DC60-4BDE-BFCC-4025AF08CC59}" type="presParOf" srcId="{C9144033-609B-4308-9737-37851062C62A}" destId="{6EEFB9AB-FF10-4F29-89F5-8D71C7CB5831}" srcOrd="2" destOrd="0" presId="urn:microsoft.com/office/officeart/2018/2/layout/IconVerticalSolidList"/>
    <dgm:cxn modelId="{F030C52D-6407-44F2-9C5D-D58A1A53634D}" type="presParOf" srcId="{C9144033-609B-4308-9737-37851062C62A}" destId="{B30D0AAD-5DA8-4AF7-9697-870475D9CFC0}" srcOrd="3" destOrd="0" presId="urn:microsoft.com/office/officeart/2018/2/layout/IconVerticalSolidList"/>
    <dgm:cxn modelId="{5C9BCC02-9590-4D71-9FE2-38168029CB10}" type="presParOf" srcId="{8BBA667B-81B8-438E-8283-3338CA51A978}" destId="{F0D5771C-3A46-471A-9FF8-8DE33EF62D97}" srcOrd="3" destOrd="0" presId="urn:microsoft.com/office/officeart/2018/2/layout/IconVerticalSolidList"/>
    <dgm:cxn modelId="{AB7D2027-B574-4C9F-A57D-0FBFEA0A4BC4}" type="presParOf" srcId="{8BBA667B-81B8-438E-8283-3338CA51A978}" destId="{B6D55A99-DCAA-4200-BEBD-C23A4A61CB56}" srcOrd="4" destOrd="0" presId="urn:microsoft.com/office/officeart/2018/2/layout/IconVerticalSolidList"/>
    <dgm:cxn modelId="{364D2154-9CFB-44FD-A997-2DF31E818AF0}" type="presParOf" srcId="{B6D55A99-DCAA-4200-BEBD-C23A4A61CB56}" destId="{DDD1C8FE-CCC9-4902-BF96-5E5F336F3D7C}" srcOrd="0" destOrd="0" presId="urn:microsoft.com/office/officeart/2018/2/layout/IconVerticalSolidList"/>
    <dgm:cxn modelId="{C7DC86BB-94A9-4244-8D61-5A2C9477E131}" type="presParOf" srcId="{B6D55A99-DCAA-4200-BEBD-C23A4A61CB56}" destId="{0A1092FC-9AEA-47DB-84CD-7D70D4977702}" srcOrd="1" destOrd="0" presId="urn:microsoft.com/office/officeart/2018/2/layout/IconVerticalSolidList"/>
    <dgm:cxn modelId="{6DFE3F24-194E-4331-9F97-DEF0A7F87729}" type="presParOf" srcId="{B6D55A99-DCAA-4200-BEBD-C23A4A61CB56}" destId="{75EB89DC-77AC-4CCA-BC76-006E4B44E52F}" srcOrd="2" destOrd="0" presId="urn:microsoft.com/office/officeart/2018/2/layout/IconVerticalSolidList"/>
    <dgm:cxn modelId="{C429DF66-E369-4506-BC58-8B6661AEE489}" type="presParOf" srcId="{B6D55A99-DCAA-4200-BEBD-C23A4A61CB56}" destId="{11D8A151-5565-4750-84D0-167AD5845D25}" srcOrd="3" destOrd="0" presId="urn:microsoft.com/office/officeart/2018/2/layout/IconVerticalSolidList"/>
    <dgm:cxn modelId="{1833DE46-B460-4524-8779-BDFA2A3696DE}" type="presParOf" srcId="{8BBA667B-81B8-438E-8283-3338CA51A978}" destId="{3810A2E7-F22E-4700-91C4-93F7CC282C82}" srcOrd="5" destOrd="0" presId="urn:microsoft.com/office/officeart/2018/2/layout/IconVerticalSolidList"/>
    <dgm:cxn modelId="{59861AD4-EB71-4F99-A34A-E12CC28AE4B4}" type="presParOf" srcId="{8BBA667B-81B8-438E-8283-3338CA51A978}" destId="{B4F2F480-B69B-4ADF-88C4-F2C979494B15}" srcOrd="6" destOrd="0" presId="urn:microsoft.com/office/officeart/2018/2/layout/IconVerticalSolidList"/>
    <dgm:cxn modelId="{9D2900A2-97F7-4D9B-A314-0287E7E4AABF}" type="presParOf" srcId="{B4F2F480-B69B-4ADF-88C4-F2C979494B15}" destId="{38237337-29A9-4332-997A-62A8EDB94328}" srcOrd="0" destOrd="0" presId="urn:microsoft.com/office/officeart/2018/2/layout/IconVerticalSolidList"/>
    <dgm:cxn modelId="{A1E4F307-E93E-46B9-A73D-2200D9895F08}" type="presParOf" srcId="{B4F2F480-B69B-4ADF-88C4-F2C979494B15}" destId="{72B696F3-67D3-4CBE-8087-4E96D7EF552B}" srcOrd="1" destOrd="0" presId="urn:microsoft.com/office/officeart/2018/2/layout/IconVerticalSolidList"/>
    <dgm:cxn modelId="{036F43E3-EDCC-4D75-B912-446F468C4B6F}" type="presParOf" srcId="{B4F2F480-B69B-4ADF-88C4-F2C979494B15}" destId="{EF0543FE-C4A9-426B-AB0C-57FC0D95361B}" srcOrd="2" destOrd="0" presId="urn:microsoft.com/office/officeart/2018/2/layout/IconVerticalSolidList"/>
    <dgm:cxn modelId="{1FE4CD15-EDD9-40DA-BAA0-26C6175886F7}" type="presParOf" srcId="{B4F2F480-B69B-4ADF-88C4-F2C979494B15}" destId="{DF5A1998-2998-4E78-9F63-D9F258FE01C3}" srcOrd="3" destOrd="0" presId="urn:microsoft.com/office/officeart/2018/2/layout/IconVerticalSolidList"/>
    <dgm:cxn modelId="{75F26898-41D4-4651-84DA-3B076C18696A}" type="presParOf" srcId="{8BBA667B-81B8-438E-8283-3338CA51A978}" destId="{0148A667-E75D-4CC4-9FF8-B122C627329F}" srcOrd="7" destOrd="0" presId="urn:microsoft.com/office/officeart/2018/2/layout/IconVerticalSolidList"/>
    <dgm:cxn modelId="{8EBA5D8E-BDE2-4B73-A4B4-7B58D94F25E1}" type="presParOf" srcId="{8BBA667B-81B8-438E-8283-3338CA51A978}" destId="{C33EBE81-23DE-4F92-A89C-9B4E5F5C6345}" srcOrd="8" destOrd="0" presId="urn:microsoft.com/office/officeart/2018/2/layout/IconVerticalSolidList"/>
    <dgm:cxn modelId="{2E5DD4D0-F66F-4E67-ACE3-0824ADD1C4BA}" type="presParOf" srcId="{C33EBE81-23DE-4F92-A89C-9B4E5F5C6345}" destId="{1E7F9E18-F8C3-4BB0-99A8-D7872E30851B}" srcOrd="0" destOrd="0" presId="urn:microsoft.com/office/officeart/2018/2/layout/IconVerticalSolidList"/>
    <dgm:cxn modelId="{5B68A70F-A5B7-4B02-823E-6AF6419C0220}" type="presParOf" srcId="{C33EBE81-23DE-4F92-A89C-9B4E5F5C6345}" destId="{1A51F1C0-30A1-47EA-9AE5-AA9B425DD12E}" srcOrd="1" destOrd="0" presId="urn:microsoft.com/office/officeart/2018/2/layout/IconVerticalSolidList"/>
    <dgm:cxn modelId="{47CD116B-B429-44DE-B8F4-2B2356F8CFFA}" type="presParOf" srcId="{C33EBE81-23DE-4F92-A89C-9B4E5F5C6345}" destId="{0CF40120-4FFA-45FB-9759-FB3FD75EB8C3}" srcOrd="2" destOrd="0" presId="urn:microsoft.com/office/officeart/2018/2/layout/IconVerticalSolidList"/>
    <dgm:cxn modelId="{892261C2-2C3E-43F1-9F9F-EB5B84D062C8}" type="presParOf" srcId="{C33EBE81-23DE-4F92-A89C-9B4E5F5C6345}" destId="{4F87A16C-DA28-407E-A548-25CC8183A83D}" srcOrd="3" destOrd="0" presId="urn:microsoft.com/office/officeart/2018/2/layout/IconVerticalSolidList"/>
    <dgm:cxn modelId="{C42BBBD3-FD21-4EF9-BCC7-07B95FF2E9A4}" type="presParOf" srcId="{8BBA667B-81B8-438E-8283-3338CA51A978}" destId="{5F7A55D6-D276-48C6-B7F9-550B1B572998}" srcOrd="9" destOrd="0" presId="urn:microsoft.com/office/officeart/2018/2/layout/IconVerticalSolidList"/>
    <dgm:cxn modelId="{5E959BF0-2CB6-40A1-8D2D-AB898B175550}" type="presParOf" srcId="{8BBA667B-81B8-438E-8283-3338CA51A978}" destId="{50BFA814-C8DC-4190-82AB-AACD6C72E4A7}" srcOrd="10" destOrd="0" presId="urn:microsoft.com/office/officeart/2018/2/layout/IconVerticalSolidList"/>
    <dgm:cxn modelId="{C0EB8047-9FA5-416E-BF1B-9F67245ABEF5}" type="presParOf" srcId="{50BFA814-C8DC-4190-82AB-AACD6C72E4A7}" destId="{D724534C-CCF1-4465-A0AB-C29A7890B088}" srcOrd="0" destOrd="0" presId="urn:microsoft.com/office/officeart/2018/2/layout/IconVerticalSolidList"/>
    <dgm:cxn modelId="{963F8265-D034-44D9-A630-BFE29F9D4896}" type="presParOf" srcId="{50BFA814-C8DC-4190-82AB-AACD6C72E4A7}" destId="{50F49E16-782E-43C2-8EEC-08C9EDC83733}" srcOrd="1" destOrd="0" presId="urn:microsoft.com/office/officeart/2018/2/layout/IconVerticalSolidList"/>
    <dgm:cxn modelId="{D9BF7DF7-EACB-4547-B297-F95A04F4B0F7}" type="presParOf" srcId="{50BFA814-C8DC-4190-82AB-AACD6C72E4A7}" destId="{20980DD8-3ADF-43CE-8139-0981973A3498}" srcOrd="2" destOrd="0" presId="urn:microsoft.com/office/officeart/2018/2/layout/IconVerticalSolidList"/>
    <dgm:cxn modelId="{1BDE37C2-78AB-4C6E-A507-8AA77344CFFD}" type="presParOf" srcId="{50BFA814-C8DC-4190-82AB-AACD6C72E4A7}" destId="{2F6B4A0D-F66B-467B-A5D8-CC746EDA3C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69891-C4FC-5B45-9E31-557F24B32256}">
      <dsp:nvSpPr>
        <dsp:cNvPr id="0" name=""/>
        <dsp:cNvSpPr/>
      </dsp:nvSpPr>
      <dsp:spPr>
        <a:xfrm>
          <a:off x="0" y="27771"/>
          <a:ext cx="5098904" cy="75477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Prof. Marvin Jones, Jr. </a:t>
          </a:r>
          <a:endParaRPr lang="en-US" sz="1900" kern="1200"/>
        </a:p>
      </dsp:txBody>
      <dsp:txXfrm>
        <a:off x="36845" y="64616"/>
        <a:ext cx="5025214" cy="681087"/>
      </dsp:txXfrm>
    </dsp:sp>
    <dsp:sp modelId="{9DEBC89D-AB8D-164A-BFB3-9C6E2570B7B5}">
      <dsp:nvSpPr>
        <dsp:cNvPr id="0" name=""/>
        <dsp:cNvSpPr/>
      </dsp:nvSpPr>
      <dsp:spPr>
        <a:xfrm>
          <a:off x="0" y="837269"/>
          <a:ext cx="5098904" cy="754777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hlinkClick xmlns:r="http://schemas.openxmlformats.org/officeDocument/2006/relationships" r:id="rId1"/>
            </a:rPr>
            <a:t>elms.umd.edu</a:t>
          </a:r>
          <a:r>
            <a:rPr lang="en-GB" sz="1900" kern="1200" dirty="0"/>
            <a:t> for the syllabus (updates are happening, please be patient.) </a:t>
          </a:r>
          <a:endParaRPr lang="en-US" sz="1900" kern="1200" dirty="0"/>
        </a:p>
      </dsp:txBody>
      <dsp:txXfrm>
        <a:off x="36845" y="874114"/>
        <a:ext cx="5025214" cy="681087"/>
      </dsp:txXfrm>
    </dsp:sp>
    <dsp:sp modelId="{897DD7CA-5BFC-D141-90ED-B7717078EF57}">
      <dsp:nvSpPr>
        <dsp:cNvPr id="0" name=""/>
        <dsp:cNvSpPr/>
      </dsp:nvSpPr>
      <dsp:spPr>
        <a:xfrm>
          <a:off x="0" y="1646767"/>
          <a:ext cx="5098904" cy="754777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Office hours explained online on ELMS </a:t>
          </a:r>
          <a:endParaRPr lang="en-US" sz="1900" kern="1200"/>
        </a:p>
      </dsp:txBody>
      <dsp:txXfrm>
        <a:off x="36845" y="1683612"/>
        <a:ext cx="5025214" cy="681087"/>
      </dsp:txXfrm>
    </dsp:sp>
    <dsp:sp modelId="{03118D89-15B9-4848-8E2B-9E288555485A}">
      <dsp:nvSpPr>
        <dsp:cNvPr id="0" name=""/>
        <dsp:cNvSpPr/>
      </dsp:nvSpPr>
      <dsp:spPr>
        <a:xfrm>
          <a:off x="0" y="2401545"/>
          <a:ext cx="5098904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dirty="0"/>
            <a:t>Tu &amp; Th. 12:30 – 2:30 PM 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Check for TA office hours on ELMS!</a:t>
          </a:r>
          <a:endParaRPr lang="en-US" sz="1500" kern="1200"/>
        </a:p>
      </dsp:txBody>
      <dsp:txXfrm>
        <a:off x="0" y="2401545"/>
        <a:ext cx="5098904" cy="521122"/>
      </dsp:txXfrm>
    </dsp:sp>
    <dsp:sp modelId="{78BCD4E8-0E2F-6340-9D72-EBCB4508DE9C}">
      <dsp:nvSpPr>
        <dsp:cNvPr id="0" name=""/>
        <dsp:cNvSpPr/>
      </dsp:nvSpPr>
      <dsp:spPr>
        <a:xfrm>
          <a:off x="0" y="2922667"/>
          <a:ext cx="5098904" cy="754777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This is one of the </a:t>
          </a:r>
          <a:r>
            <a:rPr lang="en-GB" sz="1900" b="1" kern="1200"/>
            <a:t>Big Question</a:t>
          </a:r>
          <a:r>
            <a:rPr lang="en-GB" sz="1900" kern="1200"/>
            <a:t> (formerly, iSeries) courses. It’s interdisciplinary! </a:t>
          </a:r>
          <a:endParaRPr lang="en-US" sz="1900" kern="1200"/>
        </a:p>
      </dsp:txBody>
      <dsp:txXfrm>
        <a:off x="36845" y="2959512"/>
        <a:ext cx="5025214" cy="681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E9739-5C78-804D-B56B-7E943913F31E}">
      <dsp:nvSpPr>
        <dsp:cNvPr id="0" name=""/>
        <dsp:cNvSpPr/>
      </dsp:nvSpPr>
      <dsp:spPr>
        <a:xfrm>
          <a:off x="962" y="848041"/>
          <a:ext cx="3754654" cy="22527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Tests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Dates listed on Lecture Schedule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Read the syllabus regarding missing tests for valid reasons…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No test for Unit V and no Final Exam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Drop your lowest test</a:t>
          </a:r>
          <a:endParaRPr lang="en-US" sz="1700" kern="1200"/>
        </a:p>
      </dsp:txBody>
      <dsp:txXfrm>
        <a:off x="962" y="848041"/>
        <a:ext cx="3754654" cy="2252792"/>
      </dsp:txXfrm>
    </dsp:sp>
    <dsp:sp modelId="{E9A52327-1F2F-CB4C-A1BF-784BDA14587A}">
      <dsp:nvSpPr>
        <dsp:cNvPr id="0" name=""/>
        <dsp:cNvSpPr/>
      </dsp:nvSpPr>
      <dsp:spPr>
        <a:xfrm>
          <a:off x="4131082" y="848041"/>
          <a:ext cx="3754654" cy="225279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Final Project is your </a:t>
          </a:r>
          <a:r>
            <a:rPr lang="en-GB" sz="2200" i="1" kern="1200"/>
            <a:t>real</a:t>
          </a:r>
          <a:r>
            <a:rPr lang="en-GB" sz="2200" kern="1200"/>
            <a:t> Final Exam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Group paper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Group presentation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More details as semester progresses… 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(but see wiki page on ELMS)</a:t>
          </a:r>
          <a:endParaRPr lang="en-US" sz="1700" kern="1200"/>
        </a:p>
      </dsp:txBody>
      <dsp:txXfrm>
        <a:off x="4131082" y="848041"/>
        <a:ext cx="3754654" cy="22527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D335C-E93B-AD4C-A17C-6BF03934F826}">
      <dsp:nvSpPr>
        <dsp:cNvPr id="0" name=""/>
        <dsp:cNvSpPr/>
      </dsp:nvSpPr>
      <dsp:spPr>
        <a:xfrm>
          <a:off x="0" y="372452"/>
          <a:ext cx="2464593" cy="14787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Lecture participation: mandatory (with the usual exceptions)</a:t>
          </a:r>
          <a:br>
            <a:rPr lang="en-GB" sz="1600" kern="1200"/>
          </a:br>
          <a:r>
            <a:rPr lang="en-GB" sz="1600" kern="1200"/>
            <a:t>- please see me </a:t>
          </a:r>
          <a:r>
            <a:rPr lang="en-GB" sz="1600" i="1" kern="1200"/>
            <a:t>in advance </a:t>
          </a:r>
          <a:r>
            <a:rPr lang="en-GB" sz="1600" kern="1200"/>
            <a:t>for religious holidays, etc.</a:t>
          </a:r>
          <a:endParaRPr lang="en-US" sz="1600" kern="1200"/>
        </a:p>
      </dsp:txBody>
      <dsp:txXfrm>
        <a:off x="0" y="372452"/>
        <a:ext cx="2464593" cy="1478756"/>
      </dsp:txXfrm>
    </dsp:sp>
    <dsp:sp modelId="{A1CAD19F-5F1E-2A45-855E-4DE69E53751C}">
      <dsp:nvSpPr>
        <dsp:cNvPr id="0" name=""/>
        <dsp:cNvSpPr/>
      </dsp:nvSpPr>
      <dsp:spPr>
        <a:xfrm>
          <a:off x="2711053" y="372452"/>
          <a:ext cx="2464593" cy="1478756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Discussion section also mandatory (MWF 12, 1, 2) </a:t>
          </a:r>
          <a:endParaRPr lang="en-US" sz="1600" kern="1200"/>
        </a:p>
      </dsp:txBody>
      <dsp:txXfrm>
        <a:off x="2711053" y="372452"/>
        <a:ext cx="2464593" cy="1478756"/>
      </dsp:txXfrm>
    </dsp:sp>
    <dsp:sp modelId="{BC2AA7ED-7AB6-EE4A-8EEF-1BC667399634}">
      <dsp:nvSpPr>
        <dsp:cNvPr id="0" name=""/>
        <dsp:cNvSpPr/>
      </dsp:nvSpPr>
      <dsp:spPr>
        <a:xfrm>
          <a:off x="5422106" y="372452"/>
          <a:ext cx="2464593" cy="1478756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DSS Accommodation: Please see me ASAP</a:t>
          </a:r>
          <a:endParaRPr lang="en-US" sz="1600" kern="1200"/>
        </a:p>
      </dsp:txBody>
      <dsp:txXfrm>
        <a:off x="5422106" y="372452"/>
        <a:ext cx="2464593" cy="1478756"/>
      </dsp:txXfrm>
    </dsp:sp>
    <dsp:sp modelId="{234B2993-8ADD-924B-A4C9-830D850915F5}">
      <dsp:nvSpPr>
        <dsp:cNvPr id="0" name=""/>
        <dsp:cNvSpPr/>
      </dsp:nvSpPr>
      <dsp:spPr>
        <a:xfrm>
          <a:off x="0" y="2097667"/>
          <a:ext cx="2464593" cy="1478756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Preparation: HIGHLY recommended 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at least skim the reading prior to the lecture…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kern="1200"/>
            <a:t>...then read in depth after the lecture</a:t>
          </a:r>
          <a:endParaRPr lang="en-US" sz="1200" kern="1200"/>
        </a:p>
      </dsp:txBody>
      <dsp:txXfrm>
        <a:off x="0" y="2097667"/>
        <a:ext cx="2464593" cy="1478756"/>
      </dsp:txXfrm>
    </dsp:sp>
    <dsp:sp modelId="{B8C0ABFE-31AC-9947-BC00-7199B12EA406}">
      <dsp:nvSpPr>
        <dsp:cNvPr id="0" name=""/>
        <dsp:cNvSpPr/>
      </dsp:nvSpPr>
      <dsp:spPr>
        <a:xfrm>
          <a:off x="2711053" y="2097667"/>
          <a:ext cx="2464593" cy="1478756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Study Habits: DON'T WAIT until right before tests ask for help; collaborate with your classmates, but put homework answers in your OWN words.  </a:t>
          </a:r>
          <a:endParaRPr lang="en-US" sz="1600" kern="1200" dirty="0"/>
        </a:p>
      </dsp:txBody>
      <dsp:txXfrm>
        <a:off x="2711053" y="2097667"/>
        <a:ext cx="2464593" cy="1478756"/>
      </dsp:txXfrm>
    </dsp:sp>
    <dsp:sp modelId="{4B6D9950-4E17-7448-810A-D2D4F5DA6C76}">
      <dsp:nvSpPr>
        <dsp:cNvPr id="0" name=""/>
        <dsp:cNvSpPr/>
      </dsp:nvSpPr>
      <dsp:spPr>
        <a:xfrm>
          <a:off x="5422106" y="2097667"/>
          <a:ext cx="2464593" cy="1478756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Ask questions on the ELMS discussion board!</a:t>
          </a:r>
          <a:endParaRPr lang="en-US" sz="1600" kern="1200"/>
        </a:p>
      </dsp:txBody>
      <dsp:txXfrm>
        <a:off x="5422106" y="2097667"/>
        <a:ext cx="2464593" cy="14787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97438D-5612-1D42-964E-DEC1E89C5525}">
      <dsp:nvSpPr>
        <dsp:cNvPr id="0" name=""/>
        <dsp:cNvSpPr/>
      </dsp:nvSpPr>
      <dsp:spPr>
        <a:xfrm>
          <a:off x="0" y="402934"/>
          <a:ext cx="5000124" cy="1118812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This class is designed to engage you in many different ways. </a:t>
          </a:r>
          <a:endParaRPr lang="en-US" sz="2000" kern="1200" dirty="0"/>
        </a:p>
      </dsp:txBody>
      <dsp:txXfrm>
        <a:off x="54616" y="457550"/>
        <a:ext cx="4890892" cy="1009580"/>
      </dsp:txXfrm>
    </dsp:sp>
    <dsp:sp modelId="{A957829E-FAF6-0144-A0B8-6EBB75FA734E}">
      <dsp:nvSpPr>
        <dsp:cNvPr id="0" name=""/>
        <dsp:cNvSpPr/>
      </dsp:nvSpPr>
      <dsp:spPr>
        <a:xfrm>
          <a:off x="0" y="1579347"/>
          <a:ext cx="5000124" cy="1118812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It’s actually difficult to fail if you do the work and do your best.</a:t>
          </a:r>
          <a:endParaRPr lang="en-US" sz="2000" kern="1200" dirty="0"/>
        </a:p>
      </dsp:txBody>
      <dsp:txXfrm>
        <a:off x="54616" y="1633963"/>
        <a:ext cx="4890892" cy="1009580"/>
      </dsp:txXfrm>
    </dsp:sp>
    <dsp:sp modelId="{626D2D57-E3B8-3047-95FC-2AF28C651610}">
      <dsp:nvSpPr>
        <dsp:cNvPr id="0" name=""/>
        <dsp:cNvSpPr/>
      </dsp:nvSpPr>
      <dsp:spPr>
        <a:xfrm>
          <a:off x="0" y="2755760"/>
          <a:ext cx="5000124" cy="1118812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Pace yourself and work within your groups! </a:t>
          </a:r>
          <a:endParaRPr lang="en-US" sz="2000" kern="1200" dirty="0"/>
        </a:p>
      </dsp:txBody>
      <dsp:txXfrm>
        <a:off x="54616" y="2810376"/>
        <a:ext cx="4890892" cy="1009580"/>
      </dsp:txXfrm>
    </dsp:sp>
    <dsp:sp modelId="{C42D8023-8DFE-8140-B8A7-281ACC616C9F}">
      <dsp:nvSpPr>
        <dsp:cNvPr id="0" name=""/>
        <dsp:cNvSpPr/>
      </dsp:nvSpPr>
      <dsp:spPr>
        <a:xfrm>
          <a:off x="0" y="3932172"/>
          <a:ext cx="5000124" cy="1118812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I want you to be able to engage with various media sources and use science to understand what is “good” and “bad” fiction.</a:t>
          </a:r>
          <a:endParaRPr lang="en-US" sz="2000" kern="1200" dirty="0"/>
        </a:p>
      </dsp:txBody>
      <dsp:txXfrm>
        <a:off x="54616" y="3986788"/>
        <a:ext cx="4890892" cy="1009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BF3C5-146C-4DCD-819A-098A89BF1549}">
      <dsp:nvSpPr>
        <dsp:cNvPr id="0" name=""/>
        <dsp:cNvSpPr/>
      </dsp:nvSpPr>
      <dsp:spPr>
        <a:xfrm>
          <a:off x="376435" y="9151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B9670-C61F-4EFC-947D-E4FD3C6CAC24}">
      <dsp:nvSpPr>
        <dsp:cNvPr id="0" name=""/>
        <dsp:cNvSpPr/>
      </dsp:nvSpPr>
      <dsp:spPr>
        <a:xfrm>
          <a:off x="610435" y="114915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DB95D-DC0D-4F96-92DA-524A1E1914AC}">
      <dsp:nvSpPr>
        <dsp:cNvPr id="0" name=""/>
        <dsp:cNvSpPr/>
      </dsp:nvSpPr>
      <dsp:spPr>
        <a:xfrm>
          <a:off x="25435" y="235515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For your final project you’ll create (or address existing) planets</a:t>
          </a:r>
        </a:p>
      </dsp:txBody>
      <dsp:txXfrm>
        <a:off x="25435" y="2355152"/>
        <a:ext cx="1800000" cy="922500"/>
      </dsp:txXfrm>
    </dsp:sp>
    <dsp:sp modelId="{AB4E9F35-B03F-4B12-A7F6-89A3FB9EE0D3}">
      <dsp:nvSpPr>
        <dsp:cNvPr id="0" name=""/>
        <dsp:cNvSpPr/>
      </dsp:nvSpPr>
      <dsp:spPr>
        <a:xfrm>
          <a:off x="2491435" y="9151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95139-627E-4FE8-8349-7E6CF6D46CEF}">
      <dsp:nvSpPr>
        <dsp:cNvPr id="0" name=""/>
        <dsp:cNvSpPr/>
      </dsp:nvSpPr>
      <dsp:spPr>
        <a:xfrm>
          <a:off x="2725435" y="114915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3A98B-1413-45D0-AF5C-2384B3625A3D}">
      <dsp:nvSpPr>
        <dsp:cNvPr id="0" name=""/>
        <dsp:cNvSpPr/>
      </dsp:nvSpPr>
      <dsp:spPr>
        <a:xfrm>
          <a:off x="2140435" y="235515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You’ll decide what kind they are (terrestrial, giant, water/icy), i.e., composition which sets the density (and probably their rough size)</a:t>
          </a:r>
        </a:p>
      </dsp:txBody>
      <dsp:txXfrm>
        <a:off x="2140435" y="2355152"/>
        <a:ext cx="1800000" cy="922500"/>
      </dsp:txXfrm>
    </dsp:sp>
    <dsp:sp modelId="{4659F093-2F00-4A52-AE30-1CED60A427F8}">
      <dsp:nvSpPr>
        <dsp:cNvPr id="0" name=""/>
        <dsp:cNvSpPr/>
      </dsp:nvSpPr>
      <dsp:spPr>
        <a:xfrm>
          <a:off x="4606435" y="9151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CBB1A2-5D8F-410D-8BAF-CE5C14167719}">
      <dsp:nvSpPr>
        <dsp:cNvPr id="0" name=""/>
        <dsp:cNvSpPr/>
      </dsp:nvSpPr>
      <dsp:spPr>
        <a:xfrm>
          <a:off x="4840435" y="114915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209CD-CDB2-4663-AC79-D6BB2B0841E8}">
      <dsp:nvSpPr>
        <dsp:cNvPr id="0" name=""/>
        <dsp:cNvSpPr/>
      </dsp:nvSpPr>
      <dsp:spPr>
        <a:xfrm>
          <a:off x="4255435" y="235515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Then you’ll decide their actual size which (combined with density) will set their mass</a:t>
          </a:r>
        </a:p>
      </dsp:txBody>
      <dsp:txXfrm>
        <a:off x="4255435" y="2355152"/>
        <a:ext cx="1800000" cy="922500"/>
      </dsp:txXfrm>
    </dsp:sp>
    <dsp:sp modelId="{6F5865A4-E2D8-4A06-AEA3-5655CEA91238}">
      <dsp:nvSpPr>
        <dsp:cNvPr id="0" name=""/>
        <dsp:cNvSpPr/>
      </dsp:nvSpPr>
      <dsp:spPr>
        <a:xfrm>
          <a:off x="6721435" y="91515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9DDA62-8D9C-4E4A-B6B6-A0F28E3CAD5F}">
      <dsp:nvSpPr>
        <dsp:cNvPr id="0" name=""/>
        <dsp:cNvSpPr/>
      </dsp:nvSpPr>
      <dsp:spPr>
        <a:xfrm>
          <a:off x="6955435" y="114915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3F6B8-D4EC-47CC-9174-A970BFAA02D3}">
      <dsp:nvSpPr>
        <dsp:cNvPr id="0" name=""/>
        <dsp:cNvSpPr/>
      </dsp:nvSpPr>
      <dsp:spPr>
        <a:xfrm>
          <a:off x="6370435" y="2355152"/>
          <a:ext cx="1800000" cy="92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Now you know the size and mass which completely sets the surface gravity</a:t>
          </a:r>
        </a:p>
      </dsp:txBody>
      <dsp:txXfrm>
        <a:off x="6370435" y="2355152"/>
        <a:ext cx="1800000" cy="9225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866100-ECF2-2944-A421-657E117B9F0E}">
      <dsp:nvSpPr>
        <dsp:cNvPr id="0" name=""/>
        <dsp:cNvSpPr/>
      </dsp:nvSpPr>
      <dsp:spPr>
        <a:xfrm>
          <a:off x="0" y="125818"/>
          <a:ext cx="41148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True</a:t>
          </a:r>
        </a:p>
      </dsp:txBody>
      <dsp:txXfrm>
        <a:off x="64397" y="190215"/>
        <a:ext cx="3986006" cy="1190381"/>
      </dsp:txXfrm>
    </dsp:sp>
    <dsp:sp modelId="{7066F916-5E33-CE4B-AE1D-F8CDBC6ABF81}">
      <dsp:nvSpPr>
        <dsp:cNvPr id="0" name=""/>
        <dsp:cNvSpPr/>
      </dsp:nvSpPr>
      <dsp:spPr>
        <a:xfrm>
          <a:off x="0" y="1603393"/>
          <a:ext cx="41148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False</a:t>
          </a:r>
        </a:p>
      </dsp:txBody>
      <dsp:txXfrm>
        <a:off x="64397" y="1667790"/>
        <a:ext cx="3986006" cy="1190381"/>
      </dsp:txXfrm>
    </dsp:sp>
    <dsp:sp modelId="{F0FC4A55-0725-DC45-985C-D89AF5AE227F}">
      <dsp:nvSpPr>
        <dsp:cNvPr id="0" name=""/>
        <dsp:cNvSpPr/>
      </dsp:nvSpPr>
      <dsp:spPr>
        <a:xfrm>
          <a:off x="0" y="3080969"/>
          <a:ext cx="41148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I don’t know</a:t>
          </a:r>
        </a:p>
      </dsp:txBody>
      <dsp:txXfrm>
        <a:off x="64397" y="3145366"/>
        <a:ext cx="3986006" cy="11903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BDCE2-05BA-4F49-8EB4-06DD1A8B695F}">
      <dsp:nvSpPr>
        <dsp:cNvPr id="0" name=""/>
        <dsp:cNvSpPr/>
      </dsp:nvSpPr>
      <dsp:spPr>
        <a:xfrm>
          <a:off x="0" y="442416"/>
          <a:ext cx="41148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Nothing; all is lost; give up hope</a:t>
          </a:r>
        </a:p>
      </dsp:txBody>
      <dsp:txXfrm>
        <a:off x="26930" y="469346"/>
        <a:ext cx="4060940" cy="497795"/>
      </dsp:txXfrm>
    </dsp:sp>
    <dsp:sp modelId="{D02CDC89-D029-C14C-9628-AC2BD2A25083}">
      <dsp:nvSpPr>
        <dsp:cNvPr id="0" name=""/>
        <dsp:cNvSpPr/>
      </dsp:nvSpPr>
      <dsp:spPr>
        <a:xfrm>
          <a:off x="0" y="1060311"/>
          <a:ext cx="41148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Pressure</a:t>
          </a:r>
        </a:p>
      </dsp:txBody>
      <dsp:txXfrm>
        <a:off x="26930" y="1087241"/>
        <a:ext cx="4060940" cy="497795"/>
      </dsp:txXfrm>
    </dsp:sp>
    <dsp:sp modelId="{58699E27-3C19-3D41-BFEE-F2AF9B2C8409}">
      <dsp:nvSpPr>
        <dsp:cNvPr id="0" name=""/>
        <dsp:cNvSpPr/>
      </dsp:nvSpPr>
      <dsp:spPr>
        <a:xfrm>
          <a:off x="0" y="1678206"/>
          <a:ext cx="41148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Electromagnetism to the rescue!</a:t>
          </a:r>
        </a:p>
      </dsp:txBody>
      <dsp:txXfrm>
        <a:off x="26930" y="1705136"/>
        <a:ext cx="4060940" cy="497795"/>
      </dsp:txXfrm>
    </dsp:sp>
    <dsp:sp modelId="{26BCC171-842D-6843-B962-E0CCAF26F8FE}">
      <dsp:nvSpPr>
        <dsp:cNvPr id="0" name=""/>
        <dsp:cNvSpPr/>
      </dsp:nvSpPr>
      <dsp:spPr>
        <a:xfrm>
          <a:off x="0" y="2296101"/>
          <a:ext cx="41148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Nuclear forces</a:t>
          </a:r>
        </a:p>
      </dsp:txBody>
      <dsp:txXfrm>
        <a:off x="26930" y="2323031"/>
        <a:ext cx="4060940" cy="497795"/>
      </dsp:txXfrm>
    </dsp:sp>
    <dsp:sp modelId="{B0291209-D7F8-B145-A31A-F08C4880AD08}">
      <dsp:nvSpPr>
        <dsp:cNvPr id="0" name=""/>
        <dsp:cNvSpPr/>
      </dsp:nvSpPr>
      <dsp:spPr>
        <a:xfrm>
          <a:off x="0" y="2913996"/>
          <a:ext cx="41148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Antigravity</a:t>
          </a:r>
        </a:p>
      </dsp:txBody>
      <dsp:txXfrm>
        <a:off x="26930" y="2940926"/>
        <a:ext cx="4060940" cy="497795"/>
      </dsp:txXfrm>
    </dsp:sp>
    <dsp:sp modelId="{DD59266E-DFF1-6545-9EB0-09F0B81DB705}">
      <dsp:nvSpPr>
        <dsp:cNvPr id="0" name=""/>
        <dsp:cNvSpPr/>
      </dsp:nvSpPr>
      <dsp:spPr>
        <a:xfrm>
          <a:off x="0" y="3531891"/>
          <a:ext cx="41148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Other </a:t>
          </a:r>
        </a:p>
      </dsp:txBody>
      <dsp:txXfrm>
        <a:off x="26930" y="3558821"/>
        <a:ext cx="4060940" cy="49779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287ED-FA6F-9C49-B2FC-93E0747E7E6C}">
      <dsp:nvSpPr>
        <dsp:cNvPr id="0" name=""/>
        <dsp:cNvSpPr/>
      </dsp:nvSpPr>
      <dsp:spPr>
        <a:xfrm>
          <a:off x="0" y="88520"/>
          <a:ext cx="5000124" cy="17128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Our 4 giant planets formed within 5 – 20 AU of the Sun (much closer in toward the Sun than Neptune currently is)</a:t>
          </a:r>
        </a:p>
      </dsp:txBody>
      <dsp:txXfrm>
        <a:off x="83616" y="172136"/>
        <a:ext cx="4832892" cy="1545648"/>
      </dsp:txXfrm>
    </dsp:sp>
    <dsp:sp modelId="{CC3E90FC-E1AB-E54A-8C72-3760A62DF8CA}">
      <dsp:nvSpPr>
        <dsp:cNvPr id="0" name=""/>
        <dsp:cNvSpPr/>
      </dsp:nvSpPr>
      <dsp:spPr>
        <a:xfrm>
          <a:off x="0" y="1870520"/>
          <a:ext cx="5000124" cy="171288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Beyond them was a massive leftover disk of material out to ~30 AU</a:t>
          </a:r>
        </a:p>
      </dsp:txBody>
      <dsp:txXfrm>
        <a:off x="83616" y="1954136"/>
        <a:ext cx="4832892" cy="1545648"/>
      </dsp:txXfrm>
    </dsp:sp>
    <dsp:sp modelId="{5DBFACB5-A173-B248-8EDF-7DAEB7D0EF93}">
      <dsp:nvSpPr>
        <dsp:cNvPr id="0" name=""/>
        <dsp:cNvSpPr/>
      </dsp:nvSpPr>
      <dsp:spPr>
        <a:xfrm>
          <a:off x="0" y="3652520"/>
          <a:ext cx="5000124" cy="171288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four giants migrate slowly, spreading out as they interact with the disk</a:t>
          </a:r>
        </a:p>
      </dsp:txBody>
      <dsp:txXfrm>
        <a:off x="83616" y="3736136"/>
        <a:ext cx="4832892" cy="15456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592E9-98A1-1645-A5D1-E0FF8713639E}">
      <dsp:nvSpPr>
        <dsp:cNvPr id="0" name=""/>
        <dsp:cNvSpPr/>
      </dsp:nvSpPr>
      <dsp:spPr>
        <a:xfrm>
          <a:off x="0" y="71469"/>
          <a:ext cx="7886700" cy="795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Jupiter &amp; Saturn </a:t>
          </a:r>
          <a:r>
            <a:rPr lang="en-US" sz="2000" kern="1200"/>
            <a:t>cross a strong 2:1 </a:t>
          </a:r>
          <a:r>
            <a:rPr lang="en-US" sz="2000" b="1" kern="1200"/>
            <a:t>mean-motion resonance </a:t>
          </a:r>
          <a:r>
            <a:rPr lang="en-US" sz="2000" kern="1200"/>
            <a:t>at around 700 Ma.  </a:t>
          </a:r>
        </a:p>
      </dsp:txBody>
      <dsp:txXfrm>
        <a:off x="38838" y="110307"/>
        <a:ext cx="7809024" cy="717924"/>
      </dsp:txXfrm>
    </dsp:sp>
    <dsp:sp modelId="{C526D54E-85C0-BF4F-9EE0-43F0D6E8C82C}">
      <dsp:nvSpPr>
        <dsp:cNvPr id="0" name=""/>
        <dsp:cNvSpPr/>
      </dsp:nvSpPr>
      <dsp:spPr>
        <a:xfrm>
          <a:off x="0" y="924669"/>
          <a:ext cx="7886700" cy="79560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Gravity again!</a:t>
          </a:r>
        </a:p>
      </dsp:txBody>
      <dsp:txXfrm>
        <a:off x="38838" y="963507"/>
        <a:ext cx="7809024" cy="717924"/>
      </dsp:txXfrm>
    </dsp:sp>
    <dsp:sp modelId="{F3D5FE8D-9B74-AE4C-A95E-026055E9EC9E}">
      <dsp:nvSpPr>
        <dsp:cNvPr id="0" name=""/>
        <dsp:cNvSpPr/>
      </dsp:nvSpPr>
      <dsp:spPr>
        <a:xfrm>
          <a:off x="0" y="1777869"/>
          <a:ext cx="7886700" cy="7956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This causes Uranus &amp; Neptune to go unstable and get scattered farther out into the disk. </a:t>
          </a:r>
        </a:p>
      </dsp:txBody>
      <dsp:txXfrm>
        <a:off x="38838" y="1816707"/>
        <a:ext cx="7809024" cy="717924"/>
      </dsp:txXfrm>
    </dsp:sp>
    <dsp:sp modelId="{C59925D7-5113-1541-B12B-AA2424AD3EEE}">
      <dsp:nvSpPr>
        <dsp:cNvPr id="0" name=""/>
        <dsp:cNvSpPr/>
      </dsp:nvSpPr>
      <dsp:spPr>
        <a:xfrm>
          <a:off x="0" y="2631069"/>
          <a:ext cx="7886700" cy="79560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Uranus &amp; Neptune evolve into current orbits due to interactions with the disk.</a:t>
          </a:r>
        </a:p>
      </dsp:txBody>
      <dsp:txXfrm>
        <a:off x="38838" y="2669907"/>
        <a:ext cx="7809024" cy="717924"/>
      </dsp:txXfrm>
    </dsp:sp>
    <dsp:sp modelId="{FAF72D7F-3583-6F40-968B-6C0A026DF823}">
      <dsp:nvSpPr>
        <dsp:cNvPr id="0" name=""/>
        <dsp:cNvSpPr/>
      </dsp:nvSpPr>
      <dsp:spPr>
        <a:xfrm>
          <a:off x="0" y="3484269"/>
          <a:ext cx="7886700" cy="7956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Incredibly violent process!!!! (remember: it’s </a:t>
          </a:r>
          <a:r>
            <a:rPr lang="en-US" sz="2000" i="1" kern="1200"/>
            <a:t>not</a:t>
          </a:r>
          <a:r>
            <a:rPr lang="en-US" sz="2000" kern="1200"/>
            <a:t> violent to Jupiter (318 x mass of the Earth) or Saturn (95 x mass of the Earth)</a:t>
          </a:r>
        </a:p>
      </dsp:txBody>
      <dsp:txXfrm>
        <a:off x="38838" y="3523107"/>
        <a:ext cx="7809024" cy="7179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B71E1-149B-834F-9E78-6CEE5625A05A}">
      <dsp:nvSpPr>
        <dsp:cNvPr id="0" name=""/>
        <dsp:cNvSpPr/>
      </dsp:nvSpPr>
      <dsp:spPr>
        <a:xfrm>
          <a:off x="0" y="334179"/>
          <a:ext cx="7886700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present-day orbits of the giants (Neptune too!)</a:t>
          </a:r>
        </a:p>
      </dsp:txBody>
      <dsp:txXfrm>
        <a:off x="32784" y="366963"/>
        <a:ext cx="7821132" cy="606012"/>
      </dsp:txXfrm>
    </dsp:sp>
    <dsp:sp modelId="{E61E9230-DAC1-7742-956E-C4E327867F74}">
      <dsp:nvSpPr>
        <dsp:cNvPr id="0" name=""/>
        <dsp:cNvSpPr/>
      </dsp:nvSpPr>
      <dsp:spPr>
        <a:xfrm>
          <a:off x="0" y="1086399"/>
          <a:ext cx="7886700" cy="6715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late heavy bombardment!</a:t>
          </a:r>
        </a:p>
      </dsp:txBody>
      <dsp:txXfrm>
        <a:off x="32784" y="1119183"/>
        <a:ext cx="7821132" cy="606012"/>
      </dsp:txXfrm>
    </dsp:sp>
    <dsp:sp modelId="{8D492EEB-A0A8-ED47-9820-99FC724AE636}">
      <dsp:nvSpPr>
        <dsp:cNvPr id="0" name=""/>
        <dsp:cNvSpPr/>
      </dsp:nvSpPr>
      <dsp:spPr>
        <a:xfrm>
          <a:off x="0" y="1838619"/>
          <a:ext cx="7886700" cy="6715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And some other things to some extent:</a:t>
          </a:r>
        </a:p>
      </dsp:txBody>
      <dsp:txXfrm>
        <a:off x="32784" y="1871403"/>
        <a:ext cx="7821132" cy="606012"/>
      </dsp:txXfrm>
    </dsp:sp>
    <dsp:sp modelId="{E73FE1F9-65FB-CD49-994F-83EDB9E0E37C}">
      <dsp:nvSpPr>
        <dsp:cNvPr id="0" name=""/>
        <dsp:cNvSpPr/>
      </dsp:nvSpPr>
      <dsp:spPr>
        <a:xfrm>
          <a:off x="0" y="2510199"/>
          <a:ext cx="7886700" cy="150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Capture of the Trojan asteroids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Trapping of comet-like asteroids in the main belt.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Capture of giant planet irregular moons.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Properties of Kuiper belt</a:t>
          </a:r>
        </a:p>
      </dsp:txBody>
      <dsp:txXfrm>
        <a:off x="0" y="2510199"/>
        <a:ext cx="7886700" cy="15069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AFF79-D7BF-7148-8508-21D1954B8A48}">
      <dsp:nvSpPr>
        <dsp:cNvPr id="0" name=""/>
        <dsp:cNvSpPr/>
      </dsp:nvSpPr>
      <dsp:spPr>
        <a:xfrm>
          <a:off x="0" y="296813"/>
          <a:ext cx="5000124" cy="1566337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Most importantly, we can see that planet migration matters…</a:t>
          </a:r>
        </a:p>
      </dsp:txBody>
      <dsp:txXfrm>
        <a:off x="76462" y="373275"/>
        <a:ext cx="4847200" cy="1413413"/>
      </dsp:txXfrm>
    </dsp:sp>
    <dsp:sp modelId="{C49C95B9-8836-0643-BE8A-0762A0D9DCC4}">
      <dsp:nvSpPr>
        <dsp:cNvPr id="0" name=""/>
        <dsp:cNvSpPr/>
      </dsp:nvSpPr>
      <dsp:spPr>
        <a:xfrm>
          <a:off x="0" y="1943791"/>
          <a:ext cx="5000124" cy="1566337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…may explain “hot” Jupiters…</a:t>
          </a:r>
        </a:p>
      </dsp:txBody>
      <dsp:txXfrm>
        <a:off x="76462" y="2020253"/>
        <a:ext cx="4847200" cy="1413413"/>
      </dsp:txXfrm>
    </dsp:sp>
    <dsp:sp modelId="{0FB66346-2963-9042-8D75-447514CB7967}">
      <dsp:nvSpPr>
        <dsp:cNvPr id="0" name=""/>
        <dsp:cNvSpPr/>
      </dsp:nvSpPr>
      <dsp:spPr>
        <a:xfrm>
          <a:off x="0" y="3590768"/>
          <a:ext cx="5000124" cy="1566337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Or we may need to scrap many details of the conventional stellar system formation model</a:t>
          </a:r>
        </a:p>
      </dsp:txBody>
      <dsp:txXfrm>
        <a:off x="76462" y="3667230"/>
        <a:ext cx="4847200" cy="141341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EE2A5-BB33-E341-82DC-A4C13222D21C}">
      <dsp:nvSpPr>
        <dsp:cNvPr id="0" name=""/>
        <dsp:cNvSpPr/>
      </dsp:nvSpPr>
      <dsp:spPr>
        <a:xfrm>
          <a:off x="0" y="546079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Seismic waves reflecting/refracting off boundaries</a:t>
          </a:r>
        </a:p>
      </dsp:txBody>
      <dsp:txXfrm>
        <a:off x="50489" y="596568"/>
        <a:ext cx="4899146" cy="933302"/>
      </dsp:txXfrm>
    </dsp:sp>
    <dsp:sp modelId="{DB0F4AC7-1719-4640-B48C-255EB8D95DA7}">
      <dsp:nvSpPr>
        <dsp:cNvPr id="0" name=""/>
        <dsp:cNvSpPr/>
      </dsp:nvSpPr>
      <dsp:spPr>
        <a:xfrm>
          <a:off x="0" y="1655239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shade val="51000"/>
                <a:satMod val="130000"/>
              </a:schemeClr>
            </a:gs>
            <a:gs pos="80000">
              <a:schemeClr val="accent5">
                <a:hueOff val="-3311292"/>
                <a:satOff val="13270"/>
                <a:lumOff val="2876"/>
                <a:alphaOff val="0"/>
                <a:shade val="93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Evidence from below! (Xenoliths)</a:t>
          </a:r>
        </a:p>
      </dsp:txBody>
      <dsp:txXfrm>
        <a:off x="50489" y="1705728"/>
        <a:ext cx="4899146" cy="933302"/>
      </dsp:txXfrm>
    </dsp:sp>
    <dsp:sp modelId="{C4714391-7805-B24C-9D76-831E556142EE}">
      <dsp:nvSpPr>
        <dsp:cNvPr id="0" name=""/>
        <dsp:cNvSpPr/>
      </dsp:nvSpPr>
      <dsp:spPr>
        <a:xfrm>
          <a:off x="0" y="2764400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shade val="51000"/>
                <a:satMod val="130000"/>
              </a:schemeClr>
            </a:gs>
            <a:gs pos="80000">
              <a:schemeClr val="accent5">
                <a:hueOff val="-6622584"/>
                <a:satOff val="26541"/>
                <a:lumOff val="5752"/>
                <a:alphaOff val="0"/>
                <a:shade val="93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Volcanism</a:t>
          </a:r>
        </a:p>
      </dsp:txBody>
      <dsp:txXfrm>
        <a:off x="50489" y="2814889"/>
        <a:ext cx="4899146" cy="933302"/>
      </dsp:txXfrm>
    </dsp:sp>
    <dsp:sp modelId="{2AF8A6FB-A56C-BF49-8344-6987F1E3F172}">
      <dsp:nvSpPr>
        <dsp:cNvPr id="0" name=""/>
        <dsp:cNvSpPr/>
      </dsp:nvSpPr>
      <dsp:spPr>
        <a:xfrm>
          <a:off x="0" y="3873560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Magnetic field</a:t>
          </a:r>
        </a:p>
      </dsp:txBody>
      <dsp:txXfrm>
        <a:off x="50489" y="3924049"/>
        <a:ext cx="4899146" cy="93330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A5B7E4-E7E2-482F-B747-A3370CD76B5B}">
      <dsp:nvSpPr>
        <dsp:cNvPr id="0" name=""/>
        <dsp:cNvSpPr/>
      </dsp:nvSpPr>
      <dsp:spPr>
        <a:xfrm>
          <a:off x="0" y="1464"/>
          <a:ext cx="41148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50A4CD-A058-406C-8543-2FA78DF11BCF}">
      <dsp:nvSpPr>
        <dsp:cNvPr id="0" name=""/>
        <dsp:cNvSpPr/>
      </dsp:nvSpPr>
      <dsp:spPr>
        <a:xfrm>
          <a:off x="188719" y="141834"/>
          <a:ext cx="343126" cy="3431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006C6-95F3-45A2-B381-21EFBD10513C}">
      <dsp:nvSpPr>
        <dsp:cNvPr id="0" name=""/>
        <dsp:cNvSpPr/>
      </dsp:nvSpPr>
      <dsp:spPr>
        <a:xfrm>
          <a:off x="720566" y="1464"/>
          <a:ext cx="33942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Alien rock</a:t>
          </a:r>
        </a:p>
      </dsp:txBody>
      <dsp:txXfrm>
        <a:off x="720566" y="1464"/>
        <a:ext cx="3394233" cy="623866"/>
      </dsp:txXfrm>
    </dsp:sp>
    <dsp:sp modelId="{9B690DE2-B9FB-4C27-9E85-CA9193FB8E7A}">
      <dsp:nvSpPr>
        <dsp:cNvPr id="0" name=""/>
        <dsp:cNvSpPr/>
      </dsp:nvSpPr>
      <dsp:spPr>
        <a:xfrm>
          <a:off x="0" y="781297"/>
          <a:ext cx="41148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43B27-0B6B-46FE-A1ED-F36E09703BDE}">
      <dsp:nvSpPr>
        <dsp:cNvPr id="0" name=""/>
        <dsp:cNvSpPr/>
      </dsp:nvSpPr>
      <dsp:spPr>
        <a:xfrm>
          <a:off x="188719" y="921667"/>
          <a:ext cx="343126" cy="3431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D0AAD-5DA8-4AF7-9697-870475D9CFC0}">
      <dsp:nvSpPr>
        <dsp:cNvPr id="0" name=""/>
        <dsp:cNvSpPr/>
      </dsp:nvSpPr>
      <dsp:spPr>
        <a:xfrm>
          <a:off x="720566" y="781297"/>
          <a:ext cx="33942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Plagioclase feldspar</a:t>
          </a:r>
        </a:p>
      </dsp:txBody>
      <dsp:txXfrm>
        <a:off x="720566" y="781297"/>
        <a:ext cx="3394233" cy="623866"/>
      </dsp:txXfrm>
    </dsp:sp>
    <dsp:sp modelId="{DDD1C8FE-CCC9-4902-BF96-5E5F336F3D7C}">
      <dsp:nvSpPr>
        <dsp:cNvPr id="0" name=""/>
        <dsp:cNvSpPr/>
      </dsp:nvSpPr>
      <dsp:spPr>
        <a:xfrm>
          <a:off x="0" y="1561131"/>
          <a:ext cx="41148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1092FC-9AEA-47DB-84CD-7D70D4977702}">
      <dsp:nvSpPr>
        <dsp:cNvPr id="0" name=""/>
        <dsp:cNvSpPr/>
      </dsp:nvSpPr>
      <dsp:spPr>
        <a:xfrm>
          <a:off x="188719" y="1701501"/>
          <a:ext cx="343126" cy="3431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8A151-5565-4750-84D0-167AD5845D25}">
      <dsp:nvSpPr>
        <dsp:cNvPr id="0" name=""/>
        <dsp:cNvSpPr/>
      </dsp:nvSpPr>
      <dsp:spPr>
        <a:xfrm>
          <a:off x="720566" y="1561131"/>
          <a:ext cx="33942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Frozen magma</a:t>
          </a:r>
        </a:p>
      </dsp:txBody>
      <dsp:txXfrm>
        <a:off x="720566" y="1561131"/>
        <a:ext cx="3394233" cy="623866"/>
      </dsp:txXfrm>
    </dsp:sp>
    <dsp:sp modelId="{38237337-29A9-4332-997A-62A8EDB94328}">
      <dsp:nvSpPr>
        <dsp:cNvPr id="0" name=""/>
        <dsp:cNvSpPr/>
      </dsp:nvSpPr>
      <dsp:spPr>
        <a:xfrm>
          <a:off x="0" y="2340964"/>
          <a:ext cx="41148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696F3-67D3-4CBE-8087-4E96D7EF552B}">
      <dsp:nvSpPr>
        <dsp:cNvPr id="0" name=""/>
        <dsp:cNvSpPr/>
      </dsp:nvSpPr>
      <dsp:spPr>
        <a:xfrm>
          <a:off x="188719" y="2481334"/>
          <a:ext cx="343126" cy="3431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A1998-2998-4E78-9F63-D9F258FE01C3}">
      <dsp:nvSpPr>
        <dsp:cNvPr id="0" name=""/>
        <dsp:cNvSpPr/>
      </dsp:nvSpPr>
      <dsp:spPr>
        <a:xfrm>
          <a:off x="720566" y="2340964"/>
          <a:ext cx="33942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Calcite</a:t>
          </a:r>
        </a:p>
      </dsp:txBody>
      <dsp:txXfrm>
        <a:off x="720566" y="2340964"/>
        <a:ext cx="3394233" cy="623866"/>
      </dsp:txXfrm>
    </dsp:sp>
    <dsp:sp modelId="{1E7F9E18-F8C3-4BB0-99A8-D7872E30851B}">
      <dsp:nvSpPr>
        <dsp:cNvPr id="0" name=""/>
        <dsp:cNvSpPr/>
      </dsp:nvSpPr>
      <dsp:spPr>
        <a:xfrm>
          <a:off x="0" y="3120798"/>
          <a:ext cx="41148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1F1C0-30A1-47EA-9AE5-AA9B425DD12E}">
      <dsp:nvSpPr>
        <dsp:cNvPr id="0" name=""/>
        <dsp:cNvSpPr/>
      </dsp:nvSpPr>
      <dsp:spPr>
        <a:xfrm>
          <a:off x="188719" y="3261168"/>
          <a:ext cx="343126" cy="3431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7A16C-DA28-407E-A548-25CC8183A83D}">
      <dsp:nvSpPr>
        <dsp:cNvPr id="0" name=""/>
        <dsp:cNvSpPr/>
      </dsp:nvSpPr>
      <dsp:spPr>
        <a:xfrm>
          <a:off x="720566" y="3120798"/>
          <a:ext cx="33942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Serpentine</a:t>
          </a:r>
        </a:p>
      </dsp:txBody>
      <dsp:txXfrm>
        <a:off x="720566" y="3120798"/>
        <a:ext cx="3394233" cy="623866"/>
      </dsp:txXfrm>
    </dsp:sp>
    <dsp:sp modelId="{D724534C-CCF1-4465-A0AB-C29A7890B088}">
      <dsp:nvSpPr>
        <dsp:cNvPr id="0" name=""/>
        <dsp:cNvSpPr/>
      </dsp:nvSpPr>
      <dsp:spPr>
        <a:xfrm>
          <a:off x="0" y="3900632"/>
          <a:ext cx="41148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49E16-782E-43C2-8EEC-08C9EDC83733}">
      <dsp:nvSpPr>
        <dsp:cNvPr id="0" name=""/>
        <dsp:cNvSpPr/>
      </dsp:nvSpPr>
      <dsp:spPr>
        <a:xfrm>
          <a:off x="188719" y="4041002"/>
          <a:ext cx="343126" cy="3431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B4A0D-F66B-467B-A5D8-CC746EDA3C92}">
      <dsp:nvSpPr>
        <dsp:cNvPr id="0" name=""/>
        <dsp:cNvSpPr/>
      </dsp:nvSpPr>
      <dsp:spPr>
        <a:xfrm>
          <a:off x="720566" y="3900632"/>
          <a:ext cx="33942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 don’t know. Guess I should have asked?</a:t>
          </a:r>
        </a:p>
      </dsp:txBody>
      <dsp:txXfrm>
        <a:off x="720566" y="3900632"/>
        <a:ext cx="3394233" cy="623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B74C3-6382-40B6-B894-684CBEADA4CC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9BA6-4D66-4725-AD70-AD53761C8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5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26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171450" indent="-171450">
              <a:buFontTx/>
              <a:buChar char="-"/>
            </a:pPr>
            <a:r>
              <a:rPr lang="en-US" dirty="0"/>
              <a:t>Sideways? WAY</a:t>
            </a:r>
            <a:r>
              <a:rPr lang="en-US" baseline="0" dirty="0"/>
              <a:t> too much.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Why is there an atmosphere?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Space-hardened creature? With 1 </a:t>
            </a:r>
            <a:r>
              <a:rPr lang="en-US" baseline="0" dirty="0" err="1"/>
              <a:t>atm</a:t>
            </a:r>
            <a:r>
              <a:rPr lang="en-US" baseline="0" dirty="0"/>
              <a:t> pressure inside?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Asteroids are NOT that close together for very long.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227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362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362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047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indent="0"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49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98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64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36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0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41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87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37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49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21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552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210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Plutino</a:t>
            </a:r>
            <a:r>
              <a:rPr lang="en-US" baseline="0" dirty="0"/>
              <a:t> = 3:2 resonance w/Neptune; </a:t>
            </a:r>
            <a:r>
              <a:rPr lang="en-US" baseline="0" dirty="0" err="1"/>
              <a:t>Plutoid</a:t>
            </a:r>
            <a:r>
              <a:rPr lang="en-US" baseline="0" dirty="0"/>
              <a:t> = trans-Neptunian dwarf planet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F59BA6-4D66-4725-AD70-AD53761C81C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51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FD18E0D4-913A-4D52-924D-EDECFFBA6401}" type="slidenum">
              <a:rPr lang="en-GB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29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5769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57700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25944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FD18E0D4-913A-4D52-924D-EDECFFBA6401}" type="slidenum">
              <a:rPr lang="en-GB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30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57699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57700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229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91CC8A1-A6A1-4D90-B33B-A16C701CCEC3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31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4438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443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55579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D6940418-33C7-4C51-BFA7-C2981F3C2333}" type="slidenum">
              <a:rPr lang="en-GB" altLang="en-US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32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5872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58724" name="Text Box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>
                <a:latin typeface="Arial" panose="020B0604020202020204" pitchFamily="34" charset="0"/>
              </a:rPr>
              <a:t>From wikipedia: TNOs are thought to have icy cores and therefore would require a diameter of perhaps 400 km to relax into gravitational equilibrium, making them dwarf planets of the plutoid class.</a:t>
            </a:r>
          </a:p>
        </p:txBody>
      </p:sp>
      <p:sp>
        <p:nvSpPr>
          <p:cNvPr id="158725" name="Text Box 3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Calibri" panose="020F0502020204030204" pitchFamily="34" charset="0"/>
              <a:buNone/>
            </a:pPr>
            <a:fld id="{8E99BE82-6211-400E-B17E-4A9EF441C54B}" type="slidenum">
              <a:rPr lang="en-GB" altLang="en-US">
                <a:latin typeface="Calibri" panose="020F0502020204030204" pitchFamily="34" charset="0"/>
              </a:rPr>
              <a:pPr algn="r" eaLnBrk="1" hangingPunct="1">
                <a:spcBef>
                  <a:spcPct val="0"/>
                </a:spcBef>
                <a:buFont typeface="Calibri" panose="020F0502020204030204" pitchFamily="34" charset="0"/>
                <a:buNone/>
              </a:pPr>
              <a:t>32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584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91CC8A1-A6A1-4D90-B33B-A16C701CCEC3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33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4438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443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2158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91CC8A1-A6A1-4D90-B33B-A16C701CCEC3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34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4438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443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09566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91CC8A1-A6A1-4D90-B33B-A16C701CCEC3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35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4438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443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25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391CC8A1-A6A1-4D90-B33B-A16C701CCEC3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36</a:t>
            </a:fld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44387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44388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91566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3D68E88-7381-4CED-9414-17F29F642E16}" type="slidenum">
              <a:rPr lang="en-US" smtClean="0">
                <a:latin typeface="Arial" charset="0"/>
              </a:rPr>
              <a:pPr eaLnBrk="1" hangingPunct="1"/>
              <a:t>43</a:t>
            </a:fld>
            <a:endParaRPr lang="en-US">
              <a:latin typeface="Arial" charset="0"/>
            </a:endParaRPr>
          </a:p>
        </p:txBody>
      </p:sp>
      <p:sp>
        <p:nvSpPr>
          <p:cNvPr id="614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Text Box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eaLnBrk="1" hangingPunct="1">
              <a:spcBef>
                <a:spcPct val="0"/>
              </a:spcBef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43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BF0ED29-B5D6-486A-B137-56E96C1905A6}" type="slidenum">
              <a:rPr lang="en-US" smtClean="0">
                <a:latin typeface="Arial" charset="0"/>
              </a:rPr>
              <a:pPr eaLnBrk="1" hangingPunct="1"/>
              <a:t>46</a:t>
            </a:fld>
            <a:endParaRPr lang="en-US">
              <a:latin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/>
              <a:t>“Pillars of Creation” – gas/dust clouds deep in the Eagle Nebula ~7000 </a:t>
            </a:r>
            <a:r>
              <a:rPr lang="en-US" dirty="0" err="1"/>
              <a:t>ly</a:t>
            </a:r>
            <a:r>
              <a:rPr lang="en-US" dirty="0"/>
              <a:t> from here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50572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9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1pPr>
            <a:lvl2pPr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2pPr>
            <a:lvl3pPr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3pPr>
            <a:lvl4pPr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4pPr>
            <a:lvl5pPr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5pPr>
            <a:lvl6pPr marL="2378560" indent="-216233" defTabSz="43246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6pPr>
            <a:lvl7pPr marL="2811026" indent="-216233" defTabSz="43246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7pPr>
            <a:lvl8pPr marL="3243491" indent="-216233" defTabSz="43246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8pPr>
            <a:lvl9pPr marL="3675957" indent="-216233" defTabSz="43246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32465" algn="l"/>
                <a:tab pos="864931" algn="l"/>
                <a:tab pos="1297396" algn="l"/>
                <a:tab pos="1729862" algn="l"/>
                <a:tab pos="2162327" algn="l"/>
                <a:tab pos="2594793" algn="l"/>
                <a:tab pos="3027258" algn="l"/>
                <a:tab pos="3459724" algn="l"/>
                <a:tab pos="3892189" algn="l"/>
                <a:tab pos="4324655" algn="l"/>
                <a:tab pos="4757120" algn="l"/>
                <a:tab pos="5189586" algn="l"/>
                <a:tab pos="5622051" algn="l"/>
                <a:tab pos="6054517" algn="l"/>
                <a:tab pos="6486982" algn="l"/>
                <a:tab pos="6919448" algn="l"/>
                <a:tab pos="7351913" algn="l"/>
                <a:tab pos="7784379" algn="l"/>
                <a:tab pos="8216844" algn="l"/>
                <a:tab pos="8649310" algn="l"/>
              </a:tabLst>
              <a:defRPr sz="23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4714794F-615B-46F7-888A-C03915D8ABC5}" type="slidenum">
              <a:rPr lang="en-US" sz="1200">
                <a:solidFill>
                  <a:srgbClr val="000000"/>
                </a:solidFill>
              </a:rPr>
              <a:pPr/>
              <a:t>47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3885903" y="8687405"/>
            <a:ext cx="2972097" cy="456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601" tIns="45630" rIns="91601" bIns="4563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3CD1E278-3B69-4CFB-B293-1FF17D28A8FA}" type="slidenum">
              <a:rPr lang="en-US" sz="1200">
                <a:solidFill>
                  <a:srgbClr val="C44A09"/>
                </a:solidFill>
              </a:rPr>
              <a:pPr algn="r">
                <a:buClrTx/>
                <a:buFontTx/>
                <a:buNone/>
              </a:pPr>
              <a:t>47</a:t>
            </a:fld>
            <a:endParaRPr lang="en-US" sz="1200">
              <a:solidFill>
                <a:srgbClr val="C44A09"/>
              </a:solidFill>
            </a:endParaRPr>
          </a:p>
        </p:txBody>
      </p:sp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166812" y="674310"/>
            <a:ext cx="4525864" cy="344865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493" tIns="43247" rIns="86493" bIns="43247" anchor="ctr"/>
          <a:lstStyle/>
          <a:p>
            <a:endParaRPr lang="en-US"/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body"/>
          </p:nvPr>
        </p:nvSpPr>
        <p:spPr>
          <a:xfrm>
            <a:off x="913805" y="4343703"/>
            <a:ext cx="5028903" cy="4222750"/>
          </a:xfr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040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B90A93A-A2ED-4994-9E38-40E871C32909}" type="slidenum">
              <a:rPr lang="en-US" smtClean="0">
                <a:latin typeface="Arial" charset="0"/>
              </a:rPr>
              <a:pPr eaLnBrk="1" hangingPunct="1"/>
              <a:t>48</a:t>
            </a:fld>
            <a:endParaRPr lang="en-US">
              <a:latin typeface="Arial" charset="0"/>
            </a:endParaRPr>
          </a:p>
        </p:txBody>
      </p:sp>
      <p:sp>
        <p:nvSpPr>
          <p:cNvPr id="686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Text Box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eaLnBrk="1" hangingPunct="1">
              <a:spcBef>
                <a:spcPct val="0"/>
              </a:spcBef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4993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Text Box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ctr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293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Text Box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ctr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338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4A80F-C029-ACA7-5895-9123703F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1">
            <a:extLst>
              <a:ext uri="{FF2B5EF4-FFF2-40B4-BE49-F238E27FC236}">
                <a16:creationId xmlns:a16="http://schemas.microsoft.com/office/drawing/2014/main" id="{F5520F65-8FA6-9E1C-3EFA-07177E9867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Text Box 2">
            <a:extLst>
              <a:ext uri="{FF2B5EF4-FFF2-40B4-BE49-F238E27FC236}">
                <a16:creationId xmlns:a16="http://schemas.microsoft.com/office/drawing/2014/main" id="{8743BFC1-E12B-52D5-948D-E60763A2EE8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ctr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973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39F35FC5-2358-4293-84A0-2439006408BA}" type="slidenum">
              <a:rPr lang="en-US" smtClean="0">
                <a:latin typeface="Arial" charset="0"/>
              </a:rPr>
              <a:pPr eaLnBrk="1" hangingPunct="1"/>
              <a:t>52</a:t>
            </a:fld>
            <a:endParaRPr lang="en-US">
              <a:latin typeface="Arial" charset="0"/>
            </a:endParaRPr>
          </a:p>
        </p:txBody>
      </p:sp>
      <p:sp>
        <p:nvSpPr>
          <p:cNvPr id="747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Text Box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eaLnBrk="1" hangingPunct="1">
              <a:spcBef>
                <a:spcPct val="0"/>
              </a:spcBef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3910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6398ED7-8D99-40A3-AAE6-AEA96EFE723C}" type="slidenum">
              <a:rPr lang="en-US" smtClean="0">
                <a:latin typeface="Arial" charset="0"/>
              </a:rPr>
              <a:pPr eaLnBrk="1" hangingPunct="1"/>
              <a:t>53</a:t>
            </a:fld>
            <a:endParaRPr lang="en-US">
              <a:latin typeface="Arial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1120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71DC734-9410-41D4-93DC-2D6B4EC7A621}" type="slidenum">
              <a:rPr lang="en-US" smtClean="0">
                <a:latin typeface="Arial" charset="0"/>
              </a:rPr>
              <a:pPr eaLnBrk="1" hangingPunct="1"/>
              <a:t>54</a:t>
            </a:fld>
            <a:endParaRPr lang="en-US">
              <a:latin typeface="Arial" charset="0"/>
            </a:endParaRPr>
          </a:p>
        </p:txBody>
      </p:sp>
      <p:sp>
        <p:nvSpPr>
          <p:cNvPr id="768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Text Box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 eaLnBrk="1" hangingPunct="1">
              <a:spcBef>
                <a:spcPct val="0"/>
              </a:spcBef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8885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480D-5474-60E0-5BB2-D767B153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D4C6493-8D7E-2EF5-5CF6-996A52031E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AC1C13A-EF5E-42A6-A541-B5BAB9886EDF}" type="slidenum">
              <a:rPr lang="en-US" smtClean="0">
                <a:latin typeface="Arial" pitchFamily="34" charset="0"/>
              </a:rPr>
              <a:pPr eaLnBrk="1" hangingPunct="1"/>
              <a:t>55</a:t>
            </a:fld>
            <a:endParaRPr lang="en-US">
              <a:latin typeface="Arial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D711967F-5B0C-0403-FAB7-D3E296D9AF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F28ECBC4-9698-1972-42DD-11EF01371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5403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AC1C13A-EF5E-42A6-A541-B5BAB9886EDF}" type="slidenum">
              <a:rPr lang="en-US" smtClean="0">
                <a:latin typeface="Arial" pitchFamily="34" charset="0"/>
              </a:rPr>
              <a:pPr eaLnBrk="1" hangingPunct="1"/>
              <a:t>56</a:t>
            </a:fld>
            <a:endParaRPr lang="en-US">
              <a:latin typeface="Arial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3552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AC1C13A-EF5E-42A6-A541-B5BAB9886EDF}" type="slidenum">
              <a:rPr lang="en-US" smtClean="0">
                <a:latin typeface="Arial" pitchFamily="34" charset="0"/>
              </a:rPr>
              <a:pPr eaLnBrk="1" hangingPunct="1"/>
              <a:t>58</a:t>
            </a:fld>
            <a:endParaRPr lang="en-US">
              <a:latin typeface="Arial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3552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96DC5B55-2E10-4057-9A0F-A9F0F496FC65}" type="slidenum">
              <a:rPr lang="en-US" smtClean="0">
                <a:latin typeface="Arial" pitchFamily="34" charset="0"/>
              </a:rPr>
              <a:pPr eaLnBrk="1" hangingPunct="1"/>
              <a:t>59</a:t>
            </a:fld>
            <a:endParaRPr lang="en-US">
              <a:latin typeface="Arial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5225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424CAF3-F66E-4C29-81D1-F503C9BE43B6}" type="slidenum">
              <a:rPr lang="en-US" smtClean="0">
                <a:latin typeface="Arial" pitchFamily="34" charset="0"/>
              </a:rPr>
              <a:pPr eaLnBrk="1" hangingPunct="1"/>
              <a:t>60</a:t>
            </a:fld>
            <a:endParaRPr lang="en-US">
              <a:latin typeface="Arial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7569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AB9A78B-B11F-4A35-A85C-A08556D1A2B5}" type="slidenum">
              <a:rPr lang="en-US" smtClean="0">
                <a:latin typeface="Arial" pitchFamily="34" charset="0"/>
              </a:rPr>
              <a:pPr eaLnBrk="1" hangingPunct="1"/>
              <a:t>61</a:t>
            </a:fld>
            <a:endParaRPr lang="en-US">
              <a:latin typeface="Arial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1174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2376040-623D-4FB6-BE6E-E728D07D6750}" type="slidenum">
              <a:rPr lang="en-US" smtClean="0">
                <a:latin typeface="Arial" pitchFamily="34" charset="0"/>
              </a:rPr>
              <a:pPr eaLnBrk="1" hangingPunct="1"/>
              <a:t>63</a:t>
            </a:fld>
            <a:endParaRPr lang="en-US">
              <a:latin typeface="Arial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8478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2376040-623D-4FB6-BE6E-E728D07D6750}" type="slidenum">
              <a:rPr lang="en-US" smtClean="0">
                <a:latin typeface="Arial" pitchFamily="34" charset="0"/>
              </a:rPr>
              <a:pPr eaLnBrk="1" hangingPunct="1"/>
              <a:t>64</a:t>
            </a:fld>
            <a:endParaRPr lang="en-US">
              <a:latin typeface="Arial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4845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2376040-623D-4FB6-BE6E-E728D07D6750}" type="slidenum">
              <a:rPr lang="en-US" smtClean="0">
                <a:latin typeface="Arial" pitchFamily="34" charset="0"/>
              </a:rPr>
              <a:pPr eaLnBrk="1" hangingPunct="1"/>
              <a:t>65</a:t>
            </a:fld>
            <a:endParaRPr lang="en-US">
              <a:latin typeface="Arial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174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34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George </a:t>
            </a:r>
            <a:r>
              <a:rPr lang="en-US" dirty="0" err="1"/>
              <a:t>Campe</a:t>
            </a:r>
            <a:r>
              <a:rPr lang="en-US" dirty="0"/>
              <a:t> (2/6)</a:t>
            </a:r>
          </a:p>
          <a:p>
            <a:r>
              <a:rPr lang="en-US" dirty="0"/>
              <a:t>James</a:t>
            </a:r>
            <a:r>
              <a:rPr lang="en-US" baseline="0" dirty="0"/>
              <a:t> Ramirez</a:t>
            </a:r>
          </a:p>
          <a:p>
            <a:r>
              <a:rPr lang="en-US" baseline="0"/>
              <a:t>Stefan Fasano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F59BA6-4D66-4725-AD70-AD53761C81C8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337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/>
          <a:p>
            <a:pPr>
              <a:spcBef>
                <a:spcPct val="0"/>
              </a:spcBef>
            </a:pPr>
            <a:r>
              <a:rPr lang="en-US"/>
              <a:t>Lithosphere: heat transfer by conduction; asthenosphere: heat transfer by convection.</a:t>
            </a:r>
          </a:p>
        </p:txBody>
      </p:sp>
      <p:sp>
        <p:nvSpPr>
          <p:cNvPr id="788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defTabSz="457200">
              <a:defRPr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 defTabSz="457200">
              <a:defRPr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66439EEC-85EB-4979-B050-03972E8B1136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 eaLnBrk="1" hangingPunct="1"/>
              <a:t>71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391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44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defTabSz="457200">
              <a:defRPr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 defTabSz="457200">
              <a:defRPr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4A9CE77D-4F23-4C96-BC2E-EAD64F690F8C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 eaLnBrk="1" hangingPunct="1"/>
              <a:t>72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6652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 txBox="1"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044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defTabSz="457200">
              <a:defRPr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 defTabSz="457200">
              <a:defRPr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algn="r" eaLnBrk="1" hangingPunct="1"/>
            <a:fld id="{4A9CE77D-4F23-4C96-BC2E-EAD64F690F8C}" type="slidenum">
              <a:rPr lang="en-US" sz="1200">
                <a:solidFill>
                  <a:schemeClr val="tx1"/>
                </a:solidFill>
                <a:latin typeface="Calibri" pitchFamily="34" charset="0"/>
              </a:rPr>
              <a:pPr algn="r" eaLnBrk="1" hangingPunct="1"/>
              <a:t>73</a:t>
            </a:fld>
            <a:endParaRPr lang="en-US" sz="1200">
              <a:solidFill>
                <a:schemeClr val="tx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66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9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09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65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3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3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5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66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5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8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57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588"/>
            <a:ext cx="8220075" cy="1416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3838" cy="4516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3438" y="1600200"/>
            <a:ext cx="4033837" cy="4516438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664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02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3790147946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34173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AEBE9-9606-48E8-9056-475AEEE7F462}" type="datetimeFigureOut">
              <a:rPr lang="en-US" smtClean="0"/>
              <a:t>2/19/25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4922B-4803-4FCE-8B1B-F03A40B95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2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3.jpeg"/><Relationship Id="rId5" Type="http://schemas.openxmlformats.org/officeDocument/2006/relationships/hyperlink" Target="https://www.youtube.com/watch?v=9AKMLJ6UTo0" TargetMode="External"/><Relationship Id="rId4" Type="http://schemas.openxmlformats.org/officeDocument/2006/relationships/hyperlink" Target="https://www.youtube.com/watch?v=60dFh008LK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7.jpeg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notesSlide" Target="../notesSlides/notesSlide7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5.jpeg"/><Relationship Id="rId9" Type="http://schemas.microsoft.com/office/2007/relationships/diagramDrawing" Target="../diagrams/drawin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13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14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notesSlide" Target="../notesSlides/notesSlide16.xml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fo0Hmch2YS0?feature=oembed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zGcsi8h5WyQ?feature=oembed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12.xml"/><Relationship Id="rId1" Type="http://schemas.openxmlformats.org/officeDocument/2006/relationships/video" Target="https://www.youtube.com/embed/QEbDoad7o8o?feature=oembed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pkph6t4Csw?feature=oembed" TargetMode="External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5" Type="http://schemas.openxmlformats.org/officeDocument/2006/relationships/hyperlink" Target="http://pluto.jhuapl.edu/" TargetMode="External"/><Relationship Id="rId4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notesSlide" Target="../notesSlides/notesSlide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4" Type="http://schemas.openxmlformats.org/officeDocument/2006/relationships/image" Target="../media/image2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4" Type="http://schemas.openxmlformats.org/officeDocument/2006/relationships/image" Target="../media/image29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6" Type="http://schemas.openxmlformats.org/officeDocument/2006/relationships/image" Target="../media/image30.jpeg"/><Relationship Id="rId5" Type="http://schemas.openxmlformats.org/officeDocument/2006/relationships/hyperlink" Target="http://web.gps.caltech.edu/~mbrown/dwarfplanets/" TargetMode="External"/><Relationship Id="rId4" Type="http://schemas.openxmlformats.org/officeDocument/2006/relationships/hyperlink" Target="http://solarsystem.nasa.gov/planets/profile.cfm?Object=Dwarf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notesSlide" Target="../notesSlides/notesSlide24.xml"/><Relationship Id="rId7" Type="http://schemas.openxmlformats.org/officeDocument/2006/relationships/diagramColors" Target="../diagrams/colors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42.jp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280.png"/><Relationship Id="rId9" Type="http://schemas.openxmlformats.org/officeDocument/2006/relationships/image" Target="../media/image4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60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hyperlink" Target="http://xkcd.com/681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image" Target="../media/image50.png"/><Relationship Id="rId4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5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Relationship Id="rId4" Type="http://schemas.openxmlformats.org/officeDocument/2006/relationships/image" Target="../media/image5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Relationship Id="rId4" Type="http://schemas.openxmlformats.org/officeDocument/2006/relationships/image" Target="../media/image59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https://www.youtube.com/embed/yXq1i3HlumA?feature=oembed" TargetMode="External"/><Relationship Id="rId1" Type="http://schemas.openxmlformats.org/officeDocument/2006/relationships/tags" Target="../tags/tag42.xml"/><Relationship Id="rId5" Type="http://schemas.openxmlformats.org/officeDocument/2006/relationships/image" Target="../media/image60.jpeg"/><Relationship Id="rId4" Type="http://schemas.openxmlformats.org/officeDocument/2006/relationships/notesSlide" Target="../notesSlides/notesSlide3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image" Target="../media/image61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Relationship Id="rId4" Type="http://schemas.openxmlformats.org/officeDocument/2006/relationships/image" Target="../media/image64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Relationship Id="rId4" Type="http://schemas.openxmlformats.org/officeDocument/2006/relationships/hyperlink" Target="https://www.youtube.com/watch?v=UIKmSQqp8wY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UIKmSQqp8wY?feature=oembed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5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notesSlide" Target="../notesSlides/notesSlide40.xml"/><Relationship Id="rId7" Type="http://schemas.openxmlformats.org/officeDocument/2006/relationships/diagramColors" Target="../diagrams/colors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notesSlide" Target="../notesSlides/notesSlide41.xml"/><Relationship Id="rId7" Type="http://schemas.openxmlformats.org/officeDocument/2006/relationships/diagramQuickStyle" Target="../diagrams/quickStyl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66.jpeg"/><Relationship Id="rId9" Type="http://schemas.microsoft.com/office/2007/relationships/diagramDrawing" Target="../diagrams/drawing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.xml"/><Relationship Id="rId6" Type="http://schemas.openxmlformats.org/officeDocument/2006/relationships/hyperlink" Target="https://www.youtube.com/watch?v=X64ZoijzTWI&amp;ab_channel=EliseSpruit" TargetMode="External"/><Relationship Id="rId5" Type="http://schemas.openxmlformats.org/officeDocument/2006/relationships/hyperlink" Target="https://www.youtube.com/watch?v=VXeOh3xmrQM" TargetMode="External"/><Relationship Id="rId4" Type="http://schemas.openxmlformats.org/officeDocument/2006/relationships/hyperlink" Target="https://www.youtube.com/watch?v=yXq1i3HlumA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XeOh3xmrQM?feature=oembed" TargetMode="Externa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notesSlide" Target="../notesSlides/notesSlide43.xml"/><Relationship Id="rId7" Type="http://schemas.openxmlformats.org/officeDocument/2006/relationships/diagramQuickStyle" Target="../diagrams/quickStyl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4" Type="http://schemas.openxmlformats.org/officeDocument/2006/relationships/image" Target="../media/image71.jpeg"/><Relationship Id="rId9" Type="http://schemas.microsoft.com/office/2007/relationships/diagramDrawing" Target="../diagrams/drawing10.xml"/></Relationships>
</file>

<file path=ppt/slides/_rels/slide6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notesSlide" Target="../notesSlides/notesSlide44.xml"/><Relationship Id="rId7" Type="http://schemas.openxmlformats.org/officeDocument/2006/relationships/diagramColors" Target="../diagrams/colors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5.xml"/><Relationship Id="rId4" Type="http://schemas.openxmlformats.org/officeDocument/2006/relationships/image" Target="../media/image7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73.png"/><Relationship Id="rId5" Type="http://schemas.openxmlformats.org/officeDocument/2006/relationships/notesSlide" Target="../notesSlides/notesSlide47.xml"/><Relationship Id="rId4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7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slideLayout" Target="../slideLayouts/slideLayout13.xml"/><Relationship Id="rId7" Type="http://schemas.openxmlformats.org/officeDocument/2006/relationships/diagramColors" Target="../diagrams/colors13.xml"/><Relationship Id="rId2" Type="http://schemas.openxmlformats.org/officeDocument/2006/relationships/video" Target="https://www.youtube.com/embed/0iKJVpgAr7w?feature=oembed" TargetMode="External"/><Relationship Id="rId1" Type="http://schemas.openxmlformats.org/officeDocument/2006/relationships/tags" Target="../tags/tag61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Relationship Id="rId9" Type="http://schemas.openxmlformats.org/officeDocument/2006/relationships/image" Target="../media/image85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Relationship Id="rId4" Type="http://schemas.openxmlformats.org/officeDocument/2006/relationships/image" Target="../media/image8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Relationship Id="rId4" Type="http://schemas.openxmlformats.org/officeDocument/2006/relationships/image" Target="../media/image87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0598-9C21-6878-9E9C-763DF47C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638800"/>
            <a:ext cx="6858000" cy="786703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1" dirty="0"/>
              <a:t>Sit in your Groups from Discussion</a:t>
            </a:r>
            <a:br>
              <a:rPr lang="en-US" sz="3600" b="1" dirty="0"/>
            </a:br>
            <a:r>
              <a:rPr lang="en-US" sz="3600" b="1" dirty="0"/>
              <a:t>You’ll get used to Group Work and Collaboration FAST!!!</a:t>
            </a:r>
          </a:p>
        </p:txBody>
      </p:sp>
      <p:pic>
        <p:nvPicPr>
          <p:cNvPr id="1026" name="Picture 2" descr="THIS IS AFROFUTURISM: The Black Panther Phenomenon - Past, Present ...">
            <a:extLst>
              <a:ext uri="{FF2B5EF4-FFF2-40B4-BE49-F238E27FC236}">
                <a16:creationId xmlns:a16="http://schemas.microsoft.com/office/drawing/2014/main" id="{112C98CA-082F-B4DD-4459-22EE991730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"/>
          <a:stretch/>
        </p:blipFill>
        <p:spPr bwMode="auto">
          <a:xfrm>
            <a:off x="20" y="10"/>
            <a:ext cx="9143980" cy="460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FB7FB62D-DD5B-C587-F53F-679128D41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829" y="4525778"/>
            <a:ext cx="9155399" cy="123363"/>
            <a:chOff x="-5025" y="6737718"/>
            <a:chExt cx="12207200" cy="123363"/>
          </a:xfrm>
        </p:grpSpPr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D474BA53-241B-ACB6-E742-B074F40EB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3797B091-2608-7480-FE24-507CC533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170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http://www.riverviews.net/wp-content/uploads/2012/01/flash-gordon.jpg"/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Astro 230: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the Science and Fiction of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Planetary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59404"/>
            <a:ext cx="6858000" cy="1098395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90000"/>
              </a:lnSpc>
            </a:pPr>
            <a:r>
              <a:rPr lang="en-US" sz="6700" dirty="0">
                <a:solidFill>
                  <a:srgbClr val="FFFFFF"/>
                </a:solidFill>
              </a:rPr>
              <a:t>Unit 1: Gravity, Density, Spin</a:t>
            </a:r>
          </a:p>
          <a:p>
            <a:pPr>
              <a:lnSpc>
                <a:spcPct val="90000"/>
              </a:lnSpc>
            </a:pPr>
            <a:r>
              <a:rPr lang="en-US" sz="6700" dirty="0">
                <a:solidFill>
                  <a:srgbClr val="FFFFFF"/>
                </a:solidFill>
              </a:rPr>
              <a:t>Prof. Marvin Q. Jones, Jr. 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US" i="1" dirty="0">
                <a:solidFill>
                  <a:srgbClr val="FFFFFF"/>
                </a:solidFill>
              </a:rPr>
              <a:t>Slides adopted from Dr. Alan Peel</a:t>
            </a:r>
          </a:p>
        </p:txBody>
      </p:sp>
    </p:spTree>
    <p:extLst>
      <p:ext uri="{BB962C8B-B14F-4D97-AF65-F5344CB8AC3E}">
        <p14:creationId xmlns:p14="http://schemas.microsoft.com/office/powerpoint/2010/main" val="1342029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/>
              <a:t>Example!</a:t>
            </a:r>
          </a:p>
        </p:txBody>
      </p:sp>
      <p:sp>
        <p:nvSpPr>
          <p:cNvPr id="308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9369" y="2071316"/>
            <a:ext cx="5035164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Watch these youtube clips from </a:t>
            </a:r>
            <a:r>
              <a:rPr lang="en-US" sz="1900" i="1"/>
              <a:t>The Empire Strikes Back: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>
                <a:hlinkClick r:id="rId4"/>
              </a:rPr>
              <a:t>https://www.youtube.com/watch?v=60dFh008LKo</a:t>
            </a:r>
            <a:r>
              <a:rPr lang="en-US" sz="1900"/>
              <a:t>   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>
                <a:hlinkClick r:id="rId5"/>
              </a:rPr>
              <a:t>https://www.youtube.com/watch?v=9AKMLJ6UTo0</a:t>
            </a:r>
            <a:endParaRPr lang="en-US" sz="1900"/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[Star Wars V: </a:t>
            </a:r>
            <a:br>
              <a:rPr lang="en-US" sz="1900"/>
            </a:br>
            <a:r>
              <a:rPr lang="en-US" sz="1900"/>
              <a:t>ch20 (38:32), ch27 (57:38)]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Enjoy and…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…criticize the science (</a:t>
            </a:r>
            <a:r>
              <a:rPr lang="en-US" sz="1900" b="1" i="1"/>
              <a:t>all</a:t>
            </a:r>
            <a:r>
              <a:rPr lang="en-US" sz="1900"/>
              <a:t> the </a:t>
            </a:r>
            <a:br>
              <a:rPr lang="en-US" sz="1900"/>
            </a:br>
            <a:r>
              <a:rPr lang="en-US" sz="1900"/>
              <a:t>science! Astronomy, chemistry, </a:t>
            </a:r>
            <a:br>
              <a:rPr lang="en-US" sz="1900"/>
            </a:br>
            <a:r>
              <a:rPr lang="en-US" sz="1900"/>
              <a:t>physics &amp; biology)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Talk to your neighbors?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sz="1900"/>
          </a:p>
        </p:txBody>
      </p:sp>
      <p:pic>
        <p:nvPicPr>
          <p:cNvPr id="2052" name="Picture 4" descr="http://img2.timeinc.net/ew/dynamic/imgs/110303/empire-asteroid-field_32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0" r="15556" b="1"/>
          <a:stretch/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567797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Example!</a:t>
            </a:r>
          </a:p>
        </p:txBody>
      </p:sp>
      <p:sp>
        <p:nvSpPr>
          <p:cNvPr id="3082" name="sketch line">
            <a:extLst>
              <a:ext uri="{FF2B5EF4-FFF2-40B4-BE49-F238E27FC236}">
                <a16:creationId xmlns:a16="http://schemas.microsoft.com/office/drawing/2014/main" id="{4C2A3DC3-F495-4B99-9FF3-3FB30D63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0060" y="2706624"/>
            <a:ext cx="5170932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[Star Wars V: 20, 27]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What’s wrong (if anything)</a:t>
            </a:r>
            <a:br>
              <a:rPr lang="en-US" sz="1900"/>
            </a:br>
            <a:r>
              <a:rPr lang="en-US" sz="1900"/>
              <a:t>with the: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…gravity?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…atmosphere?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…biology?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…astronomy?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Are we just spoiling a fun story?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Think, pair, share (“TPS”)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Talk to your neighbors!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sz="1900"/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sz="1900"/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sz="1900"/>
          </a:p>
        </p:txBody>
      </p:sp>
      <p:pic>
        <p:nvPicPr>
          <p:cNvPr id="2054" name="Picture 6" descr="http://www.hardcoregaming101.net/spacewar/asteroids-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77" r="26900" b="-3"/>
          <a:stretch/>
        </p:blipFill>
        <p:spPr bwMode="auto">
          <a:xfrm>
            <a:off x="6117340" y="-7"/>
            <a:ext cx="3026660" cy="4178808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img2.timeinc.net/ew/dynamic/imgs/110303/empire-asteroid-field_32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0"/>
          <a:stretch/>
        </p:blipFill>
        <p:spPr bwMode="auto">
          <a:xfrm>
            <a:off x="6108267" y="4267201"/>
            <a:ext cx="3035733" cy="2590808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63032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479160" y="390525"/>
            <a:ext cx="818223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Science Fiction?</a:t>
            </a:r>
          </a:p>
        </p:txBody>
      </p:sp>
      <p:sp>
        <p:nvSpPr>
          <p:cNvPr id="3083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82" y="3353101"/>
            <a:ext cx="7588949" cy="24474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928489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473188" y="643465"/>
            <a:ext cx="2921519" cy="18466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/>
              <a:t>What is Science Fiction?</a:t>
            </a:r>
          </a:p>
        </p:txBody>
      </p:sp>
      <p:sp>
        <p:nvSpPr>
          <p:cNvPr id="3082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659144"/>
            <a:ext cx="2674620" cy="18288"/>
          </a:xfrm>
          <a:custGeom>
            <a:avLst/>
            <a:gdLst>
              <a:gd name="connsiteX0" fmla="*/ 0 w 2674620"/>
              <a:gd name="connsiteY0" fmla="*/ 0 h 18288"/>
              <a:gd name="connsiteX1" fmla="*/ 641909 w 2674620"/>
              <a:gd name="connsiteY1" fmla="*/ 0 h 18288"/>
              <a:gd name="connsiteX2" fmla="*/ 1337310 w 2674620"/>
              <a:gd name="connsiteY2" fmla="*/ 0 h 18288"/>
              <a:gd name="connsiteX3" fmla="*/ 1979219 w 2674620"/>
              <a:gd name="connsiteY3" fmla="*/ 0 h 18288"/>
              <a:gd name="connsiteX4" fmla="*/ 2674620 w 2674620"/>
              <a:gd name="connsiteY4" fmla="*/ 0 h 18288"/>
              <a:gd name="connsiteX5" fmla="*/ 2674620 w 2674620"/>
              <a:gd name="connsiteY5" fmla="*/ 18288 h 18288"/>
              <a:gd name="connsiteX6" fmla="*/ 1952473 w 2674620"/>
              <a:gd name="connsiteY6" fmla="*/ 18288 h 18288"/>
              <a:gd name="connsiteX7" fmla="*/ 1257071 w 2674620"/>
              <a:gd name="connsiteY7" fmla="*/ 18288 h 18288"/>
              <a:gd name="connsiteX8" fmla="*/ 615163 w 2674620"/>
              <a:gd name="connsiteY8" fmla="*/ 18288 h 18288"/>
              <a:gd name="connsiteX9" fmla="*/ 0 w 2674620"/>
              <a:gd name="connsiteY9" fmla="*/ 18288 h 18288"/>
              <a:gd name="connsiteX10" fmla="*/ 0 w 267462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74620" h="18288" fill="none" extrusionOk="0">
                <a:moveTo>
                  <a:pt x="0" y="0"/>
                </a:moveTo>
                <a:cubicBezTo>
                  <a:pt x="223686" y="-27283"/>
                  <a:pt x="416037" y="8041"/>
                  <a:pt x="641909" y="0"/>
                </a:cubicBezTo>
                <a:cubicBezTo>
                  <a:pt x="867781" y="-8041"/>
                  <a:pt x="1125885" y="15252"/>
                  <a:pt x="1337310" y="0"/>
                </a:cubicBezTo>
                <a:cubicBezTo>
                  <a:pt x="1548735" y="-15252"/>
                  <a:pt x="1809020" y="-2338"/>
                  <a:pt x="1979219" y="0"/>
                </a:cubicBezTo>
                <a:cubicBezTo>
                  <a:pt x="2149418" y="2338"/>
                  <a:pt x="2403746" y="-23101"/>
                  <a:pt x="2674620" y="0"/>
                </a:cubicBezTo>
                <a:cubicBezTo>
                  <a:pt x="2674874" y="6173"/>
                  <a:pt x="2674321" y="9417"/>
                  <a:pt x="2674620" y="18288"/>
                </a:cubicBezTo>
                <a:cubicBezTo>
                  <a:pt x="2384204" y="39407"/>
                  <a:pt x="2124794" y="9377"/>
                  <a:pt x="1952473" y="18288"/>
                </a:cubicBezTo>
                <a:cubicBezTo>
                  <a:pt x="1780152" y="27199"/>
                  <a:pt x="1469502" y="9163"/>
                  <a:pt x="1257071" y="18288"/>
                </a:cubicBezTo>
                <a:cubicBezTo>
                  <a:pt x="1044640" y="27413"/>
                  <a:pt x="886842" y="49997"/>
                  <a:pt x="615163" y="18288"/>
                </a:cubicBezTo>
                <a:cubicBezTo>
                  <a:pt x="343484" y="-13421"/>
                  <a:pt x="280198" y="10146"/>
                  <a:pt x="0" y="18288"/>
                </a:cubicBezTo>
                <a:cubicBezTo>
                  <a:pt x="569" y="10806"/>
                  <a:pt x="-314" y="7671"/>
                  <a:pt x="0" y="0"/>
                </a:cubicBezTo>
                <a:close/>
              </a:path>
              <a:path w="2674620" h="18288" stroke="0" extrusionOk="0">
                <a:moveTo>
                  <a:pt x="0" y="0"/>
                </a:moveTo>
                <a:cubicBezTo>
                  <a:pt x="231855" y="-1293"/>
                  <a:pt x="402066" y="-28662"/>
                  <a:pt x="668655" y="0"/>
                </a:cubicBezTo>
                <a:cubicBezTo>
                  <a:pt x="935244" y="28662"/>
                  <a:pt x="1178759" y="24409"/>
                  <a:pt x="1364056" y="0"/>
                </a:cubicBezTo>
                <a:cubicBezTo>
                  <a:pt x="1549353" y="-24409"/>
                  <a:pt x="1706883" y="-9273"/>
                  <a:pt x="2005965" y="0"/>
                </a:cubicBezTo>
                <a:cubicBezTo>
                  <a:pt x="2305047" y="9273"/>
                  <a:pt x="2446507" y="-22114"/>
                  <a:pt x="2674620" y="0"/>
                </a:cubicBezTo>
                <a:cubicBezTo>
                  <a:pt x="2674290" y="6753"/>
                  <a:pt x="2674363" y="10653"/>
                  <a:pt x="2674620" y="18288"/>
                </a:cubicBezTo>
                <a:cubicBezTo>
                  <a:pt x="2376619" y="8269"/>
                  <a:pt x="2249009" y="47455"/>
                  <a:pt x="1979219" y="18288"/>
                </a:cubicBezTo>
                <a:cubicBezTo>
                  <a:pt x="1709429" y="-10879"/>
                  <a:pt x="1513733" y="36040"/>
                  <a:pt x="1364056" y="18288"/>
                </a:cubicBezTo>
                <a:cubicBezTo>
                  <a:pt x="1214379" y="536"/>
                  <a:pt x="982991" y="18989"/>
                  <a:pt x="748894" y="18288"/>
                </a:cubicBezTo>
                <a:cubicBezTo>
                  <a:pt x="514797" y="17587"/>
                  <a:pt x="177151" y="-5811"/>
                  <a:pt x="0" y="18288"/>
                </a:cubicBezTo>
                <a:cubicBezTo>
                  <a:pt x="-751" y="13461"/>
                  <a:pt x="911" y="748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3202" y="2807167"/>
            <a:ext cx="2921641" cy="338639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Science fiction (</a:t>
            </a:r>
            <a:r>
              <a:rPr lang="en-US" sz="1900" b="1" i="1"/>
              <a:t>roughly</a:t>
            </a:r>
            <a:r>
              <a:rPr lang="en-US" sz="1900"/>
              <a:t> two subcategories: social science fiction and hard science fiction)</a:t>
            </a:r>
          </a:p>
          <a:p>
            <a:pPr marL="0"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 			vs.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Space westerns, space opera, space wars, etc. which are westerns, opera, war simply set in space.</a:t>
            </a:r>
          </a:p>
        </p:txBody>
      </p:sp>
      <p:pic>
        <p:nvPicPr>
          <p:cNvPr id="4" name="Picture 6" descr="http://vinylzart.com/eshop/images/PulpCovers-AstoundingScienceFictionVol22No1September193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83559" y="164592"/>
            <a:ext cx="2246680" cy="345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://www.riverviews.net/wp-content/uploads/2012/01/flash-gordon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5916" y="421175"/>
            <a:ext cx="2839212" cy="212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http://www.biglittlebooks.com/graphic-sounds/buck_rogers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29695" y="3795522"/>
            <a:ext cx="1954407" cy="2398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linesonpaper.tripod.com/zast338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81917" y="2971759"/>
            <a:ext cx="2247210" cy="3221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615686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9AB13476-CE21-4746-B044-FD491AC84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471996" y="429768"/>
            <a:ext cx="3071304" cy="16425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Science Fiction?</a:t>
            </a:r>
          </a:p>
        </p:txBody>
      </p:sp>
      <p:sp>
        <p:nvSpPr>
          <p:cNvPr id="308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96" y="2423160"/>
            <a:ext cx="2907792" cy="18288"/>
          </a:xfrm>
          <a:custGeom>
            <a:avLst/>
            <a:gdLst>
              <a:gd name="connsiteX0" fmla="*/ 0 w 2907792"/>
              <a:gd name="connsiteY0" fmla="*/ 0 h 18288"/>
              <a:gd name="connsiteX1" fmla="*/ 552480 w 2907792"/>
              <a:gd name="connsiteY1" fmla="*/ 0 h 18288"/>
              <a:gd name="connsiteX2" fmla="*/ 1104961 w 2907792"/>
              <a:gd name="connsiteY2" fmla="*/ 0 h 18288"/>
              <a:gd name="connsiteX3" fmla="*/ 1599286 w 2907792"/>
              <a:gd name="connsiteY3" fmla="*/ 0 h 18288"/>
              <a:gd name="connsiteX4" fmla="*/ 2093610 w 2907792"/>
              <a:gd name="connsiteY4" fmla="*/ 0 h 18288"/>
              <a:gd name="connsiteX5" fmla="*/ 2907792 w 2907792"/>
              <a:gd name="connsiteY5" fmla="*/ 0 h 18288"/>
              <a:gd name="connsiteX6" fmla="*/ 2907792 w 2907792"/>
              <a:gd name="connsiteY6" fmla="*/ 18288 h 18288"/>
              <a:gd name="connsiteX7" fmla="*/ 2297156 w 2907792"/>
              <a:gd name="connsiteY7" fmla="*/ 18288 h 18288"/>
              <a:gd name="connsiteX8" fmla="*/ 1773753 w 2907792"/>
              <a:gd name="connsiteY8" fmla="*/ 18288 h 18288"/>
              <a:gd name="connsiteX9" fmla="*/ 1134039 w 2907792"/>
              <a:gd name="connsiteY9" fmla="*/ 18288 h 18288"/>
              <a:gd name="connsiteX10" fmla="*/ 494325 w 2907792"/>
              <a:gd name="connsiteY10" fmla="*/ 18288 h 18288"/>
              <a:gd name="connsiteX11" fmla="*/ 0 w 2907792"/>
              <a:gd name="connsiteY11" fmla="*/ 18288 h 18288"/>
              <a:gd name="connsiteX12" fmla="*/ 0 w 29077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07792" h="18288" fill="none" extrusionOk="0">
                <a:moveTo>
                  <a:pt x="0" y="0"/>
                </a:moveTo>
                <a:cubicBezTo>
                  <a:pt x="166537" y="2740"/>
                  <a:pt x="300437" y="11071"/>
                  <a:pt x="552480" y="0"/>
                </a:cubicBezTo>
                <a:cubicBezTo>
                  <a:pt x="804523" y="-11071"/>
                  <a:pt x="967889" y="888"/>
                  <a:pt x="1104961" y="0"/>
                </a:cubicBezTo>
                <a:cubicBezTo>
                  <a:pt x="1242033" y="-888"/>
                  <a:pt x="1415325" y="15820"/>
                  <a:pt x="1599286" y="0"/>
                </a:cubicBezTo>
                <a:cubicBezTo>
                  <a:pt x="1783248" y="-15820"/>
                  <a:pt x="1875653" y="-9230"/>
                  <a:pt x="2093610" y="0"/>
                </a:cubicBezTo>
                <a:cubicBezTo>
                  <a:pt x="2311567" y="9230"/>
                  <a:pt x="2618550" y="7358"/>
                  <a:pt x="2907792" y="0"/>
                </a:cubicBezTo>
                <a:cubicBezTo>
                  <a:pt x="2908004" y="6573"/>
                  <a:pt x="2907586" y="9886"/>
                  <a:pt x="2907792" y="18288"/>
                </a:cubicBezTo>
                <a:cubicBezTo>
                  <a:pt x="2607161" y="31037"/>
                  <a:pt x="2510774" y="18699"/>
                  <a:pt x="2297156" y="18288"/>
                </a:cubicBezTo>
                <a:cubicBezTo>
                  <a:pt x="2083538" y="17877"/>
                  <a:pt x="2013617" y="32593"/>
                  <a:pt x="1773753" y="18288"/>
                </a:cubicBezTo>
                <a:cubicBezTo>
                  <a:pt x="1533889" y="3983"/>
                  <a:pt x="1331732" y="36532"/>
                  <a:pt x="1134039" y="18288"/>
                </a:cubicBezTo>
                <a:cubicBezTo>
                  <a:pt x="936346" y="44"/>
                  <a:pt x="806538" y="2706"/>
                  <a:pt x="494325" y="18288"/>
                </a:cubicBezTo>
                <a:cubicBezTo>
                  <a:pt x="182112" y="33870"/>
                  <a:pt x="121770" y="6846"/>
                  <a:pt x="0" y="18288"/>
                </a:cubicBezTo>
                <a:cubicBezTo>
                  <a:pt x="346" y="10937"/>
                  <a:pt x="-865" y="8151"/>
                  <a:pt x="0" y="0"/>
                </a:cubicBezTo>
                <a:close/>
              </a:path>
              <a:path w="2907792" h="18288" stroke="0" extrusionOk="0">
                <a:moveTo>
                  <a:pt x="0" y="0"/>
                </a:moveTo>
                <a:cubicBezTo>
                  <a:pt x="290327" y="-571"/>
                  <a:pt x="292695" y="12246"/>
                  <a:pt x="581558" y="0"/>
                </a:cubicBezTo>
                <a:cubicBezTo>
                  <a:pt x="870421" y="-12246"/>
                  <a:pt x="1039058" y="-25832"/>
                  <a:pt x="1192195" y="0"/>
                </a:cubicBezTo>
                <a:cubicBezTo>
                  <a:pt x="1345332" y="25832"/>
                  <a:pt x="1529164" y="15265"/>
                  <a:pt x="1744675" y="0"/>
                </a:cubicBezTo>
                <a:cubicBezTo>
                  <a:pt x="1960186" y="-15265"/>
                  <a:pt x="2246714" y="-7873"/>
                  <a:pt x="2384389" y="0"/>
                </a:cubicBezTo>
                <a:cubicBezTo>
                  <a:pt x="2522064" y="7873"/>
                  <a:pt x="2737948" y="-23071"/>
                  <a:pt x="2907792" y="0"/>
                </a:cubicBezTo>
                <a:cubicBezTo>
                  <a:pt x="2907097" y="8541"/>
                  <a:pt x="2907547" y="12147"/>
                  <a:pt x="2907792" y="18288"/>
                </a:cubicBezTo>
                <a:cubicBezTo>
                  <a:pt x="2671444" y="43779"/>
                  <a:pt x="2446046" y="-6576"/>
                  <a:pt x="2268078" y="18288"/>
                </a:cubicBezTo>
                <a:cubicBezTo>
                  <a:pt x="2090110" y="43152"/>
                  <a:pt x="2005506" y="23839"/>
                  <a:pt x="1744675" y="18288"/>
                </a:cubicBezTo>
                <a:cubicBezTo>
                  <a:pt x="1483844" y="12737"/>
                  <a:pt x="1398995" y="-4268"/>
                  <a:pt x="1104961" y="18288"/>
                </a:cubicBezTo>
                <a:cubicBezTo>
                  <a:pt x="810927" y="40844"/>
                  <a:pt x="314406" y="46598"/>
                  <a:pt x="0" y="18288"/>
                </a:cubicBezTo>
                <a:cubicBezTo>
                  <a:pt x="775" y="9916"/>
                  <a:pt x="852" y="578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2116" y="2706624"/>
            <a:ext cx="3074214" cy="338639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/>
              <a:t>Did George Lucas and friends do a lot of research on planetary physics for the Star Wars series? 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/>
              <a:t>No, he/they did a lot of research on what makes a “good story”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/>
              <a:t>John Campbell </a:t>
            </a:r>
            <a:r>
              <a:rPr lang="en-US" sz="1800" i="1"/>
              <a:t>Hero with A Thousand Faces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800" b="1"/>
              <a:t>Name your favorite science fiction story (any format)</a:t>
            </a:r>
          </a:p>
        </p:txBody>
      </p:sp>
      <p:pic>
        <p:nvPicPr>
          <p:cNvPr id="1034" name="Picture 10" descr="http://elijahkinchspector.files.wordpress.com/2012/04/foundation-asimov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" b="6"/>
          <a:stretch/>
        </p:blipFill>
        <p:spPr bwMode="auto">
          <a:xfrm>
            <a:off x="3770700" y="10"/>
            <a:ext cx="2283650" cy="3597029"/>
          </a:xfrm>
          <a:custGeom>
            <a:avLst/>
            <a:gdLst/>
            <a:ahLst/>
            <a:cxnLst/>
            <a:rect l="l" t="t" r="r" b="b"/>
            <a:pathLst>
              <a:path w="3044866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8778" y="1230836"/>
                  <a:pt x="3024968" y="1520375"/>
                  <a:pt x="3040069" y="1809660"/>
                </a:cubicBezTo>
                <a:cubicBezTo>
                  <a:pt x="3049835" y="1950657"/>
                  <a:pt x="3044683" y="2092164"/>
                  <a:pt x="3024686" y="2232285"/>
                </a:cubicBez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linesonpaper.tripod.com/zmrvl3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7407"/>
          <a:stretch/>
        </p:blipFill>
        <p:spPr bwMode="auto">
          <a:xfrm>
            <a:off x="3766494" y="3792430"/>
            <a:ext cx="2284477" cy="3065570"/>
          </a:xfrm>
          <a:custGeom>
            <a:avLst/>
            <a:gdLst/>
            <a:ahLst/>
            <a:cxnLst/>
            <a:rect l="l" t="t" r="r" b="b"/>
            <a:pathLst>
              <a:path w="3045969" h="3065570">
                <a:moveTo>
                  <a:pt x="2750933" y="0"/>
                </a:moveTo>
                <a:lnTo>
                  <a:pt x="3043770" y="11038"/>
                </a:lnTo>
                <a:lnTo>
                  <a:pt x="3045607" y="37526"/>
                </a:lnTo>
                <a:cubicBezTo>
                  <a:pt x="3047625" y="113720"/>
                  <a:pt x="3040851" y="189914"/>
                  <a:pt x="3034394" y="266109"/>
                </a:cubicBez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cubicBezTo>
                  <a:pt x="3052317" y="2587500"/>
                  <a:pt x="3032560" y="2779256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70"/>
                </a:lnTo>
                <a:lnTo>
                  <a:pt x="24938" y="3065570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andygeddon.files.wordpress.com/2012/02/200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29" r="3" b="3"/>
          <a:stretch/>
        </p:blipFill>
        <p:spPr bwMode="auto">
          <a:xfrm>
            <a:off x="6197926" y="10"/>
            <a:ext cx="2946069" cy="4143496"/>
          </a:xfrm>
          <a:custGeom>
            <a:avLst/>
            <a:gdLst/>
            <a:ahLst/>
            <a:cxnLst/>
            <a:rect l="l" t="t" r="r" b="b"/>
            <a:pathLst>
              <a:path w="3928092" h="4143506">
                <a:moveTo>
                  <a:pt x="23605" y="0"/>
                </a:moveTo>
                <a:lnTo>
                  <a:pt x="3928092" y="0"/>
                </a:lnTo>
                <a:lnTo>
                  <a:pt x="3928092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cdn.bleedingcool.net/wp-content/uploads/2012/02/dune-book-cover-500x666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35316"/>
          <a:stretch/>
        </p:blipFill>
        <p:spPr bwMode="auto">
          <a:xfrm>
            <a:off x="6210773" y="4328340"/>
            <a:ext cx="2933228" cy="2529660"/>
          </a:xfrm>
          <a:custGeom>
            <a:avLst/>
            <a:gdLst/>
            <a:ahLst/>
            <a:cxnLst/>
            <a:rect l="l" t="t" r="r" b="b"/>
            <a:pathLst>
              <a:path w="3910971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71" y="11103"/>
                </a:lnTo>
                <a:lnTo>
                  <a:pt x="3910971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767048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553" name="Rectangle 10855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480060" y="329184"/>
            <a:ext cx="5170932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/>
              <a:t>What is Science Fiction?</a:t>
            </a:r>
          </a:p>
        </p:txBody>
      </p:sp>
      <p:sp>
        <p:nvSpPr>
          <p:cNvPr id="10855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0060" y="2706624"/>
            <a:ext cx="5170932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All fiction requires willing suspension of disbelief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Easier with a good plausibility factor!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b="1"/>
              <a:t>“Good” science fiction should not ask you to suspend disbelief more than you would for any “mainstream” novel…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 b="1"/>
              <a:t>…otherwise, it’s fantasy</a:t>
            </a:r>
          </a:p>
          <a:p>
            <a:pPr indent="-228600">
              <a:lnSpc>
                <a:spcPct val="90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1900"/>
              <a:t>Too snobby? [opinion?]</a:t>
            </a:r>
          </a:p>
        </p:txBody>
      </p:sp>
      <p:pic>
        <p:nvPicPr>
          <p:cNvPr id="1026" name="Picture 2" descr="http://cache.g4tv.com/ImageDb3/313204_S/angry-birds-star-wars-release-date-announc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913150"/>
            <a:ext cx="3010662" cy="226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548" name="Picture 4" descr="Image result for star wars pokemon 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4324438"/>
            <a:ext cx="2996946" cy="168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47146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500"/>
              <a:t>Syllabus Basics</a:t>
            </a:r>
          </a:p>
        </p:txBody>
      </p:sp>
      <p:pic>
        <p:nvPicPr>
          <p:cNvPr id="3078" name="Picture 3077">
            <a:extLst>
              <a:ext uri="{FF2B5EF4-FFF2-40B4-BE49-F238E27FC236}">
                <a16:creationId xmlns:a16="http://schemas.microsoft.com/office/drawing/2014/main" id="{68C048AA-7CCE-A914-6CD8-FD2EBFB4D7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511" r="13265"/>
          <a:stretch/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3077" name="Rectangle 2">
            <a:extLst>
              <a:ext uri="{FF2B5EF4-FFF2-40B4-BE49-F238E27FC236}">
                <a16:creationId xmlns:a16="http://schemas.microsoft.com/office/drawing/2014/main" id="{500CE2C4-2CC5-523A-0351-0058F80234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564018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63905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/>
              <a:t>Textbook</a:t>
            </a:r>
          </a:p>
        </p:txBody>
      </p:sp>
      <p:sp>
        <p:nvSpPr>
          <p:cNvPr id="51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9369" y="2071316"/>
            <a:ext cx="5035164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i="1"/>
              <a:t>An Introduction to the Solar System</a:t>
            </a:r>
            <a:r>
              <a:rPr lang="en-US" sz="1900"/>
              <a:t> eds. David Rothery, Neil McBride and Iain Gilmour</a:t>
            </a:r>
            <a:br>
              <a:rPr lang="en-US" sz="1900"/>
            </a:br>
            <a:r>
              <a:rPr lang="en-US" sz="1900"/>
              <a:t>THIRD EDITION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/>
              <a:t>Useful for looking up things, delving deeper into our own solar system, checking data, etc.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/>
              <a:t>Other reading suggested on course website “Lecture Schedule”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/>
              <a:t>[Sometimes entire chapters, like </a:t>
            </a:r>
            <a:r>
              <a:rPr lang="en-US" sz="1900" b="1"/>
              <a:t>Read Chapter 1 now!</a:t>
            </a:r>
            <a:r>
              <a:rPr lang="en-US" sz="1900"/>
              <a:t>]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/>
              <a:t>Also used for Astro 330, Geol 212</a:t>
            </a:r>
          </a:p>
        </p:txBody>
      </p:sp>
      <p:pic>
        <p:nvPicPr>
          <p:cNvPr id="512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0" r="-3" b="-3"/>
          <a:stretch/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324933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Expectations</a:t>
            </a:r>
          </a:p>
        </p:txBody>
      </p:sp>
      <p:sp>
        <p:nvSpPr>
          <p:cNvPr id="922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929384"/>
            <a:ext cx="78867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Five units: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Gravity/Density/Formation (</a:t>
            </a:r>
            <a:r>
              <a:rPr lang="en-US" sz="1900" b="1" dirty="0"/>
              <a:t>math heavy</a:t>
            </a:r>
            <a:r>
              <a:rPr lang="en-US" sz="1900" dirty="0"/>
              <a:t>)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Light/Energy/Flux/Temperature (</a:t>
            </a:r>
            <a:r>
              <a:rPr lang="en-US" sz="1900" b="1" dirty="0"/>
              <a:t>math heavy</a:t>
            </a:r>
            <a:r>
              <a:rPr lang="en-US" sz="1900" dirty="0"/>
              <a:t>)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i="1" dirty="0"/>
              <a:t>Simple</a:t>
            </a:r>
            <a:r>
              <a:rPr lang="en-US" sz="1900" dirty="0"/>
              <a:t> Chemistry Liquids and Gases (</a:t>
            </a:r>
            <a:r>
              <a:rPr lang="en-US" sz="1900" b="1" dirty="0"/>
              <a:t>surfaces, atmospheres; very little math!</a:t>
            </a:r>
            <a:r>
              <a:rPr lang="en-US" sz="1900" dirty="0"/>
              <a:t>)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Age, Deep Time, Life! (</a:t>
            </a:r>
            <a:r>
              <a:rPr lang="en-US" sz="1900" b="1" dirty="0"/>
              <a:t>not so math-heavy</a:t>
            </a:r>
            <a:r>
              <a:rPr lang="en-US" sz="1900" dirty="0"/>
              <a:t>)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Terraforming (</a:t>
            </a:r>
            <a:r>
              <a:rPr lang="en-US" sz="1900" b="1" i="1" dirty="0"/>
              <a:t>estimate </a:t>
            </a:r>
            <a:r>
              <a:rPr lang="en-US" sz="1900" b="1" dirty="0"/>
              <a:t>heavy more than math</a:t>
            </a:r>
            <a:r>
              <a:rPr lang="en-US" sz="1900" dirty="0"/>
              <a:t>)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Four tests (no Unit V test and no Final Exam)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Final Project – A Paper, Presentation, and Possible Poster!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08883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6" name="Rectangle 717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/>
              <a:t>Course Expectations</a:t>
            </a:r>
          </a:p>
        </p:txBody>
      </p:sp>
      <p:pic>
        <p:nvPicPr>
          <p:cNvPr id="7172" name="Picture 7171" descr="Person writing on a board">
            <a:extLst>
              <a:ext uri="{FF2B5EF4-FFF2-40B4-BE49-F238E27FC236}">
                <a16:creationId xmlns:a16="http://schemas.microsoft.com/office/drawing/2014/main" id="{E640BF4B-08ED-CEA0-A0B7-9BAFFF966C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195" r="11114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17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73321" y="2706624"/>
            <a:ext cx="4688333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892175" algn="l"/>
                <a:tab pos="1806575" algn="l"/>
                <a:tab pos="2720975" algn="l"/>
                <a:tab pos="3635375" algn="l"/>
                <a:tab pos="4549775" algn="l"/>
                <a:tab pos="5464175" algn="l"/>
                <a:tab pos="6378575" algn="l"/>
                <a:tab pos="7292975" algn="l"/>
                <a:tab pos="8207375" algn="l"/>
                <a:tab pos="9121775" algn="l"/>
                <a:tab pos="10036175" algn="l"/>
                <a:tab pos="10042525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US" sz="1900" dirty="0"/>
              <a:t>Grading:</a:t>
            </a:r>
          </a:p>
          <a:p>
            <a:pPr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892175" algn="l"/>
                <a:tab pos="1806575" algn="l"/>
                <a:tab pos="2720975" algn="l"/>
                <a:tab pos="3635375" algn="l"/>
                <a:tab pos="4549775" algn="l"/>
                <a:tab pos="5464175" algn="l"/>
                <a:tab pos="6378575" algn="l"/>
                <a:tab pos="7292975" algn="l"/>
                <a:tab pos="8207375" algn="l"/>
                <a:tab pos="9121775" algn="l"/>
                <a:tab pos="10036175" algn="l"/>
                <a:tab pos="10042525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US" sz="1900" dirty="0"/>
              <a:t>Class Participation	10%</a:t>
            </a:r>
          </a:p>
          <a:p>
            <a:pPr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892175" algn="l"/>
                <a:tab pos="1806575" algn="l"/>
                <a:tab pos="2720975" algn="l"/>
                <a:tab pos="3635375" algn="l"/>
                <a:tab pos="4549775" algn="l"/>
                <a:tab pos="5464175" algn="l"/>
                <a:tab pos="6378575" algn="l"/>
                <a:tab pos="7292975" algn="l"/>
                <a:tab pos="8207375" algn="l"/>
                <a:tab pos="9121775" algn="l"/>
                <a:tab pos="10036175" algn="l"/>
                <a:tab pos="10042525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US" sz="1900" dirty="0"/>
              <a:t>Discussion Section	40%</a:t>
            </a:r>
          </a:p>
          <a:p>
            <a:pPr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892175" algn="l"/>
                <a:tab pos="1806575" algn="l"/>
                <a:tab pos="2720975" algn="l"/>
                <a:tab pos="3635375" algn="l"/>
                <a:tab pos="4549775" algn="l"/>
                <a:tab pos="5464175" algn="l"/>
                <a:tab pos="6378575" algn="l"/>
                <a:tab pos="7292975" algn="l"/>
                <a:tab pos="8207375" algn="l"/>
                <a:tab pos="9121775" algn="l"/>
                <a:tab pos="10036175" algn="l"/>
                <a:tab pos="10042525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US" sz="1900" dirty="0"/>
              <a:t>Tests		30%</a:t>
            </a:r>
          </a:p>
          <a:p>
            <a:pPr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892175" algn="l"/>
                <a:tab pos="1806575" algn="l"/>
                <a:tab pos="2720975" algn="l"/>
                <a:tab pos="3635375" algn="l"/>
                <a:tab pos="4549775" algn="l"/>
                <a:tab pos="5464175" algn="l"/>
                <a:tab pos="6378575" algn="l"/>
                <a:tab pos="7292975" algn="l"/>
                <a:tab pos="8207375" algn="l"/>
                <a:tab pos="9121775" algn="l"/>
                <a:tab pos="10036175" algn="l"/>
                <a:tab pos="10042525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US" sz="1900" dirty="0"/>
              <a:t>Final Group Project	20%</a:t>
            </a:r>
          </a:p>
          <a:p>
            <a:pPr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892175" algn="l"/>
                <a:tab pos="1806575" algn="l"/>
                <a:tab pos="2720975" algn="l"/>
                <a:tab pos="3635375" algn="l"/>
                <a:tab pos="4549775" algn="l"/>
                <a:tab pos="5464175" algn="l"/>
                <a:tab pos="6378575" algn="l"/>
                <a:tab pos="7292975" algn="l"/>
                <a:tab pos="8207375" algn="l"/>
                <a:tab pos="9121775" algn="l"/>
                <a:tab pos="10036175" algn="l"/>
                <a:tab pos="10042525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US" sz="1900" b="1" dirty="0"/>
              <a:t>Total		100%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892175" algn="l"/>
                <a:tab pos="1806575" algn="l"/>
                <a:tab pos="2720975" algn="l"/>
                <a:tab pos="3635375" algn="l"/>
                <a:tab pos="4549775" algn="l"/>
                <a:tab pos="5464175" algn="l"/>
                <a:tab pos="6378575" algn="l"/>
                <a:tab pos="7292975" algn="l"/>
                <a:tab pos="8207375" algn="l"/>
                <a:tab pos="9121775" algn="l"/>
                <a:tab pos="10036175" algn="l"/>
                <a:tab pos="10042525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endParaRPr lang="en-US" sz="1900" dirty="0"/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892175" algn="l"/>
                <a:tab pos="1806575" algn="l"/>
                <a:tab pos="2720975" algn="l"/>
                <a:tab pos="3635375" algn="l"/>
                <a:tab pos="4549775" algn="l"/>
                <a:tab pos="5464175" algn="l"/>
                <a:tab pos="6378575" algn="l"/>
                <a:tab pos="7292975" algn="l"/>
                <a:tab pos="8207375" algn="l"/>
                <a:tab pos="9121775" algn="l"/>
                <a:tab pos="10036175" algn="l"/>
                <a:tab pos="10042525" algn="l"/>
                <a:tab pos="10499725" algn="l"/>
                <a:tab pos="10502900" algn="l"/>
                <a:tab pos="10506075" algn="l"/>
                <a:tab pos="10509250" algn="l"/>
                <a:tab pos="10512425" algn="l"/>
              </a:tabLst>
            </a:pPr>
            <a:r>
              <a:rPr lang="en-US" sz="1900" dirty="0"/>
              <a:t>There isn’t much room for extra credit!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78968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/>
              <a:t>Course Expectations</a:t>
            </a:r>
          </a:p>
        </p:txBody>
      </p:sp>
      <p:pic>
        <p:nvPicPr>
          <p:cNvPr id="8197" name="Picture 8196" descr="Colourful boardgame">
            <a:extLst>
              <a:ext uri="{FF2B5EF4-FFF2-40B4-BE49-F238E27FC236}">
                <a16:creationId xmlns:a16="http://schemas.microsoft.com/office/drawing/2014/main" id="{F59694B5-B9BD-EDE0-3CBC-4D74D2C23C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50" r="32679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20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73321" y="2706624"/>
            <a:ext cx="4688333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600" dirty="0"/>
              <a:t>Class Participation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600" dirty="0"/>
              <a:t>Often will work with your neighbors…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600" dirty="0"/>
              <a:t>…</a:t>
            </a:r>
            <a:r>
              <a:rPr lang="en-US" sz="1600" b="1" dirty="0"/>
              <a:t>You don’t have to get the answer right</a:t>
            </a:r>
            <a:r>
              <a:rPr lang="en-US" sz="1600" dirty="0"/>
              <a:t>, but you do have to answer in order to take the lecture participation quiz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600" dirty="0"/>
              <a:t>Please try not to make a random guess!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600" dirty="0"/>
              <a:t>Don’t flirt with an XF in the class…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600" b="1" dirty="0"/>
              <a:t>Because the university changed its policy on clickers, I am not requiring you to buy a clicker. We will use other means of participation.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179447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0" name="Rectangle 819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Expectations</a:t>
            </a:r>
          </a:p>
        </p:txBody>
      </p:sp>
      <p:sp>
        <p:nvSpPr>
          <p:cNvPr id="820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28650" y="1929384"/>
            <a:ext cx="78867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127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Discussion Section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Started Monday (did you miss it? Don’t miss today!)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40+ discussions: Will drop your two worst discussion grades (except 5.4 which is worth double)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These are your “homework”: making sure you understood them and have the right answers is your responsibility – there will be no detailed solution sets (but you can always ask for confirmation/help/etc.!)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Download the questions just before/beginning of the discussion class on the day</a:t>
            </a:r>
          </a:p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1900" dirty="0"/>
              <a:t>Upload your answers as PDFs usually by midnight or in some cases the next night. Deadlines will be noted in Elms.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933479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2" name="Rectangle 11271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Expectations</a:t>
            </a:r>
          </a:p>
        </p:txBody>
      </p:sp>
      <p:sp>
        <p:nvSpPr>
          <p:cNvPr id="1127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268" name="Rectangle 2">
            <a:extLst>
              <a:ext uri="{FF2B5EF4-FFF2-40B4-BE49-F238E27FC236}">
                <a16:creationId xmlns:a16="http://schemas.microsoft.com/office/drawing/2014/main" id="{EBD65CFE-9CDD-ECDC-EAAA-BD6FB7313B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0824498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6040960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2" name="Rectangle 6151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Expectations</a:t>
            </a:r>
          </a:p>
        </p:txBody>
      </p:sp>
      <p:sp>
        <p:nvSpPr>
          <p:cNvPr id="615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148" name="Rectangle 2">
            <a:extLst>
              <a:ext uri="{FF2B5EF4-FFF2-40B4-BE49-F238E27FC236}">
                <a16:creationId xmlns:a16="http://schemas.microsoft.com/office/drawing/2014/main" id="{9A6D5C56-B9A6-F8AB-47EA-8072CC4AA9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315613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0277340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65" name="Picture 15364" descr="Massive planets orbiting a bright space">
            <a:extLst>
              <a:ext uri="{FF2B5EF4-FFF2-40B4-BE49-F238E27FC236}">
                <a16:creationId xmlns:a16="http://schemas.microsoft.com/office/drawing/2014/main" id="{0C698262-5431-EC5C-0A7C-31573CAF7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350" r="19369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5371" name="Rectangle 1537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500"/>
              <a:t>Learning Outcomes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57629" y="2209800"/>
            <a:ext cx="5086351" cy="34968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30200" indent="-228600">
              <a:lnSpc>
                <a:spcPct val="90000"/>
              </a:lnSpc>
              <a:spcBef>
                <a:spcPts val="575"/>
              </a:spcBef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000" dirty="0"/>
              <a:t>By the end of this class you should be able to: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000" dirty="0"/>
              <a:t>Judge a planet by its cover (mass, radius, composition, distance from star/temperature, age)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000" dirty="0"/>
              <a:t>Understand the </a:t>
            </a:r>
            <a:r>
              <a:rPr lang="en-US" sz="2000" b="1" dirty="0"/>
              <a:t>variety</a:t>
            </a:r>
            <a:r>
              <a:rPr lang="en-US" sz="2000" dirty="0"/>
              <a:t> of possibilities for planets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000" dirty="0"/>
              <a:t>Grok the </a:t>
            </a:r>
            <a:r>
              <a:rPr lang="en-US" sz="2000" b="1" i="1" dirty="0"/>
              <a:t>profusion </a:t>
            </a:r>
            <a:r>
              <a:rPr lang="en-US" sz="2000" dirty="0"/>
              <a:t>of planets out there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000" dirty="0"/>
              <a:t>Be able to write about a convincing, scientifically sound, and hopefully interesting planet – where the geology and atmosphere might play a role in a fictional plot!</a:t>
            </a:r>
          </a:p>
          <a:p>
            <a:pPr marL="730250" lvl="1" indent="-228600">
              <a:lnSpc>
                <a:spcPct val="90000"/>
              </a:lnSpc>
              <a:spcBef>
                <a:spcPts val="575"/>
              </a:spcBef>
              <a:buFont typeface="Arial" panose="020B0604020202020204" pitchFamily="34" charset="0"/>
              <a:buChar char="•"/>
              <a:tabLst>
                <a:tab pos="450850" algn="l"/>
                <a:tab pos="908050" algn="l"/>
                <a:tab pos="1365250" algn="l"/>
                <a:tab pos="1822450" algn="l"/>
                <a:tab pos="2279650" algn="l"/>
                <a:tab pos="2736850" algn="l"/>
                <a:tab pos="3194050" algn="l"/>
                <a:tab pos="3651250" algn="l"/>
                <a:tab pos="4108450" algn="l"/>
                <a:tab pos="4565650" algn="l"/>
                <a:tab pos="5022850" algn="l"/>
                <a:tab pos="5480050" algn="l"/>
                <a:tab pos="5937250" algn="l"/>
                <a:tab pos="6394450" algn="l"/>
                <a:tab pos="6851650" algn="l"/>
                <a:tab pos="7308850" algn="l"/>
                <a:tab pos="7766050" algn="l"/>
                <a:tab pos="8223250" algn="l"/>
                <a:tab pos="8680450" algn="l"/>
                <a:tab pos="9137650" algn="l"/>
              </a:tabLst>
            </a:pPr>
            <a:r>
              <a:rPr lang="en-US" sz="2000" dirty="0"/>
              <a:t>[And of course, you’ll know a lot more about our own Solar System]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592967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9" name="Rectangle 1536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1" name="Rectangle 1537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3" name="Rectangle 1537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75" name="Rectangle 1537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77" name="Freeform: Shape 1537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379" name="Rectangle 1537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Learning Outcomes</a:t>
            </a:r>
          </a:p>
        </p:txBody>
      </p:sp>
      <p:graphicFrame>
        <p:nvGraphicFramePr>
          <p:cNvPr id="15365" name="Rectangle 2">
            <a:extLst>
              <a:ext uri="{FF2B5EF4-FFF2-40B4-BE49-F238E27FC236}">
                <a16:creationId xmlns:a16="http://schemas.microsoft.com/office/drawing/2014/main" id="{16EA0CA9-7FB9-6CB6-2E73-B10119D596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586043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9968710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BD161-B3AA-8825-D07F-488FE049E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Fundamentals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F9F65-AD43-3791-2B46-5DD58891F319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/>
              <a:t>Skills Needed: </a:t>
            </a:r>
          </a:p>
          <a:p>
            <a:pPr lvl="1"/>
            <a:r>
              <a:rPr lang="en-US" dirty="0"/>
              <a:t>Ratios</a:t>
            </a:r>
          </a:p>
          <a:p>
            <a:pPr lvl="1"/>
            <a:r>
              <a:rPr lang="en-US" dirty="0"/>
              <a:t>Estimation </a:t>
            </a:r>
          </a:p>
          <a:p>
            <a:pPr lvl="1"/>
            <a:r>
              <a:rPr lang="en-US" dirty="0"/>
              <a:t>Algebra </a:t>
            </a:r>
          </a:p>
          <a:p>
            <a:pPr lvl="1"/>
            <a:r>
              <a:rPr lang="en-US" dirty="0"/>
              <a:t>Dimensional Analysis </a:t>
            </a:r>
          </a:p>
          <a:p>
            <a:pPr lvl="1"/>
            <a:r>
              <a:rPr lang="en-US" dirty="0"/>
              <a:t>Analytic Reasoning</a:t>
            </a:r>
          </a:p>
          <a:p>
            <a:pPr lvl="1"/>
            <a:r>
              <a:rPr lang="en-US" dirty="0"/>
              <a:t>Geometric Reasoning</a:t>
            </a:r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15CF2E13-A5D5-4E56-B523-FA93DBDAF2BD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/>
        <p:txBody>
          <a:bodyPr/>
          <a:lstStyle/>
          <a:p>
            <a:r>
              <a:rPr lang="en-US" dirty="0"/>
              <a:t>How do you get and practice those skills? </a:t>
            </a:r>
          </a:p>
          <a:p>
            <a:r>
              <a:rPr lang="en-US" dirty="0"/>
              <a:t>In discussion! </a:t>
            </a:r>
          </a:p>
        </p:txBody>
      </p:sp>
    </p:spTree>
    <p:extLst>
      <p:ext uri="{BB962C8B-B14F-4D97-AF65-F5344CB8AC3E}">
        <p14:creationId xmlns:p14="http://schemas.microsoft.com/office/powerpoint/2010/main" val="596479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71B26-301A-D521-C5A1-A95ED3D0F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Warm Up Math!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262F7-0CAE-3357-DDBF-95C25777A56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74295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Calculate the force of Gravity between the Sun and the Planet Uranus. </a:t>
            </a:r>
          </a:p>
          <a:p>
            <a:pPr marL="74295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How many seconds old were you on your first birthday? </a:t>
            </a:r>
          </a:p>
          <a:p>
            <a:pPr marL="742950" indent="-457200">
              <a:lnSpc>
                <a:spcPct val="90000"/>
              </a:lnSpc>
              <a:buFont typeface="+mj-lt"/>
              <a:buAutoNum type="arabicPeriod"/>
            </a:pPr>
            <a:r>
              <a:rPr lang="en-US" sz="2500" dirty="0"/>
              <a:t>Calculate the following quantities for Earth, assuming a radius (R) of 6371 km. Be sure to include units in your answer. </a:t>
            </a:r>
          </a:p>
          <a:p>
            <a:pPr marL="1314450" lvl="2">
              <a:lnSpc>
                <a:spcPct val="90000"/>
              </a:lnSpc>
            </a:pPr>
            <a:r>
              <a:rPr lang="en-US" sz="2500" dirty="0"/>
              <a:t>The circumference of Earth. </a:t>
            </a:r>
          </a:p>
          <a:p>
            <a:pPr marL="1314450" lvl="2">
              <a:lnSpc>
                <a:spcPct val="90000"/>
              </a:lnSpc>
            </a:pPr>
            <a:r>
              <a:rPr lang="en-US" sz="2500" dirty="0"/>
              <a:t>The surface area of Earth. </a:t>
            </a:r>
          </a:p>
          <a:p>
            <a:pPr marL="1314450" lvl="2">
              <a:lnSpc>
                <a:spcPct val="90000"/>
              </a:lnSpc>
            </a:pPr>
            <a:r>
              <a:rPr lang="en-US" sz="2500" dirty="0"/>
              <a:t>The volume of Earth. </a:t>
            </a:r>
          </a:p>
        </p:txBody>
      </p:sp>
    </p:spTree>
    <p:extLst>
      <p:ext uri="{BB962C8B-B14F-4D97-AF65-F5344CB8AC3E}">
        <p14:creationId xmlns:p14="http://schemas.microsoft.com/office/powerpoint/2010/main" val="3415089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9C1D5-59FD-5D12-65CA-1EC353AA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FCB1B88-8E4D-8D59-DDDB-B082F48FC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8A135C-1341-2061-A149-9C4185640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8DD98-FFC3-9E51-19E3-DBC1493B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Warm Up Math!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D5FBDA2-FB99-B245-07B2-2B9947118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55C89EC-9F61-0BE7-DC76-7F9F4B6E9F74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3335481" y="591344"/>
                <a:ext cx="5179868" cy="5585619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742950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2500" b="1" dirty="0"/>
                  <a:t>Compare </a:t>
                </a:r>
                <a:r>
                  <a:rPr lang="en-US" sz="2500" dirty="0"/>
                  <a:t>the volumes of two spheres, one of which has </a:t>
                </a:r>
                <a:r>
                  <a:rPr lang="en-US" sz="2500" b="1" dirty="0"/>
                  <a:t>5</a:t>
                </a:r>
                <a:r>
                  <a:rPr lang="en-US" sz="2500" dirty="0"/>
                  <a:t> times the radius of the other. </a:t>
                </a:r>
                <a:endParaRPr lang="en-US" sz="2500" b="1" dirty="0"/>
              </a:p>
              <a:p>
                <a:pPr marL="742950" indent="-457200">
                  <a:lnSpc>
                    <a:spcPct val="90000"/>
                  </a:lnSpc>
                  <a:buFont typeface="+mj-lt"/>
                  <a:buAutoNum type="arabicPeriod"/>
                </a:pPr>
                <a:r>
                  <a:rPr lang="en-US" sz="2500" dirty="0"/>
                  <a:t>You obtain the following result from a ratio problem comparing the radius of two spheres: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500" dirty="0"/>
                  <a:t>. Which sphere is bigger, sphere a or sphere b, and by how many times?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55C89EC-9F61-0BE7-DC76-7F9F4B6E9F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335481" y="591344"/>
                <a:ext cx="5179868" cy="5585619"/>
              </a:xfrm>
              <a:blipFill>
                <a:blip r:embed="rId2"/>
                <a:stretch>
                  <a:fillRect r="-2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649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AAD9D-C207-53CC-8CEB-5FCE4F754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Science Fiction Gone Wild…</a:t>
            </a:r>
          </a:p>
        </p:txBody>
      </p:sp>
      <p:pic>
        <p:nvPicPr>
          <p:cNvPr id="5" name="Online Media 4" descr="When Moon Touches Earth | Moonfall 2022">
            <a:hlinkClick r:id="" action="ppaction://media"/>
            <a:extLst>
              <a:ext uri="{FF2B5EF4-FFF2-40B4-BE49-F238E27FC236}">
                <a16:creationId xmlns:a16="http://schemas.microsoft.com/office/drawing/2014/main" id="{A112A0B2-EA95-CCB2-2E0E-D277B3508ED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83328" y="1675227"/>
            <a:ext cx="777734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9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4A915-20A3-36F3-4D6E-88FC29568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Decent Science with some Razzle Dazzle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Online Media 4" descr="&quot;Everybody on Earth is dead in a year&quot; | The Core | CLIP">
            <a:hlinkClick r:id="" action="ppaction://media"/>
            <a:extLst>
              <a:ext uri="{FF2B5EF4-FFF2-40B4-BE49-F238E27FC236}">
                <a16:creationId xmlns:a16="http://schemas.microsoft.com/office/drawing/2014/main" id="{CB67562A-9FC1-840F-E777-B5F41B1BBE1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83328" y="1675227"/>
            <a:ext cx="777734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8280F-B64F-861F-D33F-C9E977FCC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Astrophysics Gone VERY WILD</a:t>
            </a:r>
          </a:p>
        </p:txBody>
      </p:sp>
      <p:pic>
        <p:nvPicPr>
          <p:cNvPr id="5" name="Online Media 4" descr="That moment when you're trying to survive a massive earthquake: 2012 (HD CLIP)">
            <a:hlinkClick r:id="" action="ppaction://media"/>
            <a:extLst>
              <a:ext uri="{FF2B5EF4-FFF2-40B4-BE49-F238E27FC236}">
                <a16:creationId xmlns:a16="http://schemas.microsoft.com/office/drawing/2014/main" id="{A85EF0D4-A8A3-0F43-CDEB-B3AC114B7AC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83328" y="1675227"/>
            <a:ext cx="777734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764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1618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Case in point, Parodies:</a:t>
            </a:r>
          </a:p>
        </p:txBody>
      </p:sp>
      <p:pic>
        <p:nvPicPr>
          <p:cNvPr id="4" name="Picture 2" descr="http://www.geekologie.com/2010/05/10/space-slu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083942"/>
            <a:ext cx="428625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32" y="4059557"/>
            <a:ext cx="8735645" cy="2810267"/>
          </a:xfrm>
          <a:prstGeom prst="rect">
            <a:avLst/>
          </a:prstGeom>
        </p:spPr>
      </p:pic>
      <p:pic>
        <p:nvPicPr>
          <p:cNvPr id="5" name="Online Media 4" descr="damn it!">
            <a:hlinkClick r:id="" action="ppaction://media"/>
            <a:extLst>
              <a:ext uri="{FF2B5EF4-FFF2-40B4-BE49-F238E27FC236}">
                <a16:creationId xmlns:a16="http://schemas.microsoft.com/office/drawing/2014/main" id="{2D966DD4-00EB-A638-973F-B4A2E57B2F3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990600" y="785990"/>
            <a:ext cx="4286250" cy="321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2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3" name="Rectangle 1052">
            <a:extLst>
              <a:ext uri="{FF2B5EF4-FFF2-40B4-BE49-F238E27FC236}">
                <a16:creationId xmlns:a16="http://schemas.microsoft.com/office/drawing/2014/main" id="{A061BA2E-A388-41C5-B73A-B0FEB6B10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8" descr="http://linesonpaper.tripod.com/zast33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1"/>
          <a:stretch/>
        </p:blipFill>
        <p:spPr bwMode="auto">
          <a:xfrm>
            <a:off x="20" y="10"/>
            <a:ext cx="457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upload.wikimedia.org/wikipedia/en/0/04/John_carter_of_mars_burroughs_cov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83" b="-2"/>
          <a:stretch/>
        </p:blipFill>
        <p:spPr bwMode="auto">
          <a:xfrm>
            <a:off x="4570857" y="10"/>
            <a:ext cx="45708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628902" y="342899"/>
            <a:ext cx="3886200" cy="9144001"/>
          </a:xfrm>
          <a:prstGeom prst="rect">
            <a:avLst/>
          </a:prstGeom>
          <a:gradFill>
            <a:gsLst>
              <a:gs pos="41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3414" y="3091928"/>
            <a:ext cx="6809994" cy="238760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900">
                <a:solidFill>
                  <a:schemeClr val="bg1"/>
                </a:solidFill>
              </a:rPr>
              <a:t>Astro 230:</a:t>
            </a:r>
            <a:br>
              <a:rPr lang="en-US" sz="4900">
                <a:solidFill>
                  <a:schemeClr val="bg1"/>
                </a:solidFill>
              </a:rPr>
            </a:br>
            <a:r>
              <a:rPr lang="en-US" sz="4900">
                <a:solidFill>
                  <a:schemeClr val="bg1"/>
                </a:solidFill>
              </a:rPr>
              <a:t>the Science and Fiction of</a:t>
            </a:r>
            <a:br>
              <a:rPr lang="en-US" sz="4900">
                <a:solidFill>
                  <a:schemeClr val="bg1"/>
                </a:solidFill>
              </a:rPr>
            </a:br>
            <a:r>
              <a:rPr lang="en-US" sz="4900">
                <a:solidFill>
                  <a:schemeClr val="bg1"/>
                </a:solidFill>
              </a:rPr>
              <a:t>Planetary Systems</a:t>
            </a: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8059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414" y="5624945"/>
            <a:ext cx="6809994" cy="592975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Unit 1: Gravity, Density, Spin</a:t>
            </a:r>
          </a:p>
          <a:p>
            <a:pPr algn="l">
              <a:lnSpc>
                <a:spcPct val="90000"/>
              </a:lnSpc>
            </a:pPr>
            <a:r>
              <a:rPr lang="en-US" sz="1500">
                <a:solidFill>
                  <a:schemeClr val="bg1"/>
                </a:solidFill>
              </a:rPr>
              <a:t>Prof. Marvin Jones</a:t>
            </a:r>
          </a:p>
        </p:txBody>
      </p:sp>
    </p:spTree>
    <p:extLst>
      <p:ext uri="{BB962C8B-B14F-4D97-AF65-F5344CB8AC3E}">
        <p14:creationId xmlns:p14="http://schemas.microsoft.com/office/powerpoint/2010/main" val="229622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777875"/>
          </a:xfrm>
        </p:spPr>
        <p:txBody>
          <a:bodyPr lIns="0" tIns="0" rIns="0" bIns="0"/>
          <a:lstStyle/>
          <a:p>
            <a:pPr eaLnBrk="1" hangingPunct="1">
              <a:lnSpc>
                <a:spcPts val="5125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000" dirty="0">
                <a:latin typeface="Lucida Bright" pitchFamily="18" charset="0"/>
              </a:rPr>
              <a:t>Pluto (see </a:t>
            </a:r>
            <a:r>
              <a:rPr lang="en-GB" sz="4000" dirty="0" err="1">
                <a:latin typeface="Lucida Bright" pitchFamily="18" charset="0"/>
              </a:rPr>
              <a:t>ch.</a:t>
            </a:r>
            <a:r>
              <a:rPr lang="en-GB" sz="4000" dirty="0">
                <a:latin typeface="Lucida Bright" pitchFamily="18" charset="0"/>
              </a:rPr>
              <a:t> 7)</a:t>
            </a:r>
          </a:p>
        </p:txBody>
      </p:sp>
      <p:pic>
        <p:nvPicPr>
          <p:cNvPr id="97282" name="Picture 2" descr="Plu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05000"/>
            <a:ext cx="9382125" cy="527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5800" y="1752600"/>
            <a:ext cx="4191000" cy="525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229600" cy="5943600"/>
          </a:xfrm>
        </p:spPr>
        <p:txBody>
          <a:bodyPr lIns="0" tIns="0" rIns="0" bIns="0">
            <a:normAutofit/>
          </a:bodyPr>
          <a:lstStyle/>
          <a:p>
            <a:pPr marL="327025" indent="-327025" eaLnBrk="1" hangingPunct="1">
              <a:lnSpc>
                <a:spcPct val="9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Bright" pitchFamily="18" charset="0"/>
              </a:rPr>
              <a:t>New Horizons launched on Jan 19, 2006</a:t>
            </a:r>
          </a:p>
          <a:p>
            <a:pPr marL="327025" indent="-327025" eaLnBrk="1" hangingPunct="1">
              <a:lnSpc>
                <a:spcPct val="9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Bright" pitchFamily="18" charset="0"/>
              </a:rPr>
              <a:t>In August 2006, the IAU defined “planet” in such a way that Pluto</a:t>
            </a:r>
            <a:br>
              <a:rPr lang="en-GB" sz="2800" dirty="0">
                <a:latin typeface="Lucida Bright" pitchFamily="18" charset="0"/>
              </a:rPr>
            </a:br>
            <a:r>
              <a:rPr lang="en-GB" sz="2800" dirty="0">
                <a:latin typeface="Lucida Bright" pitchFamily="18" charset="0"/>
              </a:rPr>
              <a:t>failed to meet the </a:t>
            </a:r>
            <a:br>
              <a:rPr lang="en-GB" sz="2800" dirty="0">
                <a:latin typeface="Lucida Bright" pitchFamily="18" charset="0"/>
              </a:rPr>
            </a:br>
            <a:r>
              <a:rPr lang="en-GB" sz="2800" dirty="0">
                <a:latin typeface="Lucida Bright" pitchFamily="18" charset="0"/>
              </a:rPr>
              <a:t>definition (irony?)</a:t>
            </a:r>
          </a:p>
          <a:p>
            <a:pPr marL="327025" indent="-327025" eaLnBrk="1" hangingPunct="1">
              <a:lnSpc>
                <a:spcPct val="9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Bright" pitchFamily="18" charset="0"/>
              </a:rPr>
              <a:t>Swung past Jupiter </a:t>
            </a:r>
            <a:br>
              <a:rPr lang="en-GB" sz="2800" dirty="0">
                <a:latin typeface="Lucida Bright" pitchFamily="18" charset="0"/>
              </a:rPr>
            </a:br>
            <a:r>
              <a:rPr lang="en-GB" sz="2800" dirty="0">
                <a:latin typeface="Lucida Bright" pitchFamily="18" charset="0"/>
              </a:rPr>
              <a:t>a year later in Feb 2007</a:t>
            </a:r>
          </a:p>
          <a:p>
            <a:pPr marL="327025" indent="-327025" eaLnBrk="1" hangingPunct="1">
              <a:lnSpc>
                <a:spcPct val="9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Bright" pitchFamily="18" charset="0"/>
              </a:rPr>
              <a:t>Got to Pluto…</a:t>
            </a:r>
          </a:p>
          <a:p>
            <a:pPr marL="327025" indent="-327025" eaLnBrk="1" hangingPunct="1">
              <a:lnSpc>
                <a:spcPct val="9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Bright" pitchFamily="18" charset="0"/>
              </a:rPr>
              <a:t>…July 2015</a:t>
            </a:r>
          </a:p>
          <a:p>
            <a:pPr marL="327025" indent="-327025">
              <a:lnSpc>
                <a:spcPct val="97000"/>
              </a:lnSpc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 dirty="0">
                <a:latin typeface="Lucida Bright" pitchFamily="18" charset="0"/>
                <a:hlinkClick r:id="rId5"/>
              </a:rPr>
              <a:t>http://pluto.jhuapl.edu/</a:t>
            </a:r>
            <a:r>
              <a:rPr lang="en-GB" sz="2800" dirty="0">
                <a:latin typeface="Lucida Bright" pitchFamily="18" charset="0"/>
              </a:rPr>
              <a:t> </a:t>
            </a:r>
          </a:p>
          <a:p>
            <a:pPr marL="0" indent="0">
              <a:lnSpc>
                <a:spcPct val="97000"/>
              </a:lnSpc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dirty="0">
              <a:latin typeface="Lucida Bright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31296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Pluto a planet?</a:t>
            </a:r>
          </a:p>
        </p:txBody>
      </p:sp>
      <p:sp>
        <p:nvSpPr>
          <p:cNvPr id="3" name="TPAnswers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85000" lnSpcReduction="10000"/>
          </a:bodyPr>
          <a:lstStyle/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Yes, DAMMIT!</a:t>
            </a:r>
          </a:p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No, it’s a Kuiper Belt Object</a:t>
            </a:r>
          </a:p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No, it’s a dwarf planet</a:t>
            </a:r>
          </a:p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No, it’s a </a:t>
            </a:r>
            <a:r>
              <a:rPr lang="en-US" dirty="0" err="1"/>
              <a:t>plutino</a:t>
            </a:r>
            <a:endParaRPr lang="en-US" dirty="0"/>
          </a:p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No, it’s a </a:t>
            </a:r>
            <a:r>
              <a:rPr lang="en-US" dirty="0" err="1"/>
              <a:t>plutoid</a:t>
            </a:r>
            <a:endParaRPr lang="en-US" dirty="0"/>
          </a:p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B and C</a:t>
            </a:r>
          </a:p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B and E</a:t>
            </a:r>
          </a:p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B, C, and D</a:t>
            </a:r>
          </a:p>
          <a:p>
            <a:pPr marL="742950" indent="-742950">
              <a:buFont typeface="Arial" pitchFamily="34" charset="0"/>
              <a:buAutoNum type="alphaUcPeriod"/>
            </a:pPr>
            <a:r>
              <a:rPr lang="en-US" dirty="0"/>
              <a:t>B, C, D, and E</a:t>
            </a:r>
          </a:p>
        </p:txBody>
      </p:sp>
      <p:sp>
        <p:nvSpPr>
          <p:cNvPr id="5" name="TPPolling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027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33" name="Rectangle 103432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28" name="Picture 4" descr="https://www.nasa.gov/sites/default/files/styles/full_width_feature/public/thumbnails/image/global-mosaic-of-pluto-in-true-color.jpg?itok=Q2G8K9M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5" r="3731"/>
          <a:stretch/>
        </p:blipFill>
        <p:spPr bwMode="auto">
          <a:xfrm>
            <a:off x="-2285" y="10"/>
            <a:ext cx="9143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35" name="Rectangle 103434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822960" y="325550"/>
            <a:ext cx="75438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 eaLnBrk="0" hangingPunct="0">
              <a:spcBef>
                <a:spcPts val="8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ts val="7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ts val="5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ts val="5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 Planet?</a:t>
            </a: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04800" y="990600"/>
            <a:ext cx="8839200" cy="531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512763" indent="-512763" eaLnBrk="0" hangingPunct="0">
              <a:spcBef>
                <a:spcPts val="800"/>
              </a:spcBef>
              <a:buChar char="•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ts val="700"/>
              </a:spcBef>
              <a:buChar char="–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har char="•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ts val="500"/>
              </a:spcBef>
              <a:buChar char="–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ts val="500"/>
              </a:spcBef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700"/>
              </a:spcBef>
              <a:buFont typeface="Arial" panose="020B0604020202020204" pitchFamily="34" charset="0"/>
              <a:buNone/>
            </a:pPr>
            <a:endParaRPr lang="en-GB" altLang="en-US" sz="2800" dirty="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34183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ts val="8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ts val="7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ts val="5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ts val="5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4400">
                <a:latin typeface="Times New Roman" panose="02020603050405020304" pitchFamily="18" charset="0"/>
              </a:rPr>
              <a:t>What is a Planet?</a:t>
            </a: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04800" y="990600"/>
            <a:ext cx="8839200" cy="531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512763" indent="-512763" eaLnBrk="0" hangingPunct="0">
              <a:spcBef>
                <a:spcPts val="800"/>
              </a:spcBef>
              <a:buChar char="•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ts val="700"/>
              </a:spcBef>
              <a:buChar char="–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har char="•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ts val="500"/>
              </a:spcBef>
              <a:buChar char="–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ts val="500"/>
              </a:spcBef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700"/>
              </a:spcBef>
              <a:buFont typeface="Arial" panose="020B0604020202020204" pitchFamily="34" charset="0"/>
              <a:buNone/>
            </a:pPr>
            <a:r>
              <a:rPr lang="en-GB" altLang="en-US" sz="2800" dirty="0">
                <a:latin typeface="Times New Roman" panose="02020603050405020304" pitchFamily="18" charset="0"/>
              </a:rPr>
              <a:t>Talk amongst yourselves.</a:t>
            </a:r>
            <a:endParaRPr lang="en-GB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ts val="700"/>
              </a:spcBef>
              <a:buFont typeface="Arial" panose="020B0604020202020204" pitchFamily="34" charset="0"/>
              <a:buNone/>
            </a:pPr>
            <a:r>
              <a:rPr lang="en-GB" altLang="en-US" sz="2800" dirty="0">
                <a:latin typeface="Times New Roman" panose="02020603050405020304" pitchFamily="18" charset="0"/>
              </a:rPr>
              <a:t>What is the definition of a planet?</a:t>
            </a:r>
          </a:p>
          <a:p>
            <a:pPr eaLnBrk="1" hangingPunct="1">
              <a:spcBef>
                <a:spcPts val="700"/>
              </a:spcBef>
              <a:buFont typeface="Arial" panose="020B0604020202020204" pitchFamily="34" charset="0"/>
              <a:buNone/>
            </a:pPr>
            <a:r>
              <a:rPr lang="en-GB" altLang="en-US" sz="2800" dirty="0">
                <a:latin typeface="Times New Roman" panose="02020603050405020304" pitchFamily="18" charset="0"/>
              </a:rPr>
              <a:t>Think about size, composition, maybe even </a:t>
            </a:r>
            <a:r>
              <a:rPr lang="en-GB" altLang="en-US" sz="2800" dirty="0" err="1">
                <a:latin typeface="Times New Roman" panose="02020603050405020304" pitchFamily="18" charset="0"/>
              </a:rPr>
              <a:t>behavior</a:t>
            </a:r>
            <a:r>
              <a:rPr lang="en-GB" altLang="en-US" sz="2800" dirty="0">
                <a:latin typeface="Times New Roman" panose="02020603050405020304" pitchFamily="18" charset="0"/>
              </a:rPr>
              <a:t>?</a:t>
            </a:r>
          </a:p>
        </p:txBody>
      </p:sp>
      <p:pic>
        <p:nvPicPr>
          <p:cNvPr id="103426" name="Picture 2" descr="https://www.nasa.gov/sites/default/files/styles/full_width_feature/public/thumbnails/image/nh-pluto-charon-natural-color.jpg?itok=QUHXJAz_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95600"/>
            <a:ext cx="9207273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930863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367" name="Rectangle 14336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69" name="Freeform: Shape 14336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628650" y="401221"/>
            <a:ext cx="7886700" cy="13480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 Planet?</a:t>
            </a: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28650" y="2586789"/>
            <a:ext cx="7886700" cy="35901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512763" indent="-512763"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Formal (new) IAU definition:</a:t>
            </a:r>
          </a:p>
          <a:p>
            <a:pPr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Celestial body orbiting a star or stellar remnant.</a:t>
            </a:r>
          </a:p>
          <a:p>
            <a:pPr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Massive enough to be rounded by its own gravity…</a:t>
            </a:r>
          </a:p>
          <a:p>
            <a:pPr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…but not massive enough to cause thermonuclear fusion (then it would be a ….) [they forgot this one!...]</a:t>
            </a:r>
          </a:p>
          <a:p>
            <a:pPr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Has “cleared” its neighboring region of planetesimals.</a:t>
            </a:r>
          </a:p>
          <a:p>
            <a:pPr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	Thus Pluto is not a planet, because it fails on #4.  Instead it is called a </a:t>
            </a:r>
            <a:r>
              <a:rPr lang="en-US" altLang="en-US" sz="1900" b="1" i="1">
                <a:solidFill>
                  <a:schemeClr val="tx1"/>
                </a:solidFill>
                <a:latin typeface="+mn-lt"/>
              </a:rPr>
              <a:t>dwarf planet</a:t>
            </a:r>
            <a:r>
              <a:rPr lang="en-US" altLang="en-US" sz="1900">
                <a:solidFill>
                  <a:schemeClr val="tx1"/>
                </a:solidFill>
                <a:latin typeface="+mn-lt"/>
              </a:rPr>
              <a:t>.  It is also called a </a:t>
            </a:r>
            <a:r>
              <a:rPr lang="en-US" altLang="en-US" sz="1900" b="1" i="1">
                <a:solidFill>
                  <a:schemeClr val="tx1"/>
                </a:solidFill>
                <a:latin typeface="+mn-lt"/>
              </a:rPr>
              <a:t>plutoid</a:t>
            </a:r>
            <a:r>
              <a:rPr lang="en-US" altLang="en-US" sz="1900">
                <a:solidFill>
                  <a:schemeClr val="tx1"/>
                </a:solidFill>
                <a:latin typeface="+mn-lt"/>
              </a:rPr>
              <a:t>, meaning a trans-Neptunian dwarf planet large enough to be round (compare Ceres) and it is also a </a:t>
            </a:r>
            <a:r>
              <a:rPr lang="en-US" altLang="en-US" sz="1900" b="1" i="1">
                <a:solidFill>
                  <a:schemeClr val="tx1"/>
                </a:solidFill>
                <a:latin typeface="+mn-lt"/>
              </a:rPr>
              <a:t>plutino</a:t>
            </a:r>
            <a:r>
              <a:rPr lang="en-US" altLang="en-US" sz="1900">
                <a:solidFill>
                  <a:schemeClr val="tx1"/>
                </a:solidFill>
                <a:latin typeface="+mn-lt"/>
              </a:rPr>
              <a:t>, meaning 3:2 resonance with Neptune…</a:t>
            </a:r>
          </a:p>
          <a:p>
            <a:pPr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More about resonances later!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35359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23862" y="1143000"/>
            <a:ext cx="8644827" cy="456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 eaLnBrk="0" hangingPunct="0">
              <a:spcBef>
                <a:spcPts val="800"/>
              </a:spcBef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1363" indent="-284163" eaLnBrk="0" hangingPunct="0">
              <a:spcBef>
                <a:spcPts val="700"/>
              </a:spcBef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ts val="500"/>
              </a:spcBef>
              <a:buChar char="–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ts val="500"/>
              </a:spcBef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50"/>
              </a:spcBef>
            </a:pPr>
            <a:r>
              <a:rPr lang="en-GB" altLang="en-US" sz="2600" dirty="0">
                <a:latin typeface="Times New Roman" panose="02020603050405020304" pitchFamily="18" charset="0"/>
              </a:rPr>
              <a:t>There are 5 recognized dwarf planets in our solar system: Ceres, Pluto, Haumea (2003 EL</a:t>
            </a:r>
            <a:r>
              <a:rPr lang="en-GB" altLang="en-US" sz="2600" baseline="-25000" dirty="0">
                <a:latin typeface="Times New Roman" panose="02020603050405020304" pitchFamily="18" charset="0"/>
              </a:rPr>
              <a:t>61</a:t>
            </a:r>
            <a:r>
              <a:rPr lang="en-GB" altLang="en-US" sz="2600" dirty="0">
                <a:latin typeface="Times New Roman" panose="02020603050405020304" pitchFamily="18" charset="0"/>
              </a:rPr>
              <a:t>), </a:t>
            </a:r>
            <a:r>
              <a:rPr lang="en-GB" altLang="en-US" sz="2600" dirty="0" err="1">
                <a:latin typeface="Times New Roman" panose="02020603050405020304" pitchFamily="18" charset="0"/>
              </a:rPr>
              <a:t>Makemake</a:t>
            </a:r>
            <a:r>
              <a:rPr lang="en-GB" altLang="en-US" sz="2600" dirty="0">
                <a:latin typeface="Times New Roman" panose="02020603050405020304" pitchFamily="18" charset="0"/>
              </a:rPr>
              <a:t> (2005 FY</a:t>
            </a:r>
            <a:r>
              <a:rPr lang="en-GB" altLang="en-US" sz="2600" baseline="-25000" dirty="0">
                <a:latin typeface="Times New Roman" panose="02020603050405020304" pitchFamily="18" charset="0"/>
              </a:rPr>
              <a:t>9</a:t>
            </a:r>
            <a:r>
              <a:rPr lang="en-GB" altLang="en-US" sz="2600" dirty="0">
                <a:latin typeface="Times New Roman" panose="02020603050405020304" pitchFamily="18" charset="0"/>
              </a:rPr>
              <a:t>), and Eris.  Three of these are plutoids.</a:t>
            </a:r>
          </a:p>
          <a:p>
            <a:pPr eaLnBrk="1" hangingPunct="1">
              <a:lnSpc>
                <a:spcPct val="90000"/>
              </a:lnSpc>
              <a:spcBef>
                <a:spcPts val="650"/>
              </a:spcBef>
            </a:pPr>
            <a:r>
              <a:rPr lang="en-GB" altLang="en-US" sz="2600" dirty="0">
                <a:latin typeface="Times New Roman" panose="02020603050405020304" pitchFamily="18" charset="0"/>
              </a:rPr>
              <a:t>Likely many more dwarf planets to be recognized, (including more asteroids?)</a:t>
            </a:r>
          </a:p>
          <a:p>
            <a:pPr lvl="1" eaLnBrk="1" hangingPunct="1">
              <a:lnSpc>
                <a:spcPct val="90000"/>
              </a:lnSpc>
              <a:spcBef>
                <a:spcPts val="550"/>
              </a:spcBef>
            </a:pPr>
            <a:r>
              <a:rPr lang="en-GB" altLang="en-US" sz="2200" dirty="0">
                <a:latin typeface="Times New Roman" panose="02020603050405020304" pitchFamily="18" charset="0"/>
              </a:rPr>
              <a:t>Size is hard to measure.</a:t>
            </a:r>
          </a:p>
          <a:p>
            <a:pPr eaLnBrk="1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–"/>
            </a:pPr>
            <a:r>
              <a:rPr lang="en-GB" altLang="en-US" sz="1800" dirty="0">
                <a:solidFill>
                  <a:schemeClr val="tx1"/>
                </a:solidFill>
                <a:latin typeface="Times New Roman" panose="02020603050405020304" pitchFamily="18" charset="0"/>
                <a:hlinkClick r:id="rId4"/>
              </a:rPr>
              <a:t>http://solarsystem.nasa.gov/planets/profile.cfm?Object=Dwarf</a:t>
            </a:r>
            <a:r>
              <a:rPr lang="en-GB" altLang="en-US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–"/>
            </a:pPr>
            <a:r>
              <a:rPr lang="en-GB" altLang="en-US" sz="1800" dirty="0">
                <a:solidFill>
                  <a:schemeClr val="tx1"/>
                </a:solidFill>
                <a:latin typeface="Times New Roman" panose="02020603050405020304" pitchFamily="18" charset="0"/>
                <a:hlinkClick r:id="rId5"/>
              </a:rPr>
              <a:t>http://web.gps.caltech.edu/~mbrown/dwarfplanets/</a:t>
            </a:r>
            <a:r>
              <a:rPr lang="en-GB" altLang="en-US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72706" name="Text Box 1"/>
          <p:cNvSpPr txBox="1"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ts val="8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ts val="7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ts val="5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ts val="5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4400">
                <a:latin typeface="Times New Roman" panose="02020603050405020304" pitchFamily="18" charset="0"/>
              </a:rPr>
              <a:t>Dwarf Planets</a:t>
            </a:r>
          </a:p>
        </p:txBody>
      </p:sp>
      <p:pic>
        <p:nvPicPr>
          <p:cNvPr id="118786" name="Picture 2" descr="http://calgary.rasc.ca/images/Kuipers_revised8.jpg">
            <a:extLst>
              <a:ext uri="{FF2B5EF4-FFF2-40B4-BE49-F238E27FC236}">
                <a16:creationId xmlns:a16="http://schemas.microsoft.com/office/drawing/2014/main" id="{C9F8233E-503D-452B-854F-ABCAD25DB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9377" y="2842702"/>
            <a:ext cx="5929313" cy="406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56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981200"/>
            <a:ext cx="6743700" cy="40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D09778-F44C-44B1-B6BF-F3B98BB0B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2" y="3342590"/>
            <a:ext cx="3733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800"/>
              </a:spcBef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ts val="700"/>
              </a:spcBef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ts val="5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ts val="5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Eris                    Ceres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Pluto/Charon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15496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367" name="Rectangle 14336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69" name="Freeform: Shape 14336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628650" y="401221"/>
            <a:ext cx="7886700" cy="13480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Density is destiny</a:t>
            </a: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28650" y="2586789"/>
            <a:ext cx="7886700" cy="35901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512763" indent="-512763"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1082675" algn="l"/>
                <a:tab pos="1997075" algn="l"/>
                <a:tab pos="2911475" algn="l"/>
                <a:tab pos="3825875" algn="l"/>
                <a:tab pos="4740275" algn="l"/>
                <a:tab pos="5654675" algn="l"/>
                <a:tab pos="6569075" algn="l"/>
                <a:tab pos="7483475" algn="l"/>
                <a:tab pos="8397875" algn="l"/>
                <a:tab pos="9312275" algn="l"/>
                <a:tab pos="10226675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Planets (and dwarf planets) come in various “flavors”:</a:t>
            </a:r>
          </a:p>
          <a:p>
            <a:pPr marL="514350"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Terrestrial</a:t>
            </a:r>
          </a:p>
          <a:p>
            <a:pPr marL="514350"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Super Earths?</a:t>
            </a:r>
          </a:p>
          <a:p>
            <a:pPr marL="514350"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Giant (Jovian) (not really “gas” so much…)</a:t>
            </a:r>
          </a:p>
          <a:p>
            <a:pPr marL="514350"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Neptunian (“ice giants”?)</a:t>
            </a:r>
          </a:p>
          <a:p>
            <a:pPr marL="514350"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Icy? Consider Europa, Titan, etc., which have FAR more volatiles than we do…we’ll discuss more when we do chemistry.</a:t>
            </a:r>
          </a:p>
          <a:p>
            <a:pPr marL="514350"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Water(?)</a:t>
            </a:r>
          </a:p>
          <a:p>
            <a:pPr marL="514350" indent="-228600">
              <a:lnSpc>
                <a:spcPct val="90000"/>
              </a:lnSpc>
              <a:spcBef>
                <a:spcPts val="700"/>
              </a:spcBef>
            </a:pPr>
            <a:endParaRPr lang="en-US" altLang="en-US" sz="1900">
              <a:solidFill>
                <a:schemeClr val="tx1"/>
              </a:solidFill>
              <a:latin typeface="+mn-lt"/>
            </a:endParaRPr>
          </a:p>
          <a:p>
            <a:pPr marL="0" indent="-228600">
              <a:lnSpc>
                <a:spcPct val="90000"/>
              </a:lnSpc>
              <a:spcBef>
                <a:spcPts val="700"/>
              </a:spcBef>
            </a:pPr>
            <a:r>
              <a:rPr lang="en-US" altLang="en-US" sz="1900">
                <a:solidFill>
                  <a:schemeClr val="tx1"/>
                </a:solidFill>
                <a:latin typeface="+mn-lt"/>
              </a:rPr>
              <a:t>Useful to consider for your project…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438848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373" name="Rectangle 14337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75" name="Rectangle 14337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72" name="Rectangle 14337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74" name="Rectangle 14337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1028697" y="348865"/>
            <a:ext cx="7533018" cy="8777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Can’t just have “any old” surface gravity!</a:t>
            </a:r>
          </a:p>
        </p:txBody>
      </p:sp>
      <p:graphicFrame>
        <p:nvGraphicFramePr>
          <p:cNvPr id="143376" name="Content Placeholder 2">
            <a:extLst>
              <a:ext uri="{FF2B5EF4-FFF2-40B4-BE49-F238E27FC236}">
                <a16:creationId xmlns:a16="http://schemas.microsoft.com/office/drawing/2014/main" id="{F9DB5EC3-1FC9-34F7-D806-FECDE6E6A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41381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5388950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en-US" sz="3600" dirty="0">
                <a:latin typeface="Times New Roman" panose="02020603050405020304" pitchFamily="18" charset="0"/>
              </a:rPr>
              <a:t>Can’t just have “any old” surface gravity!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F869D4-5F94-4721-A30B-8906F15056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838200"/>
                <a:ext cx="8229600" cy="5334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Mathematically, </a:t>
                </a:r>
              </a:p>
              <a:p>
                <a:pPr marL="0" indent="0">
                  <a:buNone/>
                </a:pPr>
                <a:r>
                  <a:rPr lang="en-US" dirty="0"/>
                  <a:t>1. Density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depends on composition and weakly on size (because of compression). Decide what kind of planet it is:</a:t>
                </a:r>
              </a:p>
              <a:p>
                <a:pPr lvl="1"/>
                <a:r>
                  <a:rPr lang="en-US" dirty="0"/>
                  <a:t>Terrestrial planets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≈3000 – 5000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cf. Mars – Io – Earth </a:t>
                </a:r>
              </a:p>
              <a:p>
                <a:pPr lvl="1"/>
                <a:r>
                  <a:rPr lang="en-US" dirty="0"/>
                  <a:t>Water/icy planets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≈1500 –3000 </m:t>
                    </m:r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cf. Ganymede – Pluto – Io</a:t>
                </a:r>
              </a:p>
              <a:p>
                <a:pPr lvl="1"/>
                <a:r>
                  <a:rPr lang="en-US" dirty="0"/>
                  <a:t>Giant planets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≈600 –1500 </m:t>
                    </m:r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</a:rPr>
                      <m:t>kg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cf. Saturn – Jupiter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F869D4-5F94-4721-A30B-8906F1505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838200"/>
                <a:ext cx="8229600" cy="5334000"/>
              </a:xfrm>
              <a:prstGeom prst="rect">
                <a:avLst/>
              </a:prstGeom>
              <a:blipFill>
                <a:blip r:embed="rId4"/>
                <a:stretch>
                  <a:fillRect l="-1852" t="-1486" r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0CE4E54B-278A-46F6-837A-58CBCF644330}"/>
              </a:ext>
            </a:extLst>
          </p:cNvPr>
          <p:cNvGrpSpPr/>
          <p:nvPr/>
        </p:nvGrpSpPr>
        <p:grpSpPr>
          <a:xfrm>
            <a:off x="228600" y="3007200"/>
            <a:ext cx="3182587" cy="2049633"/>
            <a:chOff x="1340396" y="-30900"/>
            <a:chExt cx="3182587" cy="2049633"/>
          </a:xfrm>
        </p:grpSpPr>
        <p:pic>
          <p:nvPicPr>
            <p:cNvPr id="8" name="Picture 2" descr="Image result for ganymede">
              <a:extLst>
                <a:ext uri="{FF2B5EF4-FFF2-40B4-BE49-F238E27FC236}">
                  <a16:creationId xmlns:a16="http://schemas.microsoft.com/office/drawing/2014/main" id="{89D6A520-06BD-4DF6-AE2C-ABDD4B5F58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396" y="-30900"/>
              <a:ext cx="2800350" cy="1600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2A36A37-B6E5-4AEC-9636-A88E18470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rcRect/>
            <a:stretch>
              <a:fillRect/>
            </a:stretch>
          </p:blipFill>
          <p:spPr>
            <a:xfrm>
              <a:off x="3509547" y="1168893"/>
              <a:ext cx="1013436" cy="8498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C8B7752-56BC-4BDA-9DE0-AB1CE6A90A3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/>
          <a:stretch>
            <a:fillRect/>
          </a:stretch>
        </p:blipFill>
        <p:spPr>
          <a:xfrm>
            <a:off x="0" y="-13213"/>
            <a:ext cx="2405885" cy="2479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336088-6C81-45E4-B963-AA0885E3C85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/>
          <a:stretch>
            <a:fillRect/>
          </a:stretch>
        </p:blipFill>
        <p:spPr>
          <a:xfrm>
            <a:off x="4255556" y="-4774"/>
            <a:ext cx="4659844" cy="4671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82" name="Picture 2" descr="Juno Sends Back Breathtaking New Images of Jupiter | Space Exploration |  Sci-News.com">
            <a:extLst>
              <a:ext uri="{FF2B5EF4-FFF2-40B4-BE49-F238E27FC236}">
                <a16:creationId xmlns:a16="http://schemas.microsoft.com/office/drawing/2014/main" id="{6DD25922-FD67-4577-877D-863A1B906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859" y="1952686"/>
            <a:ext cx="6803941" cy="1068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26974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367" name="Rectangle 143366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69" name="Freeform: Shape 143368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628650" y="401221"/>
            <a:ext cx="7886700" cy="134806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7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5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4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Can’t just have “any old” surface gravity!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F869D4-5F94-4721-A30B-8906F15056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2586789"/>
                <a:ext cx="7886700" cy="35901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90000"/>
                  </a:lnSpc>
                </a:pPr>
                <a:r>
                  <a:rPr lang="en-US" sz="1900" dirty="0"/>
                  <a:t>2. Then pick a radius </a:t>
                </a:r>
                <a14:m>
                  <m:oMath xmlns:m="http://schemas.openxmlformats.org/officeDocument/2006/math">
                    <m:r>
                      <a:rPr lang="en-US" sz="1900" b="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900" dirty="0"/>
                  <a:t> which weakly depends on composition (unlikely to  have Neptune sized planets of iron, or Earth sized planets of hydrogen)</a:t>
                </a:r>
              </a:p>
              <a:p>
                <a:pPr marL="0" indent="-228600">
                  <a:lnSpc>
                    <a:spcPct val="90000"/>
                  </a:lnSpc>
                </a:pPr>
                <a:r>
                  <a:rPr lang="en-US" sz="1900" dirty="0"/>
                  <a:t>3. Everything is a sphere, so the mass is given by:</a:t>
                </a:r>
              </a:p>
              <a:p>
                <a:pPr marL="2286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r>
                        <a:rPr lang="en-US" sz="1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f>
                            <m:f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sz="1900" b="0" i="1">
                          <a:latin typeface="Cambria Math" panose="02040503050406030204" pitchFamily="18" charset="0"/>
                        </a:rPr>
                        <m:t>    →       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900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900" b="0" i="1">
                          <a:latin typeface="Cambria Math" panose="02040503050406030204" pitchFamily="18" charset="0"/>
                        </a:rPr>
                        <m:t>≈4</m:t>
                      </m:r>
                      <m:r>
                        <a:rPr lang="en-US" sz="1900" b="0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19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1900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9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900" dirty="0"/>
              </a:p>
              <a:p>
                <a:pPr marL="0" indent="-228600">
                  <a:lnSpc>
                    <a:spcPct val="90000"/>
                  </a:lnSpc>
                </a:pPr>
                <a:r>
                  <a:rPr lang="en-US" sz="1900" dirty="0"/>
                  <a:t>4. </a:t>
                </a:r>
                <a:r>
                  <a:rPr lang="en-US" sz="1900" b="1" i="1" dirty="0"/>
                  <a:t>Now</a:t>
                </a:r>
                <a:r>
                  <a:rPr lang="en-US" sz="1900" dirty="0"/>
                  <a:t> you can calculate the surface gravity: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9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𝐺𝑀</m:t>
                          </m:r>
                        </m:num>
                        <m:den>
                          <m:sSup>
                            <m:sSup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900" dirty="0"/>
              </a:p>
              <a:p>
                <a:pPr marL="114300" indent="0">
                  <a:lnSpc>
                    <a:spcPct val="90000"/>
                  </a:lnSpc>
                  <a:buNone/>
                </a:pPr>
                <a:r>
                  <a:rPr lang="en-US" sz="1900" b="1" dirty="0"/>
                  <a:t>i.e., you don’t have total freedom for any old </a:t>
                </a:r>
                <a14:m>
                  <m:oMath xmlns:m="http://schemas.openxmlformats.org/officeDocument/2006/math">
                    <m:r>
                      <a:rPr lang="en-US" sz="1900" b="1" i="1"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sz="1900" b="1" dirty="0"/>
                  <a:t> once you know </a:t>
                </a:r>
                <a14:m>
                  <m:oMath xmlns:m="http://schemas.openxmlformats.org/officeDocument/2006/math">
                    <m:r>
                      <a:rPr lang="en-US" sz="1900" b="1" i="1"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sz="1900" b="1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900" b="1" i="0"/>
                      <m:t>and</m:t>
                    </m:r>
                    <m:r>
                      <a:rPr lang="en-US" sz="19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sz="1900" b="1" dirty="0"/>
                  <a:t>. </a:t>
                </a:r>
                <a:r>
                  <a:rPr lang="en-US" sz="1900" dirty="0"/>
                  <a:t>If you don’t like the g you get, you should start over and chat with us!</a:t>
                </a:r>
                <a:endParaRPr lang="en-US" sz="1900" b="1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F869D4-5F94-4721-A30B-8906F1505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586789"/>
                <a:ext cx="7886700" cy="3590174"/>
              </a:xfrm>
              <a:prstGeom prst="rect">
                <a:avLst/>
              </a:prstGeom>
              <a:blipFill>
                <a:blip r:embed="rId4"/>
                <a:stretch>
                  <a:fillRect l="-482"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8724282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 title="Question Text">
            <a:extLst>
              <a:ext uri="{FF2B5EF4-FFF2-40B4-BE49-F238E27FC236}">
                <a16:creationId xmlns:a16="http://schemas.microsoft.com/office/drawing/2014/main" id="{52A06EB4-CB63-40F3-ADD5-B42007DF9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fast do you have to go to get off a planet of mass </a:t>
            </a:r>
            <a:r>
              <a:rPr lang="en-US" i="1" dirty="0"/>
              <a:t>M </a:t>
            </a:r>
            <a:r>
              <a:rPr lang="en-US" dirty="0"/>
              <a:t>and radius </a:t>
            </a:r>
            <a:r>
              <a:rPr lang="en-US" i="1" dirty="0"/>
              <a:t>R?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PAnswers" title="Answer Text">
                <a:extLst>
                  <a:ext uri="{FF2B5EF4-FFF2-40B4-BE49-F238E27FC236}">
                    <a16:creationId xmlns:a16="http://schemas.microsoft.com/office/drawing/2014/main" id="{D188A176-9DC5-4109-B310-43CD711A1699}"/>
                  </a:ext>
                </a:extLst>
              </p:cNvPr>
              <p:cNvSpPr>
                <a:spLocks noGrp="1"/>
              </p:cNvSpPr>
              <p:nvPr>
                <p:ph type="body"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4114800" cy="4525963"/>
              </a:xfrm>
            </p:spPr>
            <p:txBody>
              <a:bodyPr/>
              <a:lstStyle/>
              <a:p>
                <a:pPr marL="514350" indent="-514350">
                  <a:buFont typeface="Arial" pitchFamily="34" charset="0"/>
                  <a:buAutoNum type="alphaUcPeriod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𝐺𝑀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ra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Arial" pitchFamily="34" charset="0"/>
                  <a:buAutoNum type="alphaUcPeriod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𝐺𝑀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ra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Arial" pitchFamily="34" charset="0"/>
                  <a:buAutoNum type="alphaUcPeriod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𝑔h</m:t>
                        </m:r>
                      </m:e>
                    </m:ra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Arial" pitchFamily="34" charset="0"/>
                  <a:buAutoNum type="alphaUcPeriod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𝑜𝑡h𝑒𝑟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b="0" dirty="0"/>
              </a:p>
              <a:p>
                <a:pPr marL="514350" indent="-514350">
                  <a:buFont typeface="Arial" pitchFamily="34" charset="0"/>
                  <a:buAutoNum type="alphaUcPeriod"/>
                </a:pPr>
                <a:r>
                  <a:rPr lang="en-US" b="0" dirty="0"/>
                  <a:t>What?!?!</a:t>
                </a:r>
                <a:endParaRPr lang="en-US" dirty="0"/>
              </a:p>
            </p:txBody>
          </p:sp>
        </mc:Choice>
        <mc:Fallback xmlns="">
          <p:sp>
            <p:nvSpPr>
              <p:cNvPr id="3" name="TPAnswers" title="Answer Text">
                <a:extLst>
                  <a:ext uri="{FF2B5EF4-FFF2-40B4-BE49-F238E27FC236}">
                    <a16:creationId xmlns:a16="http://schemas.microsoft.com/office/drawing/2014/main" id="{D188A176-9DC5-4109-B310-43CD711A16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  <p:custDataLst>
                  <p:tags r:id="rId6"/>
                </p:custDataLst>
              </p:nvPr>
            </p:nvSpPr>
            <p:spPr>
              <a:xfrm>
                <a:off x="457200" y="1600200"/>
                <a:ext cx="4114800" cy="4525963"/>
              </a:xfrm>
              <a:blipFill>
                <a:blip r:embed="rId7"/>
                <a:stretch>
                  <a:fillRect l="-3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PPolling" title="Polling Shape">
            <a:extLst>
              <a:ext uri="{FF2B5EF4-FFF2-40B4-BE49-F238E27FC236}">
                <a16:creationId xmlns:a16="http://schemas.microsoft.com/office/drawing/2014/main" id="{ABEAE609-1B64-43B6-A573-27D3A0246097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466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/>
              <a:t>Escape!!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How do you get out of here? How fast does something have to be moving up near the ground* so that it gets out of a “gravity well”?</a:t>
            </a:r>
          </a:p>
          <a:p>
            <a:r>
              <a:rPr lang="en-US" dirty="0"/>
              <a:t>You’ll think about </a:t>
            </a:r>
            <a:r>
              <a:rPr lang="en-US" i="1" dirty="0"/>
              <a:t>motion</a:t>
            </a:r>
            <a:r>
              <a:rPr lang="en-US" dirty="0"/>
              <a:t> energy and </a:t>
            </a:r>
            <a:r>
              <a:rPr lang="en-US" i="1" dirty="0"/>
              <a:t>gravity</a:t>
            </a:r>
            <a:r>
              <a:rPr lang="en-US" dirty="0"/>
              <a:t> energy (and the conservation of energy!) from your discussion about John Carter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743200" y="5029200"/>
          <a:ext cx="3446463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457200" progId="Equation.3">
                  <p:embed/>
                </p:oleObj>
              </mc:Choice>
              <mc:Fallback>
                <p:oleObj name="Equation" r:id="rId2" imgW="1307880" imgH="4572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029200"/>
                        <a:ext cx="3446463" cy="120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" y="3828871"/>
            <a:ext cx="899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*neglect rockets that can keep firing even as they get higher… </a:t>
            </a:r>
          </a:p>
          <a:p>
            <a:pPr algn="ctr"/>
            <a:r>
              <a:rPr lang="en-US" sz="2400" b="1" dirty="0"/>
              <a:t>Note that you can’t use </a:t>
            </a:r>
            <a:r>
              <a:rPr lang="en-US" sz="2400" b="1" i="1" dirty="0" err="1"/>
              <a:t>mgh</a:t>
            </a:r>
            <a:r>
              <a:rPr lang="en-US" sz="2400" b="1" dirty="0"/>
              <a:t> now! That was only good for </a:t>
            </a:r>
            <a:r>
              <a:rPr lang="en-US" sz="2400" b="1" i="1" dirty="0"/>
              <a:t>g</a:t>
            </a:r>
            <a:r>
              <a:rPr lang="en-US" sz="2400" b="1" dirty="0"/>
              <a:t> being  nearly constant! Little </a:t>
            </a:r>
            <a:r>
              <a:rPr lang="en-US" sz="2400" b="1" i="1" dirty="0"/>
              <a:t>g </a:t>
            </a:r>
            <a:r>
              <a:rPr lang="en-US" sz="2400" b="1" dirty="0"/>
              <a:t>is a “surface gravity” convenience…</a:t>
            </a:r>
          </a:p>
        </p:txBody>
      </p:sp>
    </p:spTree>
    <p:extLst>
      <p:ext uri="{BB962C8B-B14F-4D97-AF65-F5344CB8AC3E}">
        <p14:creationId xmlns:p14="http://schemas.microsoft.com/office/powerpoint/2010/main" val="2792570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Escape!!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6517" y="9906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How do you get out of here?</a:t>
            </a:r>
          </a:p>
          <a:p>
            <a:r>
              <a:rPr lang="en-US" dirty="0"/>
              <a:t>Think about the final location? Where? Think about how a thrown object going up always slows down*…  when would it “stop”?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dirty="0">
                <a:sym typeface="Wingdings" pitchFamily="2" charset="2"/>
              </a:rPr>
              <a:t> Energy “budget”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62000" y="3124200"/>
          <a:ext cx="7596187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711000" progId="Equation.3">
                  <p:embed/>
                </p:oleObj>
              </mc:Choice>
              <mc:Fallback>
                <p:oleObj name="Equation" r:id="rId2" imgW="2882880" imgH="7110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24200"/>
                        <a:ext cx="7596187" cy="186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5517" y="5943600"/>
            <a:ext cx="899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*Again, neglect rockets that can keep firing even as they get higher…</a:t>
            </a:r>
          </a:p>
        </p:txBody>
      </p:sp>
    </p:spTree>
    <p:extLst>
      <p:ext uri="{BB962C8B-B14F-4D97-AF65-F5344CB8AC3E}">
        <p14:creationId xmlns:p14="http://schemas.microsoft.com/office/powerpoint/2010/main" val="21547364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Escape!!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http://xkcd.com/681/</a:t>
            </a:r>
            <a:r>
              <a:rPr lang="en-US" dirty="0"/>
              <a:t> - Gravity Wells</a:t>
            </a:r>
          </a:p>
          <a:p>
            <a:r>
              <a:rPr lang="en-US" dirty="0"/>
              <a:t>So what does this mean about “holding on” to an atmosphere?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27050" y="3303588"/>
          <a:ext cx="7775575" cy="1319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84400" imgH="507960" progId="Equation.3">
                  <p:embed/>
                </p:oleObj>
              </mc:Choice>
              <mc:Fallback>
                <p:oleObj name="Equation" r:id="rId3" imgW="2984400" imgH="50796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3303588"/>
                        <a:ext cx="7775575" cy="1319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0" y="3048000"/>
            <a:ext cx="3429000" cy="19812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9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56" name="Rectangle 18455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36" name="Picture 4" descr="http://cartoonsnap.com/blogspot/images/GorgeouslyGarishSFPulpCovers_A175/PlanetStoriesBlueBehemothSFPulpC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90" r="2" b="4230"/>
          <a:stretch/>
        </p:blipFill>
        <p:spPr bwMode="auto">
          <a:xfrm>
            <a:off x="-3" y="-4"/>
            <a:ext cx="565098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7737" y="3962400"/>
            <a:ext cx="4129361" cy="1690409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900"/>
              <a:t>Astro 230:</a:t>
            </a:r>
            <a:br>
              <a:rPr lang="en-US" sz="2900"/>
            </a:br>
            <a:r>
              <a:rPr lang="en-US" sz="2900"/>
              <a:t>the Science and Fiction of</a:t>
            </a:r>
            <a:br>
              <a:rPr lang="en-US" sz="2900"/>
            </a:br>
            <a:r>
              <a:rPr lang="en-US" sz="2900"/>
              <a:t>Planetary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57737" y="5709565"/>
            <a:ext cx="4046981" cy="64678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/>
              <a:t>Unit 1: Gravity, Density, Spin</a:t>
            </a:r>
          </a:p>
        </p:txBody>
      </p:sp>
      <p:pic>
        <p:nvPicPr>
          <p:cNvPr id="18434" name="Picture 2" descr="http://2.bp.blogspot.com/_e3szlek22RY/TGjZ8xTALGI/AAAAAAAAHhs/yQzujdQs_Sk/s1600/1950_11_miltonluros_futur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1" b="13850"/>
          <a:stretch/>
        </p:blipFill>
        <p:spPr bwMode="auto">
          <a:xfrm>
            <a:off x="5740155" y="6"/>
            <a:ext cx="3403848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83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 title="Question Text">
            <a:extLst>
              <a:ext uri="{FF2B5EF4-FFF2-40B4-BE49-F238E27FC236}">
                <a16:creationId xmlns:a16="http://schemas.microsoft.com/office/drawing/2014/main" id="{9F3E5EC6-68BE-4022-A0DB-0EC78B12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All the planets in the solar system are the same age old</a:t>
            </a:r>
          </a:p>
        </p:txBody>
      </p:sp>
      <p:sp>
        <p:nvSpPr>
          <p:cNvPr id="4" name="TPPolling" title="Polling Shape">
            <a:extLst>
              <a:ext uri="{FF2B5EF4-FFF2-40B4-BE49-F238E27FC236}">
                <a16:creationId xmlns:a16="http://schemas.microsoft.com/office/drawing/2014/main" id="{5D4CAF11-A9D0-46FB-9913-A4DC7CC33315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PAnswers" title="Answer Text">
            <a:extLst>
              <a:ext uri="{FF2B5EF4-FFF2-40B4-BE49-F238E27FC236}">
                <a16:creationId xmlns:a16="http://schemas.microsoft.com/office/drawing/2014/main" id="{5C74898B-F747-AB53-EACB-12B2AB9BD276}"/>
              </a:ext>
            </a:extLst>
          </p:cNvPr>
          <p:cNvGraphicFramePr/>
          <p:nvPr/>
        </p:nvGraphicFramePr>
        <p:xfrm>
          <a:off x="457200" y="1600200"/>
          <a:ext cx="4114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2529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343" name="Rectangle 1434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5" name="Freeform: Shape 1434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build a stellar system</a:t>
            </a:r>
          </a:p>
        </p:txBody>
      </p:sp>
      <p:sp>
        <p:nvSpPr>
          <p:cNvPr id="14347" name="Arc 1434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altLang="ja-JP" sz="2200"/>
              <a:t>(Astro 340): early universe only has hydrogen (~ 3/4) and helium (~1/4) and a smattering of lithium [universe </a:t>
            </a:r>
            <a:r>
              <a:rPr lang="en-US" altLang="ja-JP" sz="2200" i="1"/>
              <a:t>still</a:t>
            </a:r>
            <a:r>
              <a:rPr lang="en-US" altLang="ja-JP" sz="2200"/>
              <a:t> mostly H, He today]</a:t>
            </a:r>
          </a:p>
          <a:p>
            <a:pPr indent="-228600">
              <a:lnSpc>
                <a:spcPct val="90000"/>
              </a:lnSpc>
            </a:pPr>
            <a:r>
              <a:rPr lang="en-US" altLang="ja-JP" sz="2200"/>
              <a:t>First stars burn H (some He) </a:t>
            </a:r>
            <a:r>
              <a:rPr lang="en-US" altLang="ja-JP" sz="2200">
                <a:sym typeface="Wingdings" panose="05000000000000000000" pitchFamily="2" charset="2"/>
              </a:rPr>
              <a:t> carbon, nitrogen, oxygen</a:t>
            </a:r>
          </a:p>
          <a:p>
            <a:pPr indent="-228600">
              <a:lnSpc>
                <a:spcPct val="90000"/>
              </a:lnSpc>
            </a:pPr>
            <a:r>
              <a:rPr lang="en-US" altLang="ja-JP" sz="2200" b="1" i="1" u="sng">
                <a:sym typeface="Wingdings" panose="05000000000000000000" pitchFamily="2" charset="2"/>
              </a:rPr>
              <a:t>BUT EVEN AFTER THAT, THEY’RE STILL MOSTLY H AND HE!!!</a:t>
            </a:r>
            <a:endParaRPr lang="en-US" altLang="ja-JP" sz="2200" b="1" i="1" u="sng"/>
          </a:p>
          <a:p>
            <a:pPr indent="-228600">
              <a:lnSpc>
                <a:spcPct val="90000"/>
              </a:lnSpc>
            </a:pPr>
            <a:r>
              <a:rPr lang="en-US" altLang="ja-JP" sz="2200"/>
              <a:t>First supernovae make even heavier elements</a:t>
            </a:r>
          </a:p>
          <a:p>
            <a:pPr indent="-228600">
              <a:lnSpc>
                <a:spcPct val="90000"/>
              </a:lnSpc>
            </a:pPr>
            <a:r>
              <a:rPr lang="en-US" altLang="ja-JP" sz="2200"/>
              <a:t>[New astrophysics: neutron star collisions help produce </a:t>
            </a:r>
            <a:r>
              <a:rPr lang="en-US" altLang="ja-JP" sz="2200" b="1"/>
              <a:t>rare</a:t>
            </a:r>
            <a:r>
              <a:rPr lang="en-US" altLang="ja-JP" sz="2200"/>
              <a:t> elements in bulk!]</a:t>
            </a:r>
          </a:p>
          <a:p>
            <a:pPr indent="-228600">
              <a:lnSpc>
                <a:spcPct val="90000"/>
              </a:lnSpc>
            </a:pPr>
            <a:r>
              <a:rPr lang="en-US" altLang="ja-JP" sz="2200"/>
              <a:t>More in the Chemistry unit: for now, H, He and “metals”</a:t>
            </a:r>
          </a:p>
          <a:p>
            <a:pPr indent="-228600">
              <a:lnSpc>
                <a:spcPct val="90000"/>
              </a:lnSpc>
            </a:pPr>
            <a:endParaRPr lang="en-US" altLang="ja-JP" sz="22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44162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PChart"/>
          <p:cNvSpPr/>
          <p:nvPr>
            <p:custDataLst>
              <p:tags r:id="rId2"/>
            </p:custDataLst>
          </p:nvPr>
        </p:nvSpPr>
        <p:spPr>
          <a:xfrm>
            <a:off x="4508500" y="1600200"/>
            <a:ext cx="4572000" cy="51435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PQuestion" title="Question Tex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have found my group!</a:t>
            </a:r>
          </a:p>
        </p:txBody>
      </p:sp>
      <p:sp>
        <p:nvSpPr>
          <p:cNvPr id="3" name="TPAnswers" title="Answer Text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 marL="514350" indent="-514350">
              <a:buFont typeface="Arial" pitchFamily="34" charset="0"/>
              <a:buAutoNum type="alphaUcPeriod"/>
            </a:pPr>
            <a:r>
              <a:rPr lang="en-US" dirty="0"/>
              <a:t>Yes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US" dirty="0"/>
              <a:t>Uh.. Yes?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US" dirty="0"/>
              <a:t>What?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US" dirty="0"/>
              <a:t>No</a:t>
            </a:r>
          </a:p>
        </p:txBody>
      </p:sp>
      <p:sp>
        <p:nvSpPr>
          <p:cNvPr id="4" name="TPPolling" title="Polling Shape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646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4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 title="Question Text">
            <a:extLst>
              <a:ext uri="{FF2B5EF4-FFF2-40B4-BE49-F238E27FC236}">
                <a16:creationId xmlns:a16="http://schemas.microsoft.com/office/drawing/2014/main" id="{58D9B1A8-B706-458B-BBA9-27634DA8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fights gravity? What prevents things from collapsing forever?</a:t>
            </a:r>
          </a:p>
        </p:txBody>
      </p:sp>
      <p:sp>
        <p:nvSpPr>
          <p:cNvPr id="4" name="TPPolling" title="Polling Shape">
            <a:extLst>
              <a:ext uri="{FF2B5EF4-FFF2-40B4-BE49-F238E27FC236}">
                <a16:creationId xmlns:a16="http://schemas.microsoft.com/office/drawing/2014/main" id="{2938A1AC-FA67-4B10-A4D1-5F50F0A729BB}"/>
              </a:ext>
            </a:extLst>
          </p:cNvPr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PAnswers" title="Answer Text">
            <a:extLst>
              <a:ext uri="{FF2B5EF4-FFF2-40B4-BE49-F238E27FC236}">
                <a16:creationId xmlns:a16="http://schemas.microsoft.com/office/drawing/2014/main" id="{A5B8BDD0-DA20-6815-EA33-0ADAFD76FF24}"/>
              </a:ext>
            </a:extLst>
          </p:cNvPr>
          <p:cNvGraphicFramePr/>
          <p:nvPr/>
        </p:nvGraphicFramePr>
        <p:xfrm>
          <a:off x="457200" y="1600200"/>
          <a:ext cx="4114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9728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 descr="[M16, Eagle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179637" y="838200"/>
            <a:ext cx="5453063" cy="558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724400" y="3276600"/>
            <a:ext cx="762000" cy="914400"/>
          </a:xfrm>
          <a:prstGeom prst="rect">
            <a:avLst/>
          </a:prstGeom>
          <a:noFill/>
          <a:ln w="476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8308" name="Picture 4" descr="https://upload.wikimedia.org/wikipedia/commons/thumb/8/80/Eagle_Nebula_4xHubble_WikiSky.jpg/800px-Eagle_Nebula_4xHubble_WikiSky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04799"/>
            <a:ext cx="7620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719" y="304799"/>
            <a:ext cx="6196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0" name="Picture 6" descr="https://upload.wikimedia.org/wikipedia/commons/thumb/6/68/Pillars_of_creation_2014_HST_WFC3-UVIS_full-res_denoised.jpg/800px-Pillars_of_creation_2014_HST_WFC3-UVIS_full-res_denoised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-990600"/>
            <a:ext cx="9410700" cy="9810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44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2" name="Rectangle 4111">
            <a:extLst>
              <a:ext uri="{FF2B5EF4-FFF2-40B4-BE49-F238E27FC236}">
                <a16:creationId xmlns:a16="http://schemas.microsoft.com/office/drawing/2014/main" id="{E3BF711F-F9A0-4EA4-B156-A79E9F362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14" name="Group 4113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03441" y="-1"/>
            <a:ext cx="5737117" cy="5728133"/>
            <a:chOff x="329184" y="1"/>
            <a:chExt cx="524256" cy="5728133"/>
          </a:xfrm>
        </p:grpSpPr>
        <p:cxnSp>
          <p:nvCxnSpPr>
            <p:cNvPr id="4115" name="Straight Connector 4114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6" name="Rectangle 4115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118" name="Rectangle 4117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318045"/>
            <a:ext cx="8249304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Box 24"/>
          <p:cNvSpPr txBox="1">
            <a:spLocks noChangeArrowheads="1"/>
          </p:cNvSpPr>
          <p:nvPr/>
        </p:nvSpPr>
        <p:spPr bwMode="auto">
          <a:xfrm>
            <a:off x="795174" y="3801738"/>
            <a:ext cx="7553652" cy="9297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Gravity vs. pressure: the nature of collapse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sz="2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Stellar system construction</a:t>
            </a:r>
          </a:p>
        </p:txBody>
      </p:sp>
      <p:pic>
        <p:nvPicPr>
          <p:cNvPr id="4099" name="Picture 16" descr="http://2.bp.blogspot.com/_EBaOsMgGk6I/SEy2ereJsLI/AAAAAAAAAN4/xGuewBmAn8A/s400/Slide2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" r="3590" b="2"/>
          <a:stretch/>
        </p:blipFill>
        <p:spPr bwMode="auto">
          <a:xfrm>
            <a:off x="678369" y="772621"/>
            <a:ext cx="2469592" cy="266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18" descr="http://i.space.com/images/i/10428/i02/solar-nebula.jpg?130885106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8" r="20340" b="-1"/>
          <a:stretch/>
        </p:blipFill>
        <p:spPr bwMode="auto">
          <a:xfrm>
            <a:off x="3342969" y="772621"/>
            <a:ext cx="2469593" cy="266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4" descr="http://static.ddmcdn.com/gif/hot-air-balloon-atmospher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5" r="8364" b="-1"/>
          <a:stretch/>
        </p:blipFill>
        <p:spPr bwMode="auto">
          <a:xfrm>
            <a:off x="6011988" y="772621"/>
            <a:ext cx="2469592" cy="266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176213" y="-1646238"/>
            <a:ext cx="3238500" cy="342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28613" y="-1493838"/>
            <a:ext cx="3238500" cy="342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481013" y="-1341438"/>
            <a:ext cx="3238500" cy="342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633413" y="-1189038"/>
            <a:ext cx="3238500" cy="342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8112913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8" name="Picture 16387" descr="A swirling meteorite">
            <a:extLst>
              <a:ext uri="{FF2B5EF4-FFF2-40B4-BE49-F238E27FC236}">
                <a16:creationId xmlns:a16="http://schemas.microsoft.com/office/drawing/2014/main" id="{F56D7548-5A32-9FB3-0C47-6F413CF0D9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201" r="28490" b="1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6394" name="Rectangle 16393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4512" y="210800"/>
            <a:ext cx="4098726" cy="1559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 sz="3500" dirty="0"/>
              <a:t>The Nebula Hypothesis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4586487" y="2370671"/>
            <a:ext cx="3935505" cy="34968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indent="-228600">
              <a:lnSpc>
                <a:spcPct val="90000"/>
              </a:lnSpc>
            </a:pPr>
            <a:r>
              <a:rPr lang="en-US" altLang="ja-JP" sz="1800" dirty="0"/>
              <a:t>Laplace (1796): Solar System formed from a cloud of gas and dust…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ja-JP" sz="1800" dirty="0"/>
              <a:t>maybe ~light-year across ~10,000-100,000 AU</a:t>
            </a:r>
          </a:p>
          <a:p>
            <a:pPr indent="-228600">
              <a:lnSpc>
                <a:spcPct val="90000"/>
              </a:lnSpc>
            </a:pPr>
            <a:r>
              <a:rPr lang="en-US" altLang="ja-JP" sz="1800" dirty="0"/>
              <a:t>…that collapsed (</a:t>
            </a:r>
            <a:r>
              <a:rPr lang="en-US" altLang="ja-JP" sz="1800" i="1" dirty="0"/>
              <a:t>gravity again!)</a:t>
            </a:r>
            <a:r>
              <a:rPr lang="en-US" altLang="ja-JP" sz="1800" dirty="0"/>
              <a:t> into a </a:t>
            </a:r>
            <a:r>
              <a:rPr lang="en-US" altLang="ja-JP" sz="1800" b="1" dirty="0"/>
              <a:t>protoplanetary</a:t>
            </a:r>
            <a:r>
              <a:rPr lang="en-US" altLang="ja-JP" sz="1800" dirty="0"/>
              <a:t> disk.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ja-JP" sz="1800" dirty="0"/>
              <a:t>maybe ~100 AU across (!)</a:t>
            </a:r>
          </a:p>
          <a:p>
            <a:pPr indent="-228600">
              <a:lnSpc>
                <a:spcPct val="90000"/>
              </a:lnSpc>
            </a:pPr>
            <a:r>
              <a:rPr lang="en-US" altLang="ja-JP" sz="1800" dirty="0"/>
              <a:t>The disk’s rotation sped up as it contracted…</a:t>
            </a:r>
          </a:p>
          <a:p>
            <a:pPr indent="-228600">
              <a:lnSpc>
                <a:spcPct val="90000"/>
              </a:lnSpc>
            </a:pPr>
            <a:r>
              <a:rPr lang="en-US" altLang="ja-JP" sz="1800" dirty="0"/>
              <a:t>…due to conservation of angular momentum,  (like skater bringing arms in during a spin)</a:t>
            </a:r>
          </a:p>
          <a:p>
            <a:pPr indent="-228600">
              <a:lnSpc>
                <a:spcPct val="90000"/>
              </a:lnSpc>
            </a:pPr>
            <a:r>
              <a:rPr lang="en-US" altLang="ja-JP" sz="1800" dirty="0"/>
              <a:t>This explains why the our planets roughly share the same orbital plane (any net angular momentum would favor “supporting” two dimensions against collapse, but not the third!)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786822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945" name="Rectangle 3994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29369" y="238539"/>
            <a:ext cx="826389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/>
              <a:t>Formation of the Solar System</a:t>
            </a:r>
          </a:p>
        </p:txBody>
      </p:sp>
      <p:sp>
        <p:nvSpPr>
          <p:cNvPr id="3994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29369" y="2071316"/>
            <a:ext cx="5035164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sz="2800" dirty="0"/>
              <a:t>Start with nebula</a:t>
            </a:r>
          </a:p>
          <a:p>
            <a:pPr indent="-228600">
              <a:lnSpc>
                <a:spcPct val="90000"/>
              </a:lnSpc>
            </a:pPr>
            <a:r>
              <a:rPr lang="en-US" sz="2800" dirty="0"/>
              <a:t>(</a:t>
            </a:r>
            <a:r>
              <a:rPr lang="en-US" sz="2800" i="1" dirty="0"/>
              <a:t>Large </a:t>
            </a:r>
            <a:r>
              <a:rPr lang="en-US" sz="2800" dirty="0"/>
              <a:t>cloud)</a:t>
            </a:r>
          </a:p>
          <a:p>
            <a:pPr indent="-228600">
              <a:lnSpc>
                <a:spcPct val="90000"/>
              </a:lnSpc>
            </a:pPr>
            <a:r>
              <a:rPr lang="en-US" sz="2800" dirty="0"/>
              <a:t>Sun turns on…(but when?)</a:t>
            </a:r>
          </a:p>
          <a:p>
            <a:pPr indent="-228600">
              <a:lnSpc>
                <a:spcPct val="90000"/>
              </a:lnSpc>
            </a:pPr>
            <a:r>
              <a:rPr lang="en-US" sz="2800" dirty="0"/>
              <a:t>…as “dust” and gas start to clump (accrete)</a:t>
            </a:r>
          </a:p>
          <a:p>
            <a:pPr indent="-228600">
              <a:lnSpc>
                <a:spcPct val="90000"/>
              </a:lnSpc>
            </a:pPr>
            <a:r>
              <a:rPr lang="en-US" sz="2800" dirty="0"/>
              <a:t>Takes 10</a:t>
            </a:r>
            <a:r>
              <a:rPr lang="en-US" sz="2800" baseline="30000" dirty="0"/>
              <a:t>5</a:t>
            </a:r>
            <a:r>
              <a:rPr lang="en-US" sz="2800" dirty="0"/>
              <a:t>-10</a:t>
            </a:r>
            <a:r>
              <a:rPr lang="en-US" sz="2800" baseline="30000" dirty="0"/>
              <a:t>7</a:t>
            </a:r>
            <a:r>
              <a:rPr lang="en-US" sz="2800" dirty="0"/>
              <a:t> </a:t>
            </a:r>
            <a:r>
              <a:rPr lang="en-US" sz="2800" dirty="0" err="1"/>
              <a:t>yrs</a:t>
            </a:r>
            <a:r>
              <a:rPr lang="en-US" sz="2800" dirty="0"/>
              <a:t> depending on your model</a:t>
            </a:r>
          </a:p>
        </p:txBody>
      </p:sp>
      <p:pic>
        <p:nvPicPr>
          <p:cNvPr id="3994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7" r="12172" b="-3"/>
          <a:stretch/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61916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5" name="Rectangle 4199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80060" y="329184"/>
            <a:ext cx="5170932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/>
              <a:t>Formation of the Solar System</a:t>
            </a:r>
          </a:p>
        </p:txBody>
      </p:sp>
      <p:sp>
        <p:nvSpPr>
          <p:cNvPr id="4199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214" y="2395728"/>
            <a:ext cx="3182691" cy="18288"/>
          </a:xfrm>
          <a:custGeom>
            <a:avLst/>
            <a:gdLst>
              <a:gd name="connsiteX0" fmla="*/ 0 w 3182691"/>
              <a:gd name="connsiteY0" fmla="*/ 0 h 18288"/>
              <a:gd name="connsiteX1" fmla="*/ 636538 w 3182691"/>
              <a:gd name="connsiteY1" fmla="*/ 0 h 18288"/>
              <a:gd name="connsiteX2" fmla="*/ 1273076 w 3182691"/>
              <a:gd name="connsiteY2" fmla="*/ 0 h 18288"/>
              <a:gd name="connsiteX3" fmla="*/ 1909615 w 3182691"/>
              <a:gd name="connsiteY3" fmla="*/ 0 h 18288"/>
              <a:gd name="connsiteX4" fmla="*/ 2482499 w 3182691"/>
              <a:gd name="connsiteY4" fmla="*/ 0 h 18288"/>
              <a:gd name="connsiteX5" fmla="*/ 3182691 w 3182691"/>
              <a:gd name="connsiteY5" fmla="*/ 0 h 18288"/>
              <a:gd name="connsiteX6" fmla="*/ 3182691 w 3182691"/>
              <a:gd name="connsiteY6" fmla="*/ 18288 h 18288"/>
              <a:gd name="connsiteX7" fmla="*/ 2609807 w 3182691"/>
              <a:gd name="connsiteY7" fmla="*/ 18288 h 18288"/>
              <a:gd name="connsiteX8" fmla="*/ 2068749 w 3182691"/>
              <a:gd name="connsiteY8" fmla="*/ 18288 h 18288"/>
              <a:gd name="connsiteX9" fmla="*/ 1432211 w 3182691"/>
              <a:gd name="connsiteY9" fmla="*/ 18288 h 18288"/>
              <a:gd name="connsiteX10" fmla="*/ 859327 w 3182691"/>
              <a:gd name="connsiteY10" fmla="*/ 18288 h 18288"/>
              <a:gd name="connsiteX11" fmla="*/ 0 w 3182691"/>
              <a:gd name="connsiteY11" fmla="*/ 18288 h 18288"/>
              <a:gd name="connsiteX12" fmla="*/ 0 w 3182691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1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13406" y="3458"/>
                  <a:pt x="1273076" y="0"/>
                </a:cubicBezTo>
                <a:cubicBezTo>
                  <a:pt x="1532746" y="-3458"/>
                  <a:pt x="1697408" y="-16840"/>
                  <a:pt x="1909615" y="0"/>
                </a:cubicBezTo>
                <a:cubicBezTo>
                  <a:pt x="2121822" y="16840"/>
                  <a:pt x="2213494" y="-18555"/>
                  <a:pt x="2482499" y="0"/>
                </a:cubicBezTo>
                <a:cubicBezTo>
                  <a:pt x="2751504" y="18555"/>
                  <a:pt x="3004132" y="-28750"/>
                  <a:pt x="3182691" y="0"/>
                </a:cubicBezTo>
                <a:cubicBezTo>
                  <a:pt x="3183133" y="4516"/>
                  <a:pt x="3181864" y="12266"/>
                  <a:pt x="3182691" y="18288"/>
                </a:cubicBezTo>
                <a:cubicBezTo>
                  <a:pt x="2947041" y="16687"/>
                  <a:pt x="2875741" y="22937"/>
                  <a:pt x="2609807" y="18288"/>
                </a:cubicBezTo>
                <a:cubicBezTo>
                  <a:pt x="2343873" y="13639"/>
                  <a:pt x="2331203" y="31729"/>
                  <a:pt x="2068749" y="18288"/>
                </a:cubicBezTo>
                <a:cubicBezTo>
                  <a:pt x="1806295" y="4847"/>
                  <a:pt x="1713773" y="47088"/>
                  <a:pt x="1432211" y="18288"/>
                </a:cubicBezTo>
                <a:cubicBezTo>
                  <a:pt x="1150649" y="-10512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1" h="18288" stroke="0" extrusionOk="0">
                <a:moveTo>
                  <a:pt x="0" y="0"/>
                </a:moveTo>
                <a:cubicBezTo>
                  <a:pt x="247695" y="-19360"/>
                  <a:pt x="392581" y="-28596"/>
                  <a:pt x="572884" y="0"/>
                </a:cubicBezTo>
                <a:cubicBezTo>
                  <a:pt x="753187" y="28596"/>
                  <a:pt x="922042" y="4121"/>
                  <a:pt x="1113942" y="0"/>
                </a:cubicBezTo>
                <a:cubicBezTo>
                  <a:pt x="1305842" y="-4121"/>
                  <a:pt x="1501806" y="28092"/>
                  <a:pt x="1686826" y="0"/>
                </a:cubicBezTo>
                <a:cubicBezTo>
                  <a:pt x="1871846" y="-28092"/>
                  <a:pt x="2170181" y="-20672"/>
                  <a:pt x="2323364" y="0"/>
                </a:cubicBezTo>
                <a:cubicBezTo>
                  <a:pt x="2476547" y="20672"/>
                  <a:pt x="2919163" y="6097"/>
                  <a:pt x="3182691" y="0"/>
                </a:cubicBezTo>
                <a:cubicBezTo>
                  <a:pt x="3183268" y="4624"/>
                  <a:pt x="3183510" y="11191"/>
                  <a:pt x="3182691" y="18288"/>
                </a:cubicBezTo>
                <a:cubicBezTo>
                  <a:pt x="3026064" y="-10849"/>
                  <a:pt x="2775005" y="23067"/>
                  <a:pt x="2546153" y="18288"/>
                </a:cubicBezTo>
                <a:cubicBezTo>
                  <a:pt x="2317301" y="13509"/>
                  <a:pt x="2164351" y="-9884"/>
                  <a:pt x="1845961" y="18288"/>
                </a:cubicBezTo>
                <a:cubicBezTo>
                  <a:pt x="1527571" y="46460"/>
                  <a:pt x="1455006" y="5824"/>
                  <a:pt x="1304903" y="18288"/>
                </a:cubicBezTo>
                <a:cubicBezTo>
                  <a:pt x="1154800" y="30752"/>
                  <a:pt x="942107" y="-12056"/>
                  <a:pt x="604711" y="18288"/>
                </a:cubicBezTo>
                <a:cubicBezTo>
                  <a:pt x="267315" y="48632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80060" y="2706624"/>
            <a:ext cx="5170932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sz="1900"/>
              <a:t>This process “cleans up” the Solar System relatively quickly…</a:t>
            </a:r>
          </a:p>
          <a:p>
            <a:pPr indent="-228600">
              <a:lnSpc>
                <a:spcPct val="90000"/>
              </a:lnSpc>
            </a:pPr>
            <a:r>
              <a:rPr lang="en-US" sz="1900"/>
              <a:t> …in geologic time (&lt;10</a:t>
            </a:r>
            <a:r>
              <a:rPr lang="en-US" sz="1900" baseline="30000"/>
              <a:t>5</a:t>
            </a:r>
            <a:r>
              <a:rPr lang="en-US" sz="1900"/>
              <a:t> years?)</a:t>
            </a:r>
          </a:p>
          <a:p>
            <a:pPr indent="-228600">
              <a:lnSpc>
                <a:spcPct val="90000"/>
              </a:lnSpc>
            </a:pPr>
            <a:r>
              <a:rPr lang="en-US" sz="1900"/>
              <a:t>That’s partly why asteroid belts don’t look like this!</a:t>
            </a:r>
          </a:p>
          <a:p>
            <a:pPr indent="-228600">
              <a:lnSpc>
                <a:spcPct val="90000"/>
              </a:lnSpc>
            </a:pPr>
            <a:r>
              <a:rPr lang="en-US" sz="1900"/>
              <a:t>But after 5 billion years, planets are in general the same age as their star!</a:t>
            </a:r>
          </a:p>
        </p:txBody>
      </p:sp>
      <p:pic>
        <p:nvPicPr>
          <p:cNvPr id="5" name="Picture 4" descr="http://img2.timeinc.net/ew/dynamic/imgs/110303/empire-asteroid-field_32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7880" y="915169"/>
            <a:ext cx="3010662" cy="225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ttp://www.hardcoregaming101.net/spacewar/asteroids-2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5505" y="4079193"/>
            <a:ext cx="2901696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263621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B54D1-4E09-FACD-3B07-EC7DF969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Rectangle 4199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Rectangle 1">
            <a:extLst>
              <a:ext uri="{FF2B5EF4-FFF2-40B4-BE49-F238E27FC236}">
                <a16:creationId xmlns:a16="http://schemas.microsoft.com/office/drawing/2014/main" id="{0C8E650A-F4B2-AF50-553F-AD5401CD86C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Formation of the Solar System</a:t>
            </a:r>
          </a:p>
        </p:txBody>
      </p:sp>
      <p:pic>
        <p:nvPicPr>
          <p:cNvPr id="2" name="Online Media 1" descr="Science Today: Simulating Solar System Formation | California Academy of Sciences">
            <a:hlinkClick r:id="" action="ppaction://media"/>
            <a:extLst>
              <a:ext uri="{FF2B5EF4-FFF2-40B4-BE49-F238E27FC236}">
                <a16:creationId xmlns:a16="http://schemas.microsoft.com/office/drawing/2014/main" id="{4F279DF1-D0E9-F3D6-A07A-BEF646D2BAA9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83328" y="1675227"/>
            <a:ext cx="7777343" cy="43941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510038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85618" y="27398"/>
            <a:ext cx="9067800" cy="81080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altLang="ja-JP" dirty="0" err="1">
                <a:ea typeface="ＭＳ Ｐゴシック" pitchFamily="34" charset="-128"/>
              </a:rPr>
              <a:t>Protoplanetary</a:t>
            </a:r>
            <a:r>
              <a:rPr lang="en-GB" altLang="ja-JP" dirty="0">
                <a:ea typeface="ＭＳ Ｐゴシック" pitchFamily="34" charset="-128"/>
              </a:rPr>
              <a:t> Disk – multiple planets?</a:t>
            </a:r>
            <a:br>
              <a:rPr lang="en-GB" altLang="ja-JP" dirty="0">
                <a:ea typeface="ＭＳ Ｐゴシック" pitchFamily="34" charset="-128"/>
              </a:rPr>
            </a:br>
            <a:r>
              <a:rPr lang="en-GB" altLang="ja-JP" sz="2700" dirty="0">
                <a:ea typeface="ＭＳ Ｐゴシック" pitchFamily="34" charset="-128"/>
              </a:rPr>
              <a:t>(PDS 70) – planets’ sizes not shown to scale</a:t>
            </a:r>
          </a:p>
        </p:txBody>
      </p:sp>
      <p:pic>
        <p:nvPicPr>
          <p:cNvPr id="1026" name="Picture 2" descr="infrared image of the protoplanetary disk around PDS 7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" y="1066800"/>
            <a:ext cx="5181600" cy="332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scitechdaily.com/images/Artists-rendition-of-PDS-70-and-its-two-protoplanetary-disk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857500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psc.edu/science/2003/quinn/images/disc-01-full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" y="4391026"/>
            <a:ext cx="3943839" cy="246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5126037" y="914400"/>
            <a:ext cx="4017963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>
                <a:latin typeface="Arial" pitchFamily="34" charset="0"/>
                <a:cs typeface="Arial" pitchFamily="34" charset="0"/>
              </a:rPr>
              <a:t>Data</a:t>
            </a:r>
          </a:p>
          <a:p>
            <a:r>
              <a:rPr lang="en-GB" sz="2800" dirty="0">
                <a:latin typeface="Arial" pitchFamily="34" charset="0"/>
                <a:cs typeface="Arial" pitchFamily="34" charset="0"/>
              </a:rPr>
              <a:t>Simulation</a:t>
            </a:r>
          </a:p>
          <a:p>
            <a:r>
              <a:rPr lang="en-GB" sz="2800" dirty="0">
                <a:latin typeface="Arial" pitchFamily="34" charset="0"/>
                <a:cs typeface="Arial" pitchFamily="34" charset="0"/>
              </a:rPr>
              <a:t>Artist’s rendition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3952653" y="1143000"/>
            <a:ext cx="1305147" cy="838200"/>
          </a:xfrm>
          <a:prstGeom prst="straightConnector1">
            <a:avLst/>
          </a:prstGeom>
          <a:ln w="508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200400" y="1676400"/>
            <a:ext cx="2065867" cy="3181350"/>
          </a:xfrm>
          <a:prstGeom prst="straightConnector1">
            <a:avLst/>
          </a:prstGeom>
          <a:ln w="508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257801" y="2209800"/>
            <a:ext cx="609599" cy="1219200"/>
          </a:xfrm>
          <a:prstGeom prst="straightConnector1">
            <a:avLst/>
          </a:prstGeom>
          <a:ln w="508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19622148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Meanwhile</a:t>
            </a:r>
            <a:endParaRPr lang="ja-JP" altLang="en-US" dirty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295400"/>
            <a:ext cx="8229600" cy="5334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So how fast does it take?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Models used to say ~10</a:t>
            </a:r>
            <a:r>
              <a:rPr lang="en-US" altLang="ja-JP" baseline="30000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6</a:t>
            </a: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 years or less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New models (higher resolution) think it’s MUCH faster (active area of research), maybe even just 100’s of years to form the </a:t>
            </a:r>
            <a:r>
              <a:rPr lang="en-US" altLang="ja-JP" b="1" i="1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cores</a:t>
            </a: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 of gas giants… (then some more time for the rest)</a:t>
            </a:r>
          </a:p>
          <a:p>
            <a:pPr>
              <a:lnSpc>
                <a:spcPct val="90000"/>
              </a:lnSpc>
            </a:pP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Recipe:</a:t>
            </a:r>
          </a:p>
          <a:p>
            <a:pPr lvl="1">
              <a:lnSpc>
                <a:spcPct val="90000"/>
              </a:lnSpc>
            </a:pP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Start with protoplanetary disk and</a:t>
            </a:r>
            <a:b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</a:b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allow material to interact…</a:t>
            </a:r>
          </a:p>
          <a:p>
            <a:pPr lvl="1">
              <a:lnSpc>
                <a:spcPct val="90000"/>
              </a:lnSpc>
            </a:pPr>
            <a:endParaRPr lang="en-US" altLang="ja-JP" dirty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ja-JP" dirty="0">
                <a:latin typeface="Arial" pitchFamily="34" charset="0"/>
                <a:ea typeface="ＭＳ Ｐゴシック" pitchFamily="34" charset="-128"/>
                <a:cs typeface="Arial" pitchFamily="34" charset="0"/>
              </a:rPr>
              <a:t>More simulations </a:t>
            </a:r>
            <a:endParaRPr lang="ja-JP" altLang="en-US" dirty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  <p:pic>
        <p:nvPicPr>
          <p:cNvPr id="2050" name="Picture 2" descr="http://www.psc.edu/science/2003/quinn/images/disc-02-full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119300"/>
            <a:ext cx="2514600" cy="276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V="1">
            <a:off x="3733800" y="5709975"/>
            <a:ext cx="3119967" cy="309825"/>
          </a:xfrm>
          <a:prstGeom prst="straightConnector1">
            <a:avLst/>
          </a:prstGeom>
          <a:ln w="508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67183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35" name="Rectangle 2253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7" name="Right Triangle 2253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39" name="Rectangle 2253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Condensation Sequence</a:t>
            </a:r>
            <a:br>
              <a:rPr lang="en-US" altLang="ja-JP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ja-JP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altLang="ja-JP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standard</a:t>
            </a:r>
            <a:r>
              <a:rPr lang="en-US" altLang="ja-JP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model…?)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963930" y="2969469"/>
            <a:ext cx="6056111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altLang="ja-JP" sz="1900"/>
              <a:t>Inner region of the system supposedly too hot for volatiles and (traditional) ice: rocky accretion leads to terrestrials.</a:t>
            </a:r>
          </a:p>
          <a:p>
            <a:pPr indent="-228600">
              <a:lnSpc>
                <a:spcPct val="90000"/>
              </a:lnSpc>
            </a:pPr>
            <a:r>
              <a:rPr lang="en-US" altLang="ja-JP" sz="1900"/>
              <a:t>Further out, volatile solids (ices) available for planet making: larger planetary embryos accrete gas directly.</a:t>
            </a:r>
          </a:p>
          <a:p>
            <a:pPr indent="-228600">
              <a:lnSpc>
                <a:spcPct val="90000"/>
              </a:lnSpc>
            </a:pPr>
            <a:r>
              <a:rPr lang="en-US" altLang="ja-JP" sz="1900"/>
              <a:t>But we “see” giant extrasolar planets close to their stars (“hot Jupiters”)</a:t>
            </a:r>
          </a:p>
          <a:p>
            <a:pPr indent="-228600">
              <a:lnSpc>
                <a:spcPct val="90000"/>
              </a:lnSpc>
            </a:pPr>
            <a:r>
              <a:rPr lang="en-US" altLang="ja-JP" sz="1900"/>
              <a:t>Contradiction? (wait for it…)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9996306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2CB7-7E6F-FBD2-FBFB-C1B67B39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38F669A8-F4DF-660F-579A-E96FA6E547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Puzzles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28276D2-6F11-3D4E-C481-B833514A8F9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47795755"/>
              </p:ext>
            </p:extLst>
          </p:nvPr>
        </p:nvGraphicFramePr>
        <p:xfrm>
          <a:off x="515125" y="457200"/>
          <a:ext cx="8229600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23453476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3687611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75013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38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ka (for </a:t>
                      </a:r>
                      <a:r>
                        <a:rPr lang="en-US" dirty="0" err="1"/>
                        <a:t>kiloannus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3</a:t>
                      </a:r>
                      <a:r>
                        <a:rPr lang="en-US" dirty="0"/>
                        <a:t> years (thousand/ millennium)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 ka Copernicus developed the heliocentric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428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 (for </a:t>
                      </a:r>
                      <a:r>
                        <a:rPr lang="en-US" dirty="0" err="1"/>
                        <a:t>megaannus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6</a:t>
                      </a:r>
                      <a:r>
                        <a:rPr lang="en-US" baseline="0" dirty="0"/>
                        <a:t> years (million)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Dinosaurs died around 65 Ma years ago.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0681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 (for </a:t>
                      </a:r>
                      <a:r>
                        <a:rPr lang="en-US" dirty="0" err="1"/>
                        <a:t>gigaannus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9</a:t>
                      </a:r>
                      <a:r>
                        <a:rPr lang="en-US" baseline="0" dirty="0"/>
                        <a:t> years (billion)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Cosmology and Geology – The formation of Earth occurred 4.54 Ga. Age of the universe is 13.8 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4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 (for </a:t>
                      </a:r>
                      <a:r>
                        <a:rPr lang="en-US" dirty="0" err="1"/>
                        <a:t>teraannus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12</a:t>
                      </a:r>
                      <a:r>
                        <a:rPr lang="en-US" baseline="0" dirty="0"/>
                        <a:t> years (trillion)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 times as long as the age of the universe; estimated life span of a small red dwarf.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40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 (for </a:t>
                      </a:r>
                      <a:r>
                        <a:rPr lang="en-US" dirty="0" err="1"/>
                        <a:t>petaannus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15</a:t>
                      </a:r>
                      <a:r>
                        <a:rPr lang="en-US" baseline="0" dirty="0"/>
                        <a:t> years (quadrillion)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Half-life of nuclide  cadmium-113 is about 8 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0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Ea</a:t>
                      </a:r>
                      <a:r>
                        <a:rPr lang="en-US" dirty="0"/>
                        <a:t> (for </a:t>
                      </a:r>
                      <a:r>
                        <a:rPr lang="en-US" dirty="0" err="1"/>
                        <a:t>exaannus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r>
                        <a:rPr lang="en-US" baseline="30000" dirty="0"/>
                        <a:t>18 </a:t>
                      </a:r>
                      <a:r>
                        <a:rPr lang="en-US" baseline="0" dirty="0"/>
                        <a:t>years (quintillion)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Half-life of tungsten-180 is 1.8 </a:t>
                      </a:r>
                      <a:r>
                        <a:rPr lang="en-US" dirty="0" err="1"/>
                        <a:t>Ea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8321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047216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7" name="Rectangle 307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29" name="Freeform: Shape 307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Puzzles</a:t>
            </a:r>
          </a:p>
        </p:txBody>
      </p:sp>
      <p:sp>
        <p:nvSpPr>
          <p:cNvPr id="30731" name="Arc 307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altLang="ja-JP" dirty="0"/>
              <a:t>The </a:t>
            </a:r>
            <a:r>
              <a:rPr lang="en-US" altLang="ja-JP" b="1" dirty="0"/>
              <a:t>Late</a:t>
            </a:r>
            <a:r>
              <a:rPr lang="en-US" altLang="ja-JP" dirty="0"/>
              <a:t> </a:t>
            </a:r>
            <a:r>
              <a:rPr lang="en-US" altLang="ja-JP" b="1" dirty="0"/>
              <a:t>Heavy</a:t>
            </a:r>
            <a:r>
              <a:rPr lang="en-US" altLang="ja-JP" dirty="0"/>
              <a:t> </a:t>
            </a:r>
            <a:r>
              <a:rPr lang="en-US" altLang="ja-JP" b="1" dirty="0"/>
              <a:t>Bombardment</a:t>
            </a:r>
            <a:r>
              <a:rPr lang="en-US" altLang="ja-JP" dirty="0"/>
              <a:t> (LHB) of the Moon: the appearance of large impact basins, the youngest of which are about ~3.9 Ga old (so they formed ~700 Ma </a:t>
            </a:r>
            <a:r>
              <a:rPr lang="en-US" altLang="ja-JP" b="1" i="1" dirty="0"/>
              <a:t>after</a:t>
            </a:r>
            <a:r>
              <a:rPr lang="en-US" altLang="ja-JP" dirty="0"/>
              <a:t> the solar system “started”).</a:t>
            </a:r>
          </a:p>
          <a:p>
            <a:pPr indent="-228600">
              <a:lnSpc>
                <a:spcPct val="90000"/>
              </a:lnSpc>
            </a:pPr>
            <a:r>
              <a:rPr lang="en-US" altLang="ja-JP" dirty="0">
                <a:hlinkClick r:id="rId4"/>
              </a:rPr>
              <a:t>NASA | Evolution of the Moon</a:t>
            </a:r>
            <a:r>
              <a:rPr lang="en-US" altLang="ja-JP" dirty="0"/>
              <a:t> </a:t>
            </a:r>
          </a:p>
          <a:p>
            <a:pPr indent="-228600">
              <a:lnSpc>
                <a:spcPct val="90000"/>
              </a:lnSpc>
            </a:pPr>
            <a:r>
              <a:rPr lang="en-US" altLang="ja-JP" dirty="0"/>
              <a:t>Why bombarded so “late”?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00651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259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nline Media 1" descr="NASA | Evolution of the Moon">
            <a:hlinkClick r:id="" action="ppaction://media"/>
            <a:extLst>
              <a:ext uri="{FF2B5EF4-FFF2-40B4-BE49-F238E27FC236}">
                <a16:creationId xmlns:a16="http://schemas.microsoft.com/office/drawing/2014/main" id="{7E29153A-128F-9CB6-B629-1CCF90A3766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82600" y="1118489"/>
            <a:ext cx="8178799" cy="462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5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27" name="Rectangle 3072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29" name="Freeform: Shape 3072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Need a “Nice” Model</a:t>
            </a:r>
          </a:p>
        </p:txBody>
      </p:sp>
      <p:sp>
        <p:nvSpPr>
          <p:cNvPr id="30731" name="Arc 307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altLang="ja-JP" b="1"/>
              <a:t>Late</a:t>
            </a:r>
            <a:r>
              <a:rPr lang="en-US" altLang="ja-JP"/>
              <a:t> </a:t>
            </a:r>
            <a:r>
              <a:rPr lang="en-US" altLang="ja-JP" b="1"/>
              <a:t>Heavy</a:t>
            </a:r>
            <a:r>
              <a:rPr lang="en-US" altLang="ja-JP"/>
              <a:t> </a:t>
            </a:r>
            <a:r>
              <a:rPr lang="en-US" altLang="ja-JP" b="1"/>
              <a:t>Bombardment</a:t>
            </a:r>
            <a:r>
              <a:rPr lang="en-US" altLang="ja-JP"/>
              <a:t> (LHB) of the Moon…was it…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ja-JP"/>
              <a:t>…just the tail-end of terrestrial planet accretion?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ja-JP"/>
              <a:t>…a spike in the impact rate due to something else?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67037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785" name="Rectangle 3278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7" name="Rectangle 3278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89" name="Rectangle 3278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91" name="Rectangle 3279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793" name="Freeform: Shape 3279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795" name="Rectangle 3279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0" name="Title 1"/>
          <p:cNvSpPr>
            <a:spLocks noGrp="1"/>
          </p:cNvSpPr>
          <p:nvPr>
            <p:ph type="title" idx="4294967295"/>
          </p:nvPr>
        </p:nvSpPr>
        <p:spPr>
          <a:xfrm>
            <a:off x="439858" y="1683756"/>
            <a:ext cx="2336449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altLang="ja-JP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Nice Model Proposes…</a:t>
            </a:r>
          </a:p>
        </p:txBody>
      </p:sp>
      <p:graphicFrame>
        <p:nvGraphicFramePr>
          <p:cNvPr id="32781" name="Content Placeholder 2">
            <a:extLst>
              <a:ext uri="{FF2B5EF4-FFF2-40B4-BE49-F238E27FC236}">
                <a16:creationId xmlns:a16="http://schemas.microsoft.com/office/drawing/2014/main" id="{95514232-C075-E6B3-FB79-3CCF75931B4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21077143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185717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1" name="Picture 34820">
            <a:extLst>
              <a:ext uri="{FF2B5EF4-FFF2-40B4-BE49-F238E27FC236}">
                <a16:creationId xmlns:a16="http://schemas.microsoft.com/office/drawing/2014/main" id="{C8FBE42C-3C42-D312-2CC9-2F8FDCCBD3C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4825" name="Rectangle 3482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/>
              <a:t>The Nice Model Proposes…</a:t>
            </a:r>
          </a:p>
        </p:txBody>
      </p:sp>
      <p:graphicFrame>
        <p:nvGraphicFramePr>
          <p:cNvPr id="34820" name="Content Placeholder 2">
            <a:extLst>
              <a:ext uri="{FF2B5EF4-FFF2-40B4-BE49-F238E27FC236}">
                <a16:creationId xmlns:a16="http://schemas.microsoft.com/office/drawing/2014/main" id="{24F662BC-7F95-243F-2829-DAACD66FA4E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00890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853169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57200" y="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>
                <a:ea typeface="ＭＳ Ｐゴシック" pitchFamily="34" charset="-128"/>
              </a:rPr>
              <a:t>Planetary Migration</a:t>
            </a:r>
            <a:endParaRPr lang="ja-JP" altLang="en-US" dirty="0">
              <a:ea typeface="ＭＳ Ｐゴシック" pitchFamily="34" charset="-128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E6BDB3-3021-43CE-B280-56AC61AFBB8E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8702040" cy="521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/>
              <a:t>Some movies to watch to help understand what the problems really are and how we might solve them…Nice model; Grand Tack Hypothesis; etc.</a:t>
            </a:r>
          </a:p>
          <a:p>
            <a:pPr>
              <a:lnSpc>
                <a:spcPct val="90000"/>
              </a:lnSpc>
            </a:pPr>
            <a:r>
              <a:rPr lang="en-US" dirty="0">
                <a:hlinkClick r:id="rId4"/>
              </a:rPr>
              <a:t>Science Today: Simulating Solar System Formation | California Academy of Sciences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>
                <a:hlinkClick r:id="rId5"/>
              </a:rPr>
              <a:t>Nice model - Solar System simulation (one data set)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altLang="ja-JP" dirty="0">
                <a:latin typeface="Arial" pitchFamily="34" charset="0"/>
                <a:cs typeface="Arial" pitchFamily="34" charset="0"/>
                <a:hlinkClick r:id="rId6"/>
              </a:rPr>
              <a:t>Science of the Solar System - The Grand Tack</a:t>
            </a:r>
            <a:r>
              <a:rPr lang="en-US" altLang="ja-JP" dirty="0">
                <a:latin typeface="Arial" pitchFamily="34" charset="0"/>
                <a:cs typeface="Arial" pitchFamily="34" charset="0"/>
              </a:rPr>
              <a:t> (Lecture by Mike Brown)</a:t>
            </a:r>
            <a:endParaRPr lang="ja-JP" altLang="en-US" dirty="0">
              <a:latin typeface="Arial" pitchFamily="34" charset="0"/>
              <a:ea typeface="ＭＳ Ｐゴシック" pitchFamily="34" charset="-128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7582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descr="Nice model - Solar System simulation">
            <a:hlinkClick r:id="" action="ppaction://media"/>
            <a:extLst>
              <a:ext uri="{FF2B5EF4-FFF2-40B4-BE49-F238E27FC236}">
                <a16:creationId xmlns:a16="http://schemas.microsoft.com/office/drawing/2014/main" id="{CA380116-9022-B5C3-9850-0C2EDFD1C3F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63474" y="1726600"/>
            <a:ext cx="1920240" cy="339865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0755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4DB3E9A-052B-6565-E292-29BA6DD3A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366" y="2350386"/>
            <a:ext cx="1920240" cy="197454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54446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13F6D3B-61BC-6997-D92F-7516591DF0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897" y="2368847"/>
            <a:ext cx="1920240" cy="196443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1746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6C80070-2AAC-95E7-5C35-D4D16C95A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228" y="2360487"/>
            <a:ext cx="1920240" cy="196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19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9" name="Picture 41988">
            <a:extLst>
              <a:ext uri="{FF2B5EF4-FFF2-40B4-BE49-F238E27FC236}">
                <a16:creationId xmlns:a16="http://schemas.microsoft.com/office/drawing/2014/main" id="{E4FE0374-5B20-9057-599B-683D940D27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668" b="2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41993" name="Rectangle 41992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Title 1"/>
          <p:cNvSpPr>
            <a:spLocks noGrp="1"/>
          </p:cNvSpPr>
          <p:nvPr>
            <p:ph type="title" idx="4294967295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/>
              <a:t>The Nice Model Explains…</a:t>
            </a:r>
          </a:p>
        </p:txBody>
      </p:sp>
      <p:graphicFrame>
        <p:nvGraphicFramePr>
          <p:cNvPr id="41988" name="Content Placeholder 2">
            <a:extLst>
              <a:ext uri="{FF2B5EF4-FFF2-40B4-BE49-F238E27FC236}">
                <a16:creationId xmlns:a16="http://schemas.microsoft.com/office/drawing/2014/main" id="{79CA41A0-CCC9-5FBB-3B6C-DB382D555E73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59821200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0682482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2" name="Rectangle 4199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4" name="Rectangle 4199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6" name="Rectangle 4199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8" name="Rectangle 4199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000" name="Freeform: Shape 4199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002" name="Rectangle 4200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Title 1"/>
          <p:cNvSpPr>
            <a:spLocks noGrp="1"/>
          </p:cNvSpPr>
          <p:nvPr>
            <p:ph type="title" idx="4294967295"/>
          </p:nvPr>
        </p:nvSpPr>
        <p:spPr>
          <a:xfrm>
            <a:off x="439858" y="1683756"/>
            <a:ext cx="2336449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altLang="ja-JP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Nice Model Explains…</a:t>
            </a:r>
          </a:p>
        </p:txBody>
      </p:sp>
      <p:graphicFrame>
        <p:nvGraphicFramePr>
          <p:cNvPr id="41988" name="Content Placeholder 2">
            <a:extLst>
              <a:ext uri="{FF2B5EF4-FFF2-40B4-BE49-F238E27FC236}">
                <a16:creationId xmlns:a16="http://schemas.microsoft.com/office/drawing/2014/main" id="{277FAC84-02EA-DDEE-9D30-CC78B679AABC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5262129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179875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991" name="Rectangle 4199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93" name="Freeform: Shape 4199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6" name="Title 1"/>
          <p:cNvSpPr>
            <a:spLocks noGrp="1"/>
          </p:cNvSpPr>
          <p:nvPr>
            <p:ph type="title" idx="4294967295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ja-JP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Grand Tack Hypothesis…</a:t>
            </a:r>
          </a:p>
        </p:txBody>
      </p:sp>
      <p:sp>
        <p:nvSpPr>
          <p:cNvPr id="41995" name="Arc 4199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</a:pPr>
            <a:r>
              <a:rPr lang="en-US" altLang="ja-JP" sz="2700"/>
              <a:t>Explains why Mars is so small…</a:t>
            </a:r>
          </a:p>
          <a:p>
            <a:pPr indent="-228600">
              <a:lnSpc>
                <a:spcPct val="90000"/>
              </a:lnSpc>
            </a:pPr>
            <a:r>
              <a:rPr lang="en-US" altLang="ja-JP" sz="2700"/>
              <a:t>…and why the asteroid belt is pathetic (in total mass, not total number of rocks)</a:t>
            </a:r>
          </a:p>
          <a:p>
            <a:pPr indent="-228600">
              <a:lnSpc>
                <a:spcPct val="90000"/>
              </a:lnSpc>
            </a:pPr>
            <a:r>
              <a:rPr lang="en-US" altLang="ja-JP" sz="2700"/>
              <a:t>Again – remember that the big planets aren’t easy to move around. Even the Grand Tack is only because early on the </a:t>
            </a:r>
            <a:r>
              <a:rPr lang="en-US" altLang="ja-JP" sz="2700" b="1" i="1"/>
              <a:t>disk</a:t>
            </a:r>
            <a:r>
              <a:rPr lang="en-US" altLang="ja-JP" sz="2700"/>
              <a:t> had more material than the protoplanets/early planets</a:t>
            </a:r>
          </a:p>
          <a:p>
            <a:pPr indent="-228600">
              <a:lnSpc>
                <a:spcPct val="90000"/>
              </a:lnSpc>
            </a:pPr>
            <a:r>
              <a:rPr lang="en-US" altLang="ja-JP" sz="2700"/>
              <a:t>Where did all that disk material go?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21820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119063"/>
            <a:ext cx="8229600" cy="1301750"/>
          </a:xfrm>
        </p:spPr>
        <p:txBody>
          <a:bodyPr lIns="0" tIns="0" rIns="0" bIns="0"/>
          <a:lstStyle/>
          <a:p>
            <a:pPr eaLnBrk="1" hangingPunct="1">
              <a:lnSpc>
                <a:spcPts val="5125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4000" dirty="0">
                <a:latin typeface="Arial" pitchFamily="34" charset="0"/>
                <a:cs typeface="Arial" pitchFamily="34" charset="0"/>
              </a:rPr>
              <a:t>Terrestrial Planet Interiors</a:t>
            </a:r>
          </a:p>
        </p:txBody>
      </p:sp>
      <p:pic>
        <p:nvPicPr>
          <p:cNvPr id="205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24000"/>
            <a:ext cx="5067300" cy="486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381000" y="1676400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7000"/>
              </a:lnSpc>
              <a:spcBef>
                <a:spcPts val="1750"/>
              </a:spcBef>
              <a:buClr>
                <a:srgbClr val="000000"/>
              </a:buClr>
              <a:buSzPct val="100000"/>
              <a:buFont typeface="Arial" pitchFamily="34" charset="0"/>
              <a:buNone/>
            </a:pPr>
            <a:r>
              <a:rPr lang="en-GB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Crust</a:t>
            </a:r>
          </a:p>
        </p:txBody>
      </p:sp>
      <p:sp>
        <p:nvSpPr>
          <p:cNvPr id="2053" name="Text Box 4"/>
          <p:cNvSpPr txBox="1">
            <a:spLocks noChangeArrowheads="1"/>
          </p:cNvSpPr>
          <p:nvPr/>
        </p:nvSpPr>
        <p:spPr bwMode="auto">
          <a:xfrm>
            <a:off x="381000" y="3124200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7000"/>
              </a:lnSpc>
              <a:spcBef>
                <a:spcPts val="1750"/>
              </a:spcBef>
              <a:buClr>
                <a:srgbClr val="000000"/>
              </a:buClr>
              <a:buSzPct val="100000"/>
              <a:buFont typeface="Arial" pitchFamily="34" charset="0"/>
              <a:buNone/>
            </a:pPr>
            <a:r>
              <a:rPr lang="en-GB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Mantle</a:t>
            </a:r>
          </a:p>
        </p:txBody>
      </p:sp>
      <p:sp>
        <p:nvSpPr>
          <p:cNvPr id="2054" name="Text Box 5"/>
          <p:cNvSpPr txBox="1">
            <a:spLocks noChangeArrowheads="1"/>
          </p:cNvSpPr>
          <p:nvPr/>
        </p:nvSpPr>
        <p:spPr bwMode="auto">
          <a:xfrm>
            <a:off x="457200" y="4419600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7000"/>
              </a:lnSpc>
              <a:spcBef>
                <a:spcPts val="1750"/>
              </a:spcBef>
              <a:buClr>
                <a:srgbClr val="000000"/>
              </a:buClr>
              <a:buSzPct val="100000"/>
              <a:buFont typeface="Arial" pitchFamily="34" charset="0"/>
              <a:buNone/>
            </a:pPr>
            <a:r>
              <a:rPr lang="en-GB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Core</a:t>
            </a:r>
          </a:p>
        </p:txBody>
      </p:sp>
      <p:sp>
        <p:nvSpPr>
          <p:cNvPr id="2055" name="Line 6"/>
          <p:cNvSpPr>
            <a:spLocks noChangeShapeType="1"/>
          </p:cNvSpPr>
          <p:nvPr/>
        </p:nvSpPr>
        <p:spPr bwMode="auto">
          <a:xfrm flipV="1">
            <a:off x="1524000" y="3957638"/>
            <a:ext cx="2895600" cy="695325"/>
          </a:xfrm>
          <a:prstGeom prst="line">
            <a:avLst/>
          </a:prstGeom>
          <a:noFill/>
          <a:ln w="3816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56" name="Line 7"/>
          <p:cNvSpPr>
            <a:spLocks noChangeShapeType="1"/>
          </p:cNvSpPr>
          <p:nvPr/>
        </p:nvSpPr>
        <p:spPr bwMode="auto">
          <a:xfrm flipV="1">
            <a:off x="1752600" y="2890838"/>
            <a:ext cx="2438400" cy="542925"/>
          </a:xfrm>
          <a:prstGeom prst="line">
            <a:avLst/>
          </a:prstGeom>
          <a:noFill/>
          <a:ln w="3816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57" name="Line 8"/>
          <p:cNvSpPr>
            <a:spLocks noChangeShapeType="1"/>
          </p:cNvSpPr>
          <p:nvPr/>
        </p:nvSpPr>
        <p:spPr bwMode="auto">
          <a:xfrm>
            <a:off x="1600200" y="1981200"/>
            <a:ext cx="2438400" cy="76200"/>
          </a:xfrm>
          <a:prstGeom prst="line">
            <a:avLst/>
          </a:prstGeom>
          <a:noFill/>
          <a:ln w="3816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749704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Chart" descr="6.2 ka got 0, 4.5 Ma got 0, 4.5 Ga got 0, Other got 0, "/>
          <p:cNvSpPr/>
          <p:nvPr>
            <p:custDataLst>
              <p:tags r:id="rId2"/>
            </p:custDataLst>
          </p:nvPr>
        </p:nvSpPr>
        <p:spPr>
          <a:xfrm>
            <a:off x="4508500" y="1600200"/>
            <a:ext cx="4572000" cy="51435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PQues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Earth has been cooling for…</a:t>
            </a:r>
          </a:p>
        </p:txBody>
      </p:sp>
      <p:sp>
        <p:nvSpPr>
          <p:cNvPr id="3" name="TPAnswers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pPr marL="514350" indent="-514350">
              <a:buFont typeface="Arial" pitchFamily="34" charset="0"/>
              <a:buAutoNum type="alphaUcPeriod"/>
            </a:pPr>
            <a:r>
              <a:rPr lang="en-US" dirty="0"/>
              <a:t>6.2 </a:t>
            </a:r>
            <a:r>
              <a:rPr lang="en-US" dirty="0" err="1"/>
              <a:t>ka</a:t>
            </a:r>
            <a:endParaRPr lang="en-US" dirty="0"/>
          </a:p>
          <a:p>
            <a:pPr marL="514350" indent="-514350">
              <a:buFont typeface="Arial" pitchFamily="34" charset="0"/>
              <a:buAutoNum type="alphaUcPeriod"/>
            </a:pPr>
            <a:r>
              <a:rPr lang="en-US" dirty="0"/>
              <a:t>4.5 Ma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US" dirty="0"/>
              <a:t>4.5 Ga</a:t>
            </a:r>
          </a:p>
          <a:p>
            <a:pPr marL="514350" indent="-514350">
              <a:buFont typeface="Arial" pitchFamily="34" charset="0"/>
              <a:buAutoNum type="alphaUcPeriod"/>
            </a:pPr>
            <a:r>
              <a:rPr lang="en-US" dirty="0"/>
              <a:t>Other</a:t>
            </a:r>
          </a:p>
        </p:txBody>
      </p:sp>
      <p:sp>
        <p:nvSpPr>
          <p:cNvPr id="5" name="TPPolling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601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5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1" name="Rectangle 2356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do we know what’s down there?</a:t>
            </a:r>
          </a:p>
        </p:txBody>
      </p:sp>
      <p:pic>
        <p:nvPicPr>
          <p:cNvPr id="23556" name="Picture 5" descr="journey_to_the_center_of_the_earth_3d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6400" y="1600200"/>
            <a:ext cx="6192715" cy="495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801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465" name="Rectangle 1946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7" name="Rectangle 1946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69" name="Rectangle 1946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71" name="Rectangle 1947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473" name="Freeform: Shape 1947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475" name="Rectangle 1947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 eaLnBrk="1" hangingPunct="1"/>
            <a:r>
              <a:rPr lang="en-US" sz="3200">
                <a:solidFill>
                  <a:srgbClr val="FFFFFF"/>
                </a:solidFill>
                <a:latin typeface="Times New Roman" pitchFamily="18" charset="0"/>
              </a:rPr>
              <a:t>How do we know what’s down there?</a:t>
            </a:r>
            <a:endParaRPr lang="ru-RU" sz="3200">
              <a:solidFill>
                <a:srgbClr val="FFFFFF"/>
              </a:solidFill>
              <a:latin typeface="Times New Roman" pitchFamily="18" charset="0"/>
            </a:endParaRPr>
          </a:p>
        </p:txBody>
      </p:sp>
      <p:graphicFrame>
        <p:nvGraphicFramePr>
          <p:cNvPr id="19461" name="Rectangle 3">
            <a:extLst>
              <a:ext uri="{FF2B5EF4-FFF2-40B4-BE49-F238E27FC236}">
                <a16:creationId xmlns:a16="http://schemas.microsoft.com/office/drawing/2014/main" id="{2240AF4C-9EE5-5775-257A-26916511E6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801320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068929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xenolith mean?</a:t>
            </a:r>
          </a:p>
        </p:txBody>
      </p:sp>
      <p:sp>
        <p:nvSpPr>
          <p:cNvPr id="5" name="TPPolling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solidFill>
            <a:schemeClr val="accent1">
              <a:alpha val="10000"/>
            </a:scheme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PAnswers">
            <a:extLst>
              <a:ext uri="{FF2B5EF4-FFF2-40B4-BE49-F238E27FC236}">
                <a16:creationId xmlns:a16="http://schemas.microsoft.com/office/drawing/2014/main" id="{224FE287-0664-6D18-FA7F-04A474247E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4899873"/>
              </p:ext>
            </p:extLst>
          </p:nvPr>
        </p:nvGraphicFramePr>
        <p:xfrm>
          <a:off x="457200" y="1600200"/>
          <a:ext cx="4114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Online Media 2" descr="XENOLITH?">
            <a:hlinkClick r:id="" action="ppaction://media"/>
            <a:extLst>
              <a:ext uri="{FF2B5EF4-FFF2-40B4-BE49-F238E27FC236}">
                <a16:creationId xmlns:a16="http://schemas.microsoft.com/office/drawing/2014/main" id="{D9B0A9A3-3B3C-6C47-D312-45FE2D704CFA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9"/>
          <a:stretch>
            <a:fillRect/>
          </a:stretch>
        </p:blipFill>
        <p:spPr>
          <a:xfrm>
            <a:off x="266700" y="1404386"/>
            <a:ext cx="8610600" cy="48649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412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4"/>
          <p:cNvSpPr>
            <a:spLocks noGrp="1"/>
          </p:cNvSpPr>
          <p:nvPr>
            <p:ph type="title" idx="4294967295"/>
          </p:nvPr>
        </p:nvSpPr>
        <p:spPr/>
        <p:txBody>
          <a:bodyPr lIns="91440" tIns="45720" rIns="91440" bIns="45720"/>
          <a:lstStyle/>
          <a:p>
            <a:pPr eaLnBrk="1" hangingPunct="1"/>
            <a:r>
              <a:rPr lang="en-US">
                <a:latin typeface="Arial" pitchFamily="34" charset="0"/>
                <a:cs typeface="Arial" pitchFamily="34" charset="0"/>
              </a:rPr>
              <a:t>Layers Subdivided</a:t>
            </a:r>
          </a:p>
        </p:txBody>
      </p:sp>
      <p:pic>
        <p:nvPicPr>
          <p:cNvPr id="7171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025" y="1447800"/>
            <a:ext cx="7445375" cy="518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52" name="TextBox 3"/>
          <p:cNvSpPr txBox="1">
            <a:spLocks noChangeArrowheads="1"/>
          </p:cNvSpPr>
          <p:nvPr/>
        </p:nvSpPr>
        <p:spPr bwMode="auto">
          <a:xfrm>
            <a:off x="457200" y="56388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bg1"/>
                </a:solidFill>
                <a:latin typeface="Times New Roman" pitchFamily="18" charset="0"/>
              </a:defRPr>
            </a:lvl1pPr>
            <a:lvl2pPr marL="742950" indent="-285750" defTabSz="457200">
              <a:defRPr>
                <a:solidFill>
                  <a:schemeClr val="bg1"/>
                </a:solidFill>
                <a:latin typeface="Times New Roman" pitchFamily="18" charset="0"/>
              </a:defRPr>
            </a:lvl2pPr>
            <a:lvl3pPr marL="11430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3pPr>
            <a:lvl4pPr marL="16002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4pPr>
            <a:lvl5pPr marL="2057400" indent="-228600" defTabSz="457200">
              <a:defRPr>
                <a:solidFill>
                  <a:schemeClr val="bg1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3300"/>
                </a:solidFill>
                <a:latin typeface="Arial" pitchFamily="34" charset="0"/>
                <a:cs typeface="Arial" pitchFamily="34" charset="0"/>
              </a:rPr>
              <a:t>Not to scale!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1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81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883" name="Rectangle 36882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66" name="Title 3"/>
          <p:cNvSpPr>
            <a:spLocks noGrp="1"/>
          </p:cNvSpPr>
          <p:nvPr>
            <p:ph type="title" idx="4294967295"/>
          </p:nvPr>
        </p:nvSpPr>
        <p:spPr>
          <a:xfrm>
            <a:off x="5102556" y="762001"/>
            <a:ext cx="3117384" cy="17082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500" i="1"/>
              <a:t>Why</a:t>
            </a:r>
            <a:r>
              <a:rPr lang="en-US" sz="3500"/>
              <a:t> does Earth have layers?</a:t>
            </a:r>
          </a:p>
        </p:txBody>
      </p:sp>
      <p:pic>
        <p:nvPicPr>
          <p:cNvPr id="36877" name="Picture 36876" descr="View of earth from space">
            <a:extLst>
              <a:ext uri="{FF2B5EF4-FFF2-40B4-BE49-F238E27FC236}">
                <a16:creationId xmlns:a16="http://schemas.microsoft.com/office/drawing/2014/main" id="{A3D6DF9E-D80B-EF4A-4A2E-D78D296417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93" r="29607"/>
          <a:stretch/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5102556" y="2470245"/>
            <a:ext cx="3117384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Autofit/>
          </a:bodyPr>
          <a:lstStyle/>
          <a:p>
            <a:pPr marL="314325" indent="-228600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i="1" dirty="0"/>
              <a:t>Differentiation</a:t>
            </a:r>
            <a:r>
              <a:rPr lang="en-US" sz="2400" dirty="0"/>
              <a:t> is the term for denser materials sinking toward the core while lighter materials rise – GRAVITY!</a:t>
            </a:r>
          </a:p>
          <a:p>
            <a:pPr marL="314325" indent="-228600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dirty="0"/>
              <a:t>Density driven!</a:t>
            </a:r>
          </a:p>
          <a:p>
            <a:pPr marL="314325" indent="-228600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2400" dirty="0"/>
              <a:t>It’s the </a:t>
            </a:r>
            <a:r>
              <a:rPr lang="en-US" sz="2400" i="1" dirty="0"/>
              <a:t>chemistry </a:t>
            </a:r>
            <a:r>
              <a:rPr lang="en-US" sz="2400" dirty="0"/>
              <a:t>that’s differentiated!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70412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77" name="Rectangle 36876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78" name="Freeform: Shape 3687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866" name="Title 3"/>
          <p:cNvSpPr>
            <a:spLocks noGrp="1"/>
          </p:cNvSpPr>
          <p:nvPr>
            <p:ph type="title" idx="4294967295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is it still molten at the center?</a:t>
            </a:r>
          </a:p>
        </p:txBody>
      </p:sp>
      <p:sp>
        <p:nvSpPr>
          <p:cNvPr id="36879" name="Arc 3687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628650" y="1825625"/>
            <a:ext cx="78867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pPr marL="314325" indent="-228600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3200" i="1" dirty="0"/>
              <a:t>Warning: not molten at most layers… really only at </a:t>
            </a:r>
          </a:p>
          <a:p>
            <a:pPr marL="771525" lvl="1" indent="-228600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3200" i="1" dirty="0"/>
              <a:t>Outer core and</a:t>
            </a:r>
          </a:p>
          <a:p>
            <a:pPr marL="771525" lvl="1" indent="-228600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3200" i="1" dirty="0"/>
              <a:t>Liquid magma forms when it depressurizes “quickly” at VERY top of crust (volcanoes)</a:t>
            </a:r>
          </a:p>
          <a:p>
            <a:pPr marL="314325" indent="-228600">
              <a:lnSpc>
                <a:spcPct val="90000"/>
              </a:lnSpc>
              <a:spcBef>
                <a:spcPts val="8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sz="3200" i="1" dirty="0"/>
              <a:t>DEEP TIME </a:t>
            </a:r>
            <a:r>
              <a:rPr lang="en-US" sz="3200" dirty="0"/>
              <a:t>should have cooled it off, no?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86518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ad85159c-58f2-44b6-8495-a663c85744cb"/>
  <p:tag name="WASPOLLED" val="9B0E634EA1B746BC982BBC4110083894"/>
  <p:tag name="TPVERSION" val="8"/>
  <p:tag name="TPFULLVERSION" val="8.9.4.26"/>
  <p:tag name="PPTVERSION" val="16"/>
  <p:tag name="TPOS" val="2"/>
  <p:tag name="TPLASTSAVEVERSION" val="6.4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AUTOOPENPOLL" val="True"/>
  <p:tag name="AUTOFORMATCHART" val="True"/>
  <p:tag name="LIVECHARTING" val="False"/>
  <p:tag name="TPQUESTIONXML" val="﻿&lt;?xml version=&quot;1.0&quot; encoding=&quot;utf-8&quot;?&gt;&#10;&lt;questionlist&gt;&#10;    &lt;properties&gt;&#10;        &lt;guid&gt;36C2DB1259194AF69ED1C4FE87061A6B&lt;/guid&gt;&#10;        &lt;description /&gt;&#10;        &lt;date&gt;1/31/2017 6:54:04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rationalefont&gt;Verdana&lt;/rationalefont&gt;&#10;        &lt;rationalefontsize&gt;12&lt;/rationalefontsize&gt;&#10;        &lt;narrativefont&gt;Verdana&lt;/narrativefont&gt;&#10;        &lt;narrativefontsize&gt;12&lt;/narrativefontsize&gt;&#10;        &lt;standardfont&gt;Verdana&lt;/standardfont&gt;&#10;        &lt;standardfontsize&gt;12&lt;/standard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AE6CC16A78246F7AD7A743B6B944840&lt;/guid&gt;&#10;            &lt;repollguid&gt;AD8BF91ECDB54C1D8FB426131B629754&lt;/repollguid&gt;&#10;            &lt;sourceid&gt;155A7354A7FA4AFD8851B83F0F06C639&lt;/sourceid&gt;&#10;            &lt;narrativeguid&gt;00000000000000000000000000000000&lt;/narrativeguid&gt;&#10;            &lt;questiontext&gt;Is Pluto a planet?&lt;/questiontext&gt;&#10;            &lt;rationale&gt;&#10;                &lt;rationaletext /&gt;&#10;            &lt;/rationale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419F58CFFB3846AA95D808EF78F14BE3&lt;/guid&gt;&#10;                    &lt;answertext&gt;Yes, DAMMIT!&lt;/answertext&gt;&#10;                    &lt;valuetype&gt;-1&lt;/valuetype&gt;&#10;                &lt;/answer&gt;&#10;                &lt;answer&gt;&#10;                    &lt;guid&gt;AC147C6D65CF4B1DB840BD2411089B9E&lt;/guid&gt;&#10;                    &lt;answertext&gt;No, it’s a Kuiper Belt Object&lt;/answertext&gt;&#10;                    &lt;valuetype&gt;-1&lt;/valuetype&gt;&#10;                &lt;/answer&gt;&#10;                &lt;answer&gt;&#10;                    &lt;guid&gt;0901494443984CCCB99BAEE7D0BC4F73&lt;/guid&gt;&#10;                    &lt;answertext&gt;No, it’s a dwarf planet&lt;/answertext&gt;&#10;                    &lt;valuetype&gt;-1&lt;/valuetype&gt;&#10;                &lt;/answer&gt;&#10;                &lt;answer&gt;&#10;                    &lt;guid&gt;E745B8044F784643B6A66C9FCAE63CE5&lt;/guid&gt;&#10;                    &lt;answertext&gt;No, it’s a plutino&lt;/answertext&gt;&#10;                    &lt;valuetype&gt;-1&lt;/valuetype&gt;&#10;                &lt;/answer&gt;&#10;                &lt;answer&gt;&#10;                    &lt;guid&gt;B5719E0D98B64F0DB18C8A45BEBB6447&lt;/guid&gt;&#10;                    &lt;answertext&gt;No, it’s a plutoid&lt;/answertext&gt;&#10;                    &lt;valuetype&gt;-1&lt;/valuetype&gt;&#10;                &lt;/answer&gt;&#10;                &lt;answer&gt;&#10;                    &lt;guid&gt;81A2FBE5A792438E9B014AB1E51CABF3&lt;/guid&gt;&#10;                    &lt;answertext&gt;B and C&lt;/answertext&gt;&#10;                    &lt;valuetype&gt;-1&lt;/valuetype&gt;&#10;                &lt;/answer&gt;&#10;                &lt;answer&gt;&#10;                    &lt;guid&gt;C020944331D840C0B5F95C7BBE89947D&lt;/guid&gt;&#10;                    &lt;answertext&gt;B and E&lt;/answertext&gt;&#10;                    &lt;valuetype&gt;-1&lt;/valuetype&gt;&#10;                &lt;/answer&gt;&#10;                &lt;answer&gt;&#10;                    &lt;guid&gt;9F23F22209964A42BC84E2BACAD16870&lt;/guid&gt;&#10;                    &lt;answertext&gt;B, C, and D&lt;/answertext&gt;&#10;                    &lt;valuetype&gt;-1&lt;/valuetype&gt;&#10;                &lt;/answer&gt;&#10;                &lt;answer&gt;&#10;                    &lt;guid&gt;9E827D5FE95542919F19262AFE8BA05A&lt;/guid&gt;&#10;                    &lt;answertext&gt;B, C, D, and E&lt;/answertext&gt;&#10;                    &lt;valuetype&gt;1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LIVECHARTING" val="False"/>
  <p:tag name="AUTOOPENPOLL" val="True"/>
  <p:tag name="AUTOFORMATCHART" val="True"/>
  <p:tag name="TPQUESTIONXML" val="﻿&lt;?xml version=&quot;1.0&quot; encoding=&quot;utf-8&quot;?&gt;&#10;&lt;questionlist&gt;&#10;    &lt;properties&gt;&#10;        &lt;guid&gt;3538F81D28B24AEFA2D42B5A08CD7E84&lt;/guid&gt;&#10;        &lt;description /&gt;&#10;        &lt;date&gt;9/4/2019 8:54:20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rationalefont&gt;Verdana&lt;/rationalefont&gt;&#10;        &lt;rationalefontsize&gt;12&lt;/rationalefontsize&gt;&#10;        &lt;narrativefont&gt;Verdana&lt;/narrativefont&gt;&#10;        &lt;narrativefontsize&gt;12&lt;/narrativefontsize&gt;&#10;        &lt;standardfont&gt;Verdana&lt;/standardfont&gt;&#10;        &lt;standardfontsize&gt;12&lt;/standard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ECB13871F8745F58624E151D1F365AF&lt;/guid&gt;&#10;            &lt;repollguid&gt;8D96D52675E447C988B8E15D0EE6DB50&lt;/repollguid&gt;&#10;            &lt;sourceid&gt;2629B5B05B3648E4AB819088ECB02A2F&lt;/sourceid&gt;&#10;            &lt;narrativeguid&gt;00000000000000000000000000000000&lt;/narrativeguid&gt;&#10;            &lt;questiontext&gt;How fast do you have to go to get off a planet of mass M and radius R?&lt;/questiontext&gt;&#10;            &lt;rationale&gt;&#10;                &lt;rationaletext /&gt;&#10;            &lt;/rationale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B1B6B0B232504A7593AB182D3F123577&lt;/guid&gt;&#10;                    &lt;answertext&gt;$$=  $$$$/$$  &lt;/answertext&gt;&#10;                    &lt;valuetype&gt;0&lt;/valuetype&gt;&#10;                &lt;/answer&gt;&#10;                &lt;answer&gt;&#10;                    &lt;guid&gt;31D9E6D943004BCFA84A6FD1D8F7B4C7&lt;/guid&gt;&#10;                    &lt;answertext&gt;$$=   2$$$$ $$   &lt;/answertext&gt;&#10;                    &lt;valuetype&gt;0&lt;/valuetype&gt;&#10;                &lt;/answer&gt;&#10;                &lt;answer&gt;&#10;                    &lt;guid&gt;5279C99D8CEE4305ACB92E0ADEF8D8A4&lt;/guid&gt;&#10;                    &lt;answertext&gt;$$=  2$$ℎ  &lt;/answertext&gt;&#10;                    &lt;valuetype&gt;0&lt;/valuetype&gt;&#10;                &lt;/answer&gt;&#10;                &lt;answer&gt;&#10;                    &lt;guid&gt;AB9D01649D074DF6B5280381020A7C74&lt;/guid&gt;&#10;                    &lt;answertext&gt;$$=$$$$ℎ$$$$  &lt;/answertext&gt;&#10;                    &lt;valuetype&gt;0&lt;/valuetype&gt;&#10;                &lt;/answer&gt;&#10;                &lt;answer&gt;&#10;                    &lt;guid&gt;63775665F59E49D3972FC1F502DE6EA8&lt;/guid&gt;&#10;                    &lt;answertext&gt;What?!?!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AUTOOPENPOLL" val="True"/>
  <p:tag name="AUTOFORMATCHART" val="True"/>
  <p:tag name="LIVECHARTING" val="False"/>
  <p:tag name="TPQUESTIONXML" val="﻿&lt;?xml version=&quot;1.0&quot; encoding=&quot;utf-8&quot;?&gt;&#10;&lt;questionlist&gt;&#10;    &lt;properties&gt;&#10;        &lt;guid&gt;6AF09BD2C57347E095D768926BF0C7EB&lt;/guid&gt;&#10;        &lt;description /&gt;&#10;        &lt;date&gt;2/4/2020 5:00:0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rationalefont&gt;Verdana&lt;/rationalefont&gt;&#10;        &lt;rationalefontsize&gt;12&lt;/rationalefontsize&gt;&#10;        &lt;narrativefont&gt;Verdana&lt;/narrativefont&gt;&#10;        &lt;narrativefontsize&gt;12&lt;/narrativefontsize&gt;&#10;        &lt;standardfont&gt;Verdana&lt;/standardfont&gt;&#10;        &lt;standardfontsize&gt;12&lt;/standard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61DFB2EDE5C94E99B75C7E6884A3B328&lt;/guid&gt;&#10;            &lt;repollguid&gt;DEEC2E4E917C4341B190C21E988ECD28&lt;/repollguid&gt;&#10;            &lt;sourceid&gt;BD9FF64AA4854DDFA57FAB116DFF36EC&lt;/sourceid&gt;&#10;            &lt;narrativeguid&gt;00000000000000000000000000000000&lt;/narrativeguid&gt;&#10;            &lt;questiontext&gt;All the planets in the solar system are the same age old&lt;/questiontext&gt;&#10;            &lt;rationale&gt;&#10;                &lt;rationaletext /&gt;&#10;            &lt;/rationale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75A8CDA1CB744D17BE64C45F057BE15D&lt;/guid&gt;&#10;                    &lt;answertext&gt;True&lt;/answertext&gt;&#10;                    &lt;valuetype&gt;0&lt;/valuetype&gt;&#10;                &lt;/answer&gt;&#10;                &lt;answer&gt;&#10;                    &lt;guid&gt;1A1230E7FAB9445798B80A65BCEB49A5&lt;/guid&gt;&#10;                    &lt;answertext&gt;False&lt;/answertext&gt;&#10;                    &lt;valuetype&gt;0&lt;/valuetype&gt;&#10;                &lt;/answer&gt;&#10;                &lt;answer&gt;&#10;                    &lt;guid&gt;08B767D0BA25461EB76015A48B4C253A&lt;/guid&gt;&#10;                    &lt;answertext&gt;I don’t know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RESULTS" val="{&quot;Title&quot;:&quot;All the planets in the solar system are the same age old&quot;,&quot;Responders&quot;:40,&quot;Participants&quot;:61,&quot;Responses&quot;:40,&quot;IsCaseSensitive&quot;:false,&quot;TotalCorrect&quot;:0,&quot;Mean&quot;:1.1,&quot;Median&quot;:1.0,&quot;StandardDeviation&quot;:0.3,&quot;Variance&quot;:0.09,&quot;PageSize&quot;:0,&quot;Offset&quot;:0,&quot;CorrectValues&quot;:&quot;&quot;,&quot;Results&quot;:[{&quot;Count&quot;:36.0,&quot;PointResponses&quot;:null,&quot;Name&quot;:&quot;True&quot;,&quot;Bullet&quot;:&quot;A&quot;,&quot;SecondaryName&quot;:&quot;&quot;,&quot;ValueType&quot;:0,&quot;Key&quot;:&quot;True1&quot;},{&quot;Count&quot;:4.0,&quot;PointResponses&quot;:null,&quot;Name&quot;:&quot;False&quot;,&quot;Bullet&quot;:&quot;B&quot;,&quot;SecondaryName&quot;:&quot;&quot;,&quot;ValueType&quot;:0,&quot;Key&quot;:&quot;False2&quot;},{&quot;Count&quot;:0.0,&quot;PointResponses&quot;:null,&quot;Name&quot;:&quot;I don’t know&quot;,&quot;Bullet&quot;:&quot;C&quot;,&quot;SecondaryName&quot;:&quot;&quot;,&quot;ValueType&quot;:0,&quot;Key&quot;:&quot;I don’t know3&quot;}]}"/>
  <p:tag name="HASRESULTS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LIVECHARTING" val="False"/>
  <p:tag name="AUTOOPENPOLL" val="True"/>
  <p:tag name="AUTOFORMATCHART" val="True"/>
  <p:tag name="TPQUESTIONXML" val="﻿&lt;?xml version=&quot;1.0&quot; encoding=&quot;utf-8&quot;?&gt;&#10;&lt;questionlist&gt;&#10;    &lt;properties&gt;&#10;        &lt;guid&gt;5C2604011D4C499DA70B18DE09C35B08&lt;/guid&gt;&#10;        &lt;description /&gt;&#10;        &lt;date&gt;2/13/2019 8:59:04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rationalefont&gt;Verdana&lt;/rationalefont&gt;&#10;        &lt;rationalefontsize&gt;12&lt;/rationalefontsize&gt;&#10;        &lt;narrativefont&gt;Verdana&lt;/narrativefont&gt;&#10;        &lt;narrativefontsize&gt;12&lt;/narrativefontsize&gt;&#10;        &lt;standardfont&gt;Verdana&lt;/standardfont&gt;&#10;        &lt;standardfontsize&gt;12&lt;/standard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5CAE0D82B184192AE503B402078D4FF&lt;/guid&gt;&#10;            &lt;repollguid&gt;3616E96010274312B895FB917498977D&lt;/repollguid&gt;&#10;            &lt;sourceid&gt;11FFE5FAE31B4976A0972C6BB0D01F93&lt;/sourceid&gt;&#10;            &lt;narrativeguid&gt;00000000000000000000000000000000&lt;/narrativeguid&gt;&#10;            &lt;questiontext&gt;I have found my group!&lt;/questiontext&gt;&#10;            &lt;rationale&gt;&#10;                &lt;rationaletext /&gt;&#10;            &lt;/rationale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E74394AC98514EB38B7AD3E4C0A6D8C2&lt;/guid&gt;&#10;                    &lt;answertext&gt;Yes&lt;/answertext&gt;&#10;                    &lt;valuetype&gt;0&lt;/valuetype&gt;&#10;                &lt;/answer&gt;&#10;                &lt;answer&gt;&#10;                    &lt;guid&gt;F3F80D2B3CCE475686E4363F049B2A67&lt;/guid&gt;&#10;                    &lt;answertext&gt;Uh.. Yes?&lt;/answertext&gt;&#10;                    &lt;valuetype&gt;0&lt;/valuetype&gt;&#10;                &lt;/answer&gt;&#10;                &lt;answer&gt;&#10;                    &lt;guid&gt;31F497457D7E4E9F94CB8708057B1C8F&lt;/guid&gt;&#10;                    &lt;answertext&gt;What?&lt;/answertext&gt;&#10;                    &lt;valuetype&gt;0&lt;/valuetype&gt;&#10;                &lt;/answer&gt;&#10;                &lt;answer&gt;&#10;                    &lt;guid&gt;093EE2D0C7A142439BCD6D2F17B45EAA&lt;/guid&gt;&#10;                    &lt;answertext&gt;No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COLORTYPE" val="SCHEME"/>
  <p:tag name="DEFINEDCOLORS" val="3,6,10,45,32,50,13,4,9,55,1"/>
  <p:tag name="LABELFORMAT" val="0"/>
  <p:tag name="NUMBERFORMAT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LIVECHARTING" val="False"/>
  <p:tag name="AUTOOPENPOLL" val="True"/>
  <p:tag name="AUTOFORMATCHART" val="True"/>
  <p:tag name="TPQUESTIONXML" val="﻿&lt;?xml version=&quot;1.0&quot; encoding=&quot;utf-8&quot;?&gt;&#10;&lt;questionlist&gt;&#10;    &lt;properties&gt;&#10;        &lt;guid&gt;2178FC32AE3245C7BFAFD6C5FC1C6622&lt;/guid&gt;&#10;        &lt;description /&gt;&#10;        &lt;date&gt;9/4/2019 8:58:2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rationalefont&gt;Verdana&lt;/rationalefont&gt;&#10;        &lt;rationalefontsize&gt;12&lt;/rationalefontsize&gt;&#10;        &lt;narrativefont&gt;Verdana&lt;/narrativefont&gt;&#10;        &lt;narrativefontsize&gt;12&lt;/narrativefontsize&gt;&#10;        &lt;standardfont&gt;Verdana&lt;/standardfont&gt;&#10;        &lt;standardfontsize&gt;12&lt;/standard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7811BD6C8834F13A07827C74BB7ACBA&lt;/guid&gt;&#10;            &lt;repollguid&gt;366C7B8A5EC54B3D80B81F27C22F7D12&lt;/repollguid&gt;&#10;            &lt;sourceid&gt;9818F45170684320B04023B93B7E8815&lt;/sourceid&gt;&#10;            &lt;narrativeguid&gt;00000000000000000000000000000000&lt;/narrativeguid&gt;&#10;            &lt;questiontext&gt;What fights gravity? What prevents things from collapsing forever?&lt;/questiontext&gt;&#10;            &lt;rationale&gt;&#10;                &lt;rationaletext /&gt;&#10;            &lt;/rationale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92893DEE278C4BC28079A531BF8256F5&lt;/guid&gt;&#10;                    &lt;answertext&gt;Nothing; all is lost; give up hope&lt;/answertext&gt;&#10;                    &lt;valuetype&gt;0&lt;/valuetype&gt;&#10;                &lt;/answer&gt;&#10;                &lt;answer&gt;&#10;                    &lt;guid&gt;69C0C47D2F2A455D80B1D3972AA62FD5&lt;/guid&gt;&#10;                    &lt;answertext&gt;Pressure&lt;/answertext&gt;&#10;                    &lt;valuetype&gt;0&lt;/valuetype&gt;&#10;                &lt;/answer&gt;&#10;                &lt;answer&gt;&#10;                    &lt;guid&gt;E0D8ED53B9D940C99845724946E9817A&lt;/guid&gt;&#10;                    &lt;answertext&gt;Electromagnetism to the rescue!&lt;/answertext&gt;&#10;                    &lt;valuetype&gt;0&lt;/valuetype&gt;&#10;                &lt;/answer&gt;&#10;                &lt;answer&gt;&#10;                    &lt;guid&gt;92AAE8F7798F43ED93F33E3A4A876282&lt;/guid&gt;&#10;                    &lt;answertext&gt;Nuclear forces&lt;/answertext&gt;&#10;                    &lt;valuetype&gt;0&lt;/valuetype&gt;&#10;                &lt;/answer&gt;&#10;                &lt;answer&gt;&#10;                    &lt;guid&gt;E89AF3225B2C486E91F605543C1B90D4&lt;/guid&gt;&#10;                    &lt;answertext&gt;Antigravity&lt;/answertext&gt;&#10;                    &lt;valuetype&gt;0&lt;/valuetype&gt;&#10;                &lt;/answer&gt;&#10;                &lt;answer&gt;&#10;                    &lt;guid&gt;749491E0305F47DD9ED0DF9008547A8D&lt;/guid&gt;&#10;                    &lt;answertext&gt;Other 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RESULTS" val="{&quot;Title&quot;:&quot;What fights gravity? What prevents things from collapsing forever?&quot;,&quot;Responders&quot;:47,&quot;Participants&quot;:61,&quot;Responses&quot;:47,&quot;IsCaseSensitive&quot;:false,&quot;TotalCorrect&quot;:0,&quot;Mean&quot;:2.6808510638297873,&quot;Median&quot;:3.0,&quot;StandardDeviation&quot;:0.68746784771929836,&quot;Variance&quot;:0.47261204164780446,&quot;PageSize&quot;:0,&quot;Offset&quot;:0,&quot;CorrectValues&quot;:&quot;&quot;,&quot;Results&quot;:[{&quot;Count&quot;:1.0,&quot;PointResponses&quot;:null,&quot;Name&quot;:&quot;Nothing; all is lost; give up hope&quot;,&quot;Bullet&quot;:&quot;A&quot;,&quot;SecondaryName&quot;:&quot;&quot;,&quot;ValueType&quot;:0,&quot;Key&quot;:&quot;Nothing; all is lost; give up hope1&quot;},{&quot;Count&quot;:17.0,&quot;PointResponses&quot;:null,&quot;Name&quot;:&quot;Pressure&quot;,&quot;Bullet&quot;:&quot;B&quot;,&quot;SecondaryName&quot;:&quot;&quot;,&quot;ValueType&quot;:0,&quot;Key&quot;:&quot;Pressure2&quot;},{&quot;Count&quot;:26.0,&quot;PointResponses&quot;:null,&quot;Name&quot;:&quot;Electromagnetism to the rescue!&quot;,&quot;Bullet&quot;:&quot;C&quot;,&quot;SecondaryName&quot;:&quot;&quot;,&quot;ValueType&quot;:0,&quot;Key&quot;:&quot;Electromagnetism to the rescue!3&quot;},{&quot;Count&quot;:2.0,&quot;PointResponses&quot;:null,&quot;Name&quot;:&quot;Nuclear forces&quot;,&quot;Bullet&quot;:&quot;D&quot;,&quot;SecondaryName&quot;:&quot;&quot;,&quot;ValueType&quot;:0,&quot;Key&quot;:&quot;Nuclear forces4&quot;},{&quot;Count&quot;:1.0,&quot;PointResponses&quot;:null,&quot;Name&quot;:&quot;Antigravity&quot;,&quot;Bullet&quot;:&quot;E&quot;,&quot;SecondaryName&quot;:&quot;&quot;,&quot;ValueType&quot;:0,&quot;Key&quot;:&quot;Antigravity5&quot;},{&quot;Count&quot;:0.0,&quot;PointResponses&quot;:null,&quot;Name&quot;:&quot;Other &quot;,&quot;Bullet&quot;:&quot;F&quot;,&quot;SecondaryName&quot;:&quot;&quot;,&quot;ValueType&quot;:0,&quot;Key&quot;:&quot;Other 6&quot;}]}"/>
  <p:tag name="HASRESULTS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LIVECHARTING" val="False"/>
  <p:tag name="AUTOOPENPOLL" val="True"/>
  <p:tag name="AUTOFORMATCHART" val="True"/>
  <p:tag name="TPQUESTIONXML" val="﻿&lt;?xml version=&quot;1.0&quot; encoding=&quot;utf-8&quot;?&gt;&#10;&lt;questionlist&gt;&#10;    &lt;properties&gt;&#10;        &lt;guid&gt;CD901FDE5CBF454287DCF1A85522F656&lt;/guid&gt;&#10;        &lt;description /&gt;&#10;        &lt;date&gt;1/31/2016 9:02:2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rationalefont&gt;Verdana&lt;/rationalefont&gt;&#10;        &lt;rationalefontsize&gt;12&lt;/rationalefontsize&gt;&#10;        &lt;narrativefont&gt;Verdana&lt;/narrativefont&gt;&#10;        &lt;narrativefontsize&gt;12&lt;/narrativefontsize&gt;&#10;        &lt;standardfont&gt;Verdana&lt;/standardfont&gt;&#10;        &lt;standardfontsize&gt;12&lt;/standard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0F6E35D3994D4E07825C20D494A2284C&lt;/guid&gt;&#10;            &lt;repollguid&gt;292C03A16C64484B87A2CA72A3CD39FB&lt;/repollguid&gt;&#10;            &lt;sourceid&gt;50606BC820694DF68A39F94C9F3981F8&lt;/sourceid&gt;&#10;            &lt;narrativeguid&gt;00000000000000000000000000000000&lt;/narrativeguid&gt;&#10;            &lt;questiontext&gt;The Earth has been cooling for…&lt;/questiontext&gt;&#10;            &lt;rationale&gt;&#10;                &lt;rationaletext /&gt;&#10;            &lt;/rationale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651CFD977B894654979F398B108BF543&lt;/guid&gt;&#10;                    &lt;answertext&gt;6.2 ka&lt;/answertext&gt;&#10;                    &lt;valuetype&gt;0&lt;/valuetype&gt;&#10;                &lt;/answer&gt;&#10;                &lt;answer&gt;&#10;                    &lt;guid&gt;3540CC2A5B1B4AD48E9154635AC47A60&lt;/guid&gt;&#10;                    &lt;answertext&gt;4.5 Ma&lt;/answertext&gt;&#10;                    &lt;valuetype&gt;0&lt;/valuetype&gt;&#10;                &lt;/answer&gt;&#10;                &lt;answer&gt;&#10;                    &lt;guid&gt;3038FC387B8F47B1981BF7C5E7B1D467&lt;/guid&gt;&#10;                    &lt;answertext&gt;4.5 Ga&lt;/answertext&gt;&#10;                    &lt;valuetype&gt;0&lt;/valuetype&gt;&#10;                &lt;/answer&gt;&#10;                &lt;answer&gt;&#10;                    &lt;guid&gt;50944BA5CE1F4560AC9FF5D2C8237FA7&lt;/guid&gt;&#10;                    &lt;answertext&gt;Other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0"/>
  <p:tag name="DEFINEDCOLORS" val="3,6,10,45,32,50,13,4,9,55,1"/>
  <p:tag name="LABELFORMAT" val="0"/>
  <p:tag name="RGBCOLORS" val="-11566659,-4173747,-6571175,-8362846,-16711936,-8355712,-256,-65281,-16711681,-8388608,-16777216"/>
  <p:tag name="COLORTYPE" val="DEFINED"/>
  <p:tag name="CHARTFORMAT" val="UEsDBBQABgAIAAAAIQAncm1TAQEAANABAAATAAAAW0NvbnRlbnRfVHlwZXNdLnhtbHyRTU/DMAyG70j8hyhX1KRwQAi13YGPI3AYP8AkbhstX0qysf173HZIMA0uUWL7ff3EblZ7Z9kOUzbBt/xa1JyhV0EbP7T8ff1c3XGWC3gNNnhs+QEzX3WXF836EDEzUvvc8rGUeC9lViM6yCJE9JTpQ3JQ6JkGGUFtYEB5U9e3UgVf0JeqTB68ax6xh60t7GlP4YXkw0XOHpa6qVXLjZv0U1yeVSS0+UQCMVqjoNDf5M7rE67qyCRIOdfk0cR8ReB/dJgyv5l+NjjqXmmYyWhkb5DKCzgil2qk+3KK/03OUIa+Nwp1UFtHMxM6wSctx1kxu37jynkf3RcAAAD//wMAUEsDBBQABgAIAAAAIQAZqpLz0QAAALMBAAALAAAAX3JlbHMvLnJlbHOskMuKAjEQRfcD/kOovV3dLkQG025EcCv6ATVJdXew8yCJon9vnNlMizCbWRaXOvdw15ubHcWVYzLeSWiqGgQ75bVxvYTTcTdfgUiZnKbRO5Zw5wSbdvaxPvBIuTylwYQkCsUlCUPO4RMxqYEtpcoHdiXpfLSUyxl7DKTO1DMu6nqJ8TcD2glT7LWEuNcLEMd7KM1/s33XGcVbry6WXX5TgcaW7gKk2HOWoAaKGS1rQz9RU33ZAPjepPlPk6nrq9K3WFWme7rgZOr2AQAA//8DAFBLAwQUAAYACAAAACEAm3UZqRYGAABUFAAADwAAAGNoYXJ0L2NoYXJ0LnhtbNxYbW/bNhD+PmD/wRCwj4qtV1tGnMKW7K1Y0gRN2m77Rku0zZkiVYpO7Bb97zuKlCwnXt+cAsP8xdTxeLo7PnzuqPMX25x27rEoCWcjyznrWR3MUp4RthxZb+5m9sDqlBKxDFHO8Mja4dJ6cfHzT+fpMF0hIW8LlOIOGGHlMB1ZKymLYbdbpiuco/KMF5jB3IKLHEl4FMtuJtADGM9p1+31wm5lxDIG0HcYyBFh9XrxNev5YkFSnPB0k2MmtRcCUyQhA+WKFGVtLXVC4T6xmJNU8JIv5FnK8642VgcFxpyg20R1AUnKkMRO1PM794iOrJ7VVUKK2FILMLPf3Gqh4BuW4SzmgsF2tPTzdDimEgsGpmLOJHht8pV/VcZzJNabwgZ3CwhyTiiRuyps6+IcbMcrDvnovMbvN0TgcmSljr9Pgf+tCej1u4Oua/YVgnX8YSl3FOuAnJ6rou02761cmCFK5yhdq9y0lBvV/bxa+DgZalVKxRUqru/F6VCcL52RRaVjdeQWRtkaRvMlAIFKV8lglK1hhNIUdgI0zKCWwLyWNDpeLfFqHciq1oFM60FQS4JaEtaS0OqsKGFr2An1Z3UWnP6mBfVII6g6SyobaCP5HZEUJ5hiiTOTe611T/CDlyg1weUfLZxVgj8PBWO2HG8PRAWAs8CpJPdmS8MK1N10uDe8oJwL9Qa5Iuma4bINZ9Bs5kuS4Xew+Z/RbasojHxBva1SUC7HAiNlnaId30g1yhHbIHrZPG+veGZCwdkS6yTtjglNIgZn3uHPndqeWaZT1T9zwp4feQO3Xw38qV1hOR0+mFyeRZETtn59vX5VT/eDKIhcPwrARuA6oZqGxB36DoJ9WHMkvCRWlKyChKeECG0t5VRbXwLFFMC9Rkw3JbAKzvTkPRK7mFNeU4+jxSWuNpJkhyjgIsPGvOE0uVXvLaV4jRfaWS0hDKqLfLl4hZfAPjVozKLsck7Lal1xc/rRvThHQ8ZnhNJT6wkEgIaUnWpm75DKiLKoJHixgPNzWdYs/t1VT6e5hNRVKVzxh0u8xCz7He8MjswewsxbBGVelaB6X0EWI/kK5Qb7ZkdKkN9icVR+g4WivCe2J5v5nOJb8uGpqUuMACiXBDjgYBneqgQot2HU2Qgysj7G0zDw+mPHTsJZbPuLMLCjJHLsvuv6sR/5wWAy+bSvTMCYj7qNL5XmdlUKhirS4+7BuQKvqgNX+wmiBqspqhxvQ92IIMEqJLbJm0NgRLWdg3g9b9CLY98OknBq+70otidTz7WnfTdxo74XeHHcihfqwTfG67eqcDjcMPJ+g1+aYvCxZ3525I4T2/emfXsSheBMOIO+bJIM+oP+J4Wf49kwvNAkRWfzi+hroeyHoq+9X0tUvCOZNNzqBI0PqDCATXdQTgGn+rigbZ2k/iAKnT70qUcnIt9/MlEJ4OWHbAzwGFf0+K+myxSBC0uFHi4IHLKqHdVHJifsCm3NVrQUs6q4HxwrtL3h5qDNtc+AxVkuoWVQHXgMlW5k/YqhwUQU+nq+gQMNh3ONs4YYcvQ3F3dQtq+gbdTGoXBqY+DJ4zkGtwI9KWEN0HnjAAPM33E9pzjq5M7seTi58zCyQg9AcIycYedqOlVdfln3PhUQ9vtdzdWMppqtv7AwkaonnTVDtHROx3TJtCyVBmMgvV4sSmzI1KkhxvjVhkpyeU8hla2tBccaEAGlHEXT3r8WSD6DJmgniPGrhm1r4efRZTqKI+jq/fLDgdVA7n8Bqz2/fAZW1dQEyweMzZbN9YM6XwCOBhPPlpJnbKR08XuOZgosmWYh6kXTwXTg275bFc8kscczqKXhzOkHCXTCceJ8Umcc7p8rkmWYtftC55uvtU6vW31peMQaB9arHg9crP+rDqehFBi0LyRq/JaU14yaZs3wRUbKYgIfCNbl2DB5WSBmaBRalgSIobyGnhpqwiOCqJv//yIGTm+mv5a45faZas2cZ7vG1ClNOjT+pbytPoLoD2WnGSue4yRVlwY0zPDiNcRYfoD6P9BFCO4pZhKuEjdIIKWgvliNrOZrldKpeEcluxrsPwZe/AMAAP//AwBQSwMEFAAGAAgAAAAhAAsLHvnQBgAANhsAABYAAABjaGFydC9tZWRpYS9pbWFnZTEuYm1w7JhpVxNXGMfpF+jrntMv0Jd9ZVuREEjIBlkmCVVEatXTY0WsrSBKLTvZUEAIoECCgGELiSwJa4CEJWELHEXc8IhgQdytn6D9TybQGAlkBHv6gudM7rlz89zn+T3/uTOT3Ejhni9DPLYH7Vf4fO39fBbyBXqUjX4eEkJ+1uzvXdtV4P+qwF8eu+Uxq9VaX19fVlamVCrR+dTIyLy0tITMw8PDvqmRHQwwDMLgADcMorNTSOupqRQoFvEpQ16cYhxUfbZxa+fs7O23q29fFY93KWZ7cqYst5YXgAEY+AOMFlIgtRHKU/F7JVPBn9ybmdSnzdVnzPXWhTErRcSoWDq6T6YRN+YnjNTu77la0m1aXFykeIAdDA9KQ43I+GHJtv6pycn7q+/eGOcnK+edTXfH/AJ2XM3pTo9xqmXGZO6+8AqRFDyuUKlK1KA5NFy7v7fip4uZVC0WiwWJ/KZveAo3hUKBFiW/frZyz2aYa8iYH6g/kqATESNiYpQRd0neoU0YqSPMRQabFTKiXhjq1aYd680QOlXSlhRuKKOc9Jc6QwmKp+ZAX0XteP+GSTcfhKQU0pvnK01nOC611Pp7NMHLQ71IER5X6OUxFR3POEfVazAYUHKd+kxPOsljOssLDSvDxcKxV6ISGVSHhmvibJWanubNUwf6FlUjhbYw35hM8nSkCWQChZfnYKHc4tXHMvGe5u1XcsDjUsvAszdM67leToZIG1OrIHn6q/L7WgJlDGZ8qL8byiM+eDisfJHUSeoTD31KEkbrCFPhzON53zhtV7KxfuBvPsv7bl8xtX4YopKYmjyK52K/2defbv/h7NSNVB7it53nc9kFXn1IHu0PXp4HvjHbr2R3/eHl+Ta0SCQdEctcYcLiaPAM1cQN6C4N3vD1p9t/dBs8/DENycNjF2JxQh/mIfJ6eXkW3uOBPl6eVN43e8E/IpGNhcUUU/ocHNAV2FvpMvj6L8y5W8/xXeA5x+dFFVE8jMMKuaV0Y57y7M4L0dATVbAj1ID38JQI9DnxQzUHB/UFjjbf+HT7i3fcIIE+oOJFXRbLoM8w40ell6elcNpPnzUe+LOZ4BmSyMcYMVpBVTZ44u3VyeZKugy+/ot3p7GSXWq5h6dYInN5eazQ5zrxAU9reXbXBXL9wJ/FVApJnnEmX8erzIx3XIt3VJ9tr/aNT7e/dHcaTx6XRo5VzedoIb5QMsQ4ooztLPPwFPjp01qW1enhaT8vYDFVazx6vi6L5LFXp3Zco8vg6z9jt6zzhDErUKxQ4mAcJXkOO69LWgqmH9339TeXZnV77i8PD6kPQeqj55RekJovy8xF29TnpoPkGdPI8XzD+/FfHmtAHur+wqpjMRVYP+CJYBtqXX3Jxgoc6Pjy0+3PDlnJ9UDycBkROiJ2IkZsDz+qxPoU1an4lVl++pi0mSSPRk7yhOdR+kSyd+zX1+1hK6m/Ro6nNCNC7+EZPJ3WevPJo965KbR+BQ6ZKrvThdAT9zsrPFdEOKBPZFSjn9tHn9qNFeBB/OZkLpNVS/EkJgV8B4Gn7bzAkUfg/mKGZQvBEzvB4jQtL7/8aAbficOmqp50kseYwsX7MTKqIZJtSEwy+vr49nE/tuSf0qfGohUTV7H4pbGTLI5xeeW1r9tH90fMVfg9Ax786hjpG5iZ+RNHkNFEkvIYySDFs7JDPM5WnS1TBJ7GMxy8W4MkodxIHjHJw+YYV1be0JobyHmsTU/xNPwWNT87Gchtw/HEJBN4ZN9PsbktO8Uz3q7vzxLhfVH/a9SDW3R5WiieKJ555enbDZnpDnZV5Q1ki8FjOM2+f3OC1vTEk8YYcT/0ieLd2CmeXp1iMEfiVMvrfmG9fr5CjyfJGC0ieTj8tsnJh7TmBnLu1SvsuYRTJas7xcJ/jUBuG47jMRUtssn2u7mCjqkp/yfnhlO2HLRVK+25klGVrOYU6xVNnhMnm9Z4LFPuhS1zBeMAHjxsnSr5taTIV8+Wg5my7vNzYiO1frgC8DxeH99Ox6hOovTRn4x8uUqXp4HShyewuKcXt4OxPteUf8qRS+B66RIjXtDlOVEvEPbKD7i5/Hb3NL2tg3UAv07bpV+G8gjc71WJzBdPg31TUEGOnzDwBB2E3Mnld7h36Hq1F5xuTuE2p/CKj4X5oW552tl1R6cfz1Pa0D5dfbelf5AO716u4gjSedftP1YA2zjbzEjtqqHFpg3MszNENthQgmFPhjJsnsBKS0s3TwcH7PygxVxECz4sNRFz/QzjlFEAazjk5hgsmPLBAE9MX4+8FrI0UExKBI8eZIMIsM0L3/12V4FPocA/AAAA//8DAFBLAQItABQABgAIAAAAIQAncm1TAQEAANABAAATAAAAAAAAAAAAAAAAAAAAAABbQ29udGVudF9UeXBlc10ueG1sUEsBAi0AFAAGAAgAAAAhABmqkvPRAAAAswEAAAsAAAAAAAAAAAAAAAAAMgEAAF9yZWxzLy5yZWxzUEsBAi0AFAAGAAgAAAAhAJt1GakWBgAAVBQAAA8AAAAAAAAAAAAAAAAALAIAAGNoYXJ0L2NoYXJ0LnhtbFBLAQItABQABgAIAAAAIQALCx750AYAADYbAAAWAAAAAAAAAAAAAAAAAG8IAABjaGFydC9tZWRpYS9pbWFnZTEuYm1wUEsFBgAAAAAEAAQA+wAAAHMPAAAAAA=="/>
  <p:tag name="NUMBERFORMAT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LIVECHARTING" val="False"/>
  <p:tag name="AUTOOPENPOLL" val="True"/>
  <p:tag name="AUTOFORMATCHART" val="True"/>
  <p:tag name="TPQUESTIONXML" val="﻿&lt;?xml version=&quot;1.0&quot; encoding=&quot;utf-8&quot;?&gt;&#10;&lt;questionlist&gt;&#10;    &lt;properties&gt;&#10;        &lt;guid&gt;8F3D3563D1F946B48C9DA384D3FDE28D&lt;/guid&gt;&#10;        &lt;description /&gt;&#10;        &lt;date&gt;9/7/2016 8:33:28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rationalefont&gt;Verdana&lt;/rationalefont&gt;&#10;        &lt;rationalefontsize&gt;12&lt;/rationalefontsize&gt;&#10;        &lt;narrativefont&gt;Verdana&lt;/narrativefont&gt;&#10;        &lt;narrativefontsize&gt;12&lt;/narrativefontsize&gt;&#10;        &lt;standardfont&gt;Verdana&lt;/standardfont&gt;&#10;        &lt;standardfontsize&gt;12&lt;/standard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CFB4079A291E43469213E77F1E37E866&lt;/guid&gt;&#10;            &lt;repollguid&gt;6B8DBB07A1404B229F0011F9AC51761D&lt;/repollguid&gt;&#10;            &lt;sourceid&gt;76149E82D6A94781BA0543593014FC6D&lt;/sourceid&gt;&#10;            &lt;narrativeguid&gt;00000000000000000000000000000000&lt;/narrativeguid&gt;&#10;            &lt;questiontext&gt;What does xenolith mean?&lt;/questiontext&gt;&#10;            &lt;rationale&gt;&#10;                &lt;rationaletext /&gt;&#10;            &lt;/rationale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604BA015C85841039254133E3EA596A6&lt;/guid&gt;&#10;                    &lt;answertext&gt;Alien rock&lt;/answertext&gt;&#10;                    &lt;valuetype&gt;0&lt;/valuetype&gt;&#10;                &lt;/answer&gt;&#10;                &lt;answer&gt;&#10;                    &lt;guid&gt;B1C2E30AE7D44726B450B597F06BD544&lt;/guid&gt;&#10;                    &lt;answertext&gt;Plagioclase feldspar&lt;/answertext&gt;&#10;                    &lt;valuetype&gt;0&lt;/valuetype&gt;&#10;                &lt;/answer&gt;&#10;                &lt;answer&gt;&#10;                    &lt;guid&gt;62E3149DA6454099AECC2C3738DD7280&lt;/guid&gt;&#10;                    &lt;answertext&gt;Frozen magma&lt;/answertext&gt;&#10;                    &lt;valuetype&gt;0&lt;/valuetype&gt;&#10;                &lt;/answer&gt;&#10;                &lt;answer&gt;&#10;                    &lt;guid&gt;27E6C98427F744F494522DED242383CE&lt;/guid&gt;&#10;                    &lt;answertext&gt;Calcite&lt;/answertext&gt;&#10;                    &lt;valuetype&gt;0&lt;/valuetype&gt;&#10;                &lt;/answer&gt;&#10;                &lt;answer&gt;&#10;                    &lt;guid&gt;9C9C83B450874C028C881128AADB8DA8&lt;/guid&gt;&#10;                    &lt;answertext&gt;Serpentine&lt;/answertext&gt;&#10;                    &lt;valuetype&gt;0&lt;/valuetype&gt;&#10;                &lt;/answer&gt;&#10;                &lt;answer&gt;&#10;                    &lt;guid&gt;FBB752DC48E349FFB01D7C247B707EAE&lt;/guid&gt;&#10;                    &lt;answertext&gt;I don’t know. Guess I should have asked?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RESULTS" val="{&quot;Title&quot;:&quot;What does xenolith mean?&quot;,&quot;Responders&quot;:53,&quot;Participants&quot;:62,&quot;Responses&quot;:53,&quot;IsCaseSensitive&quot;:false,&quot;TotalCorrect&quot;:0,&quot;Mean&quot;:2.8113207547169812,&quot;Median&quot;:3.0,&quot;StandardDeviation&quot;:1.5788293223752474,&quot;Variance&quot;:2.4927020291918831,&quot;PageSize&quot;:0,&quot;Offset&quot;:0,&quot;CorrectValues&quot;:&quot;&quot;,&quot;Results&quot;:[{&quot;Count&quot;:16.0,&quot;PointResponses&quot;:null,&quot;Name&quot;:&quot;Alien rock&quot;,&quot;Bullet&quot;:&quot;A&quot;,&quot;SecondaryName&quot;:&quot;&quot;,&quot;ValueType&quot;:0,&quot;Key&quot;:&quot;Alien rock1&quot;},{&quot;Count&quot;:5.0,&quot;PointResponses&quot;:null,&quot;Name&quot;:&quot;Plagioclase feldspar&quot;,&quot;Bullet&quot;:&quot;B&quot;,&quot;SecondaryName&quot;:&quot;&quot;,&quot;ValueType&quot;:0,&quot;Key&quot;:&quot;Plagioclase feldspar2&quot;},{&quot;Count&quot;:18.0,&quot;PointResponses&quot;:null,&quot;Name&quot;:&quot;Frozen magma&quot;,&quot;Bullet&quot;:&quot;C&quot;,&quot;SecondaryName&quot;:&quot;&quot;,&quot;ValueType&quot;:0,&quot;Key&quot;:&quot;Frozen magma3&quot;},{&quot;Count&quot;:7.0,&quot;PointResponses&quot;:null,&quot;Name&quot;:&quot;Calcite&quot;,&quot;Bullet&quot;:&quot;D&quot;,&quot;SecondaryName&quot;:&quot;&quot;,&quot;ValueType&quot;:0,&quot;Key&quot;:&quot;Calcite4&quot;},{&quot;Count&quot;:1.0,&quot;PointResponses&quot;:null,&quot;Name&quot;:&quot;Serpentine&quot;,&quot;Bullet&quot;:&quot;E&quot;,&quot;SecondaryName&quot;:&quot;&quot;,&quot;ValueType&quot;:0,&quot;Key&quot;:&quot;Serpentine5&quot;},{&quot;Count&quot;:6.0,&quot;PointResponses&quot;:null,&quot;Name&quot;:&quot;I don’t know. Guess I should have asked?&quot;,&quot;Bullet&quot;:&quot;F&quot;,&quot;SecondaryName&quot;:&quot;&quot;,&quot;ValueType&quot;:0,&quot;Key&quot;:&quot;I don’t know. Guess I should have asked?6&quot;}]}"/>
  <p:tag name="HASRESULTS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25603</TotalTime>
  <Words>3739</Words>
  <Application>Microsoft Macintosh PowerPoint</Application>
  <PresentationFormat>On-screen Show (4:3)</PresentationFormat>
  <Paragraphs>434</Paragraphs>
  <Slides>73</Slides>
  <Notes>50</Notes>
  <HiddenSlides>9</HiddenSlides>
  <MMClips>8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3" baseType="lpstr">
      <vt:lpstr>ＭＳ Ｐゴシック</vt:lpstr>
      <vt:lpstr>Arial</vt:lpstr>
      <vt:lpstr>Avenir Next LT Pro</vt:lpstr>
      <vt:lpstr>Calibri</vt:lpstr>
      <vt:lpstr>Cambria Math</vt:lpstr>
      <vt:lpstr>Lucida Bright</vt:lpstr>
      <vt:lpstr>Times New Roman</vt:lpstr>
      <vt:lpstr>Wingdings</vt:lpstr>
      <vt:lpstr>Office Theme</vt:lpstr>
      <vt:lpstr>Equation</vt:lpstr>
      <vt:lpstr>Sit in your Groups from Discussion You’ll get used to Group Work and Collaboration FAST!!!</vt:lpstr>
      <vt:lpstr>Astro 230: the Science and Fiction of Planetary Systems</vt:lpstr>
      <vt:lpstr>Example!</vt:lpstr>
      <vt:lpstr>Example!</vt:lpstr>
      <vt:lpstr>What is Science Fiction?</vt:lpstr>
      <vt:lpstr>What is Science Fiction?</vt:lpstr>
      <vt:lpstr>What is Science Fiction?</vt:lpstr>
      <vt:lpstr>What is Science Fiction?</vt:lpstr>
      <vt:lpstr>Syllabus Basics</vt:lpstr>
      <vt:lpstr>Textbook</vt:lpstr>
      <vt:lpstr>Course Expectations</vt:lpstr>
      <vt:lpstr>Course Expectations</vt:lpstr>
      <vt:lpstr>Course Expectations</vt:lpstr>
      <vt:lpstr>Course Expectations</vt:lpstr>
      <vt:lpstr>Course Expectations</vt:lpstr>
      <vt:lpstr>Course Expectations</vt:lpstr>
      <vt:lpstr>Learning Outcomes</vt:lpstr>
      <vt:lpstr>Learning Outcomes</vt:lpstr>
      <vt:lpstr>Math Fundamentals </vt:lpstr>
      <vt:lpstr>Warm Up Math! </vt:lpstr>
      <vt:lpstr>Warm Up Math! </vt:lpstr>
      <vt:lpstr>Science Fiction Gone Wild…</vt:lpstr>
      <vt:lpstr>Decent Science with some Razzle Dazzle</vt:lpstr>
      <vt:lpstr>Astrophysics Gone VERY WILD</vt:lpstr>
      <vt:lpstr>PowerPoint Presentation</vt:lpstr>
      <vt:lpstr>Astro 230: the Science and Fiction of Planetary Systems</vt:lpstr>
      <vt:lpstr>Pluto (see ch. 7)</vt:lpstr>
      <vt:lpstr>Is Pluto a planet?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fast do you have to go to get off a planet of mass M and radius R?</vt:lpstr>
      <vt:lpstr>Escape!!</vt:lpstr>
      <vt:lpstr>Escape!!</vt:lpstr>
      <vt:lpstr>Escape!!</vt:lpstr>
      <vt:lpstr>Astro 230: the Science and Fiction of Planetary Systems</vt:lpstr>
      <vt:lpstr>All the planets in the solar system are the same age old</vt:lpstr>
      <vt:lpstr>How to build a stellar system</vt:lpstr>
      <vt:lpstr>I have found my group!</vt:lpstr>
      <vt:lpstr>What fights gravity? What prevents things from collapsing forever?</vt:lpstr>
      <vt:lpstr>PowerPoint Presentation</vt:lpstr>
      <vt:lpstr>PowerPoint Presentation</vt:lpstr>
      <vt:lpstr>The Nebula Hypothesis</vt:lpstr>
      <vt:lpstr>Formation of the Solar System</vt:lpstr>
      <vt:lpstr>Formation of the Solar System</vt:lpstr>
      <vt:lpstr>Formation of the Solar System</vt:lpstr>
      <vt:lpstr>Protoplanetary Disk – multiple planets? (PDS 70) – planets’ sizes not shown to scale</vt:lpstr>
      <vt:lpstr>Meanwhile</vt:lpstr>
      <vt:lpstr>Condensation Sequence (standard model…?)</vt:lpstr>
      <vt:lpstr>Puzzles</vt:lpstr>
      <vt:lpstr>Puzzles</vt:lpstr>
      <vt:lpstr>PowerPoint Presentation</vt:lpstr>
      <vt:lpstr>Need a “Nice” Model</vt:lpstr>
      <vt:lpstr>The Nice Model Proposes…</vt:lpstr>
      <vt:lpstr>The Nice Model Proposes…</vt:lpstr>
      <vt:lpstr>PowerPoint Presentation</vt:lpstr>
      <vt:lpstr>PowerPoint Presentation</vt:lpstr>
      <vt:lpstr>The Nice Model Explains…</vt:lpstr>
      <vt:lpstr>The Nice Model Explains…</vt:lpstr>
      <vt:lpstr>The Grand Tack Hypothesis…</vt:lpstr>
      <vt:lpstr>Terrestrial Planet Interiors</vt:lpstr>
      <vt:lpstr>The Earth has been cooling for…</vt:lpstr>
      <vt:lpstr>How do we know what’s down there?</vt:lpstr>
      <vt:lpstr>How do we know what’s down there?</vt:lpstr>
      <vt:lpstr>What does xenolith mean?</vt:lpstr>
      <vt:lpstr>Layers Subdivided</vt:lpstr>
      <vt:lpstr>Why does Earth have layers?</vt:lpstr>
      <vt:lpstr>Why is it still molten at the center?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 230 I: the Science and Fiction of Planetary Systems</dc:title>
  <dc:creator>SDU</dc:creator>
  <cp:lastModifiedBy>Jones Jr, Marvin Quenten</cp:lastModifiedBy>
  <cp:revision>681</cp:revision>
  <dcterms:created xsi:type="dcterms:W3CDTF">2013-01-23T01:17:35Z</dcterms:created>
  <dcterms:modified xsi:type="dcterms:W3CDTF">2025-02-19T20:46:48Z</dcterms:modified>
</cp:coreProperties>
</file>